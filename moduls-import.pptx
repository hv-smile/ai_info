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E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CD2372-EFF1-5866-F17E-00972449BE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32CD2-48F1-53B0-ED68-030F49BB9E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D14F8-E1D7-453D-ACB0-9704FB024C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2AB0C-A644-2728-A09B-45EEC1E7FE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69904-057A-C860-59E9-C1ECEB6D3E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58394-31F5-4658-B8B3-5A24CA541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88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EA46F-B858-4ACA-88CD-0CF4E2DA8EE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6DD48-2B42-4F29-AD86-94FB88F93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7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B15F-E71C-E089-A65F-917C9F01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C4BA-DBDD-1B29-5FC3-72D54422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21544-CE1F-183A-3EFD-AF6C1B45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C289A-A720-487E-B2C6-E9612DAAE09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46735-6802-6DDB-1C59-DBA6FD33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BE66-25FF-3EC2-257E-E25133F6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6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3CF1-9001-3E55-DB40-036DC945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C408-4AFF-E9A4-DC3B-F1317045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A60F-B2D1-4A6F-9B0B-A708AA09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65EE-B4EE-441D-A344-1553E5AEEBAE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EA2E1-4B0F-0C42-CB98-F8F5B5C8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DA61A-9C1D-3A02-8CF6-8952400B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B67A-3993-6EBC-6CE9-62468485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61F15-680E-863B-254A-3A144A0B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5E4FC-A712-ED9A-9FE1-68E5115B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ACD6-C1C2-4539-BDB7-BD12A2BFE2B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F12B7-5D2E-AFB2-C729-7DB3FB6A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151FB-6F29-66E8-3B0E-9A6CFAF7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6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4096-11B8-7B17-7FF2-806C5ABE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49989-B442-A1B8-20DB-19C9AAEA3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A0614-FF22-8EAF-440A-8E475DEC8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E9D38-12E5-E85B-1013-AF29FDE7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52DE-58EE-4F30-AA2B-B70D7526001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8CE64-1319-C198-D5B7-9E296991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C3B82-9EF4-453E-30D2-6704F32C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6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AC48-1DA5-76BE-B547-9A27A7CE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43083-4717-79B3-F252-B431677DF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34ADC-6A12-64AE-6606-000F3067A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2C188-FB39-BC5F-D959-45812E337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B3BAB-B4CA-31DA-96DE-0DA599BE4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A53CF-8123-2DE8-9CBD-7083C45F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59B4-C537-44A4-8DDA-FA1CFEE4F44B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5FC37-72B6-7717-4173-CD9D7F0E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19765-6EB1-DD2A-5774-502E9044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2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77D3-8D12-4C66-CB5B-1756B701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D7C8D-EAC6-C435-07E2-DD2C244A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CBED-4DD8-4702-9903-9945801C0DA6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48873-C447-27A7-9ABD-2AE73147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827EF-6B84-A764-BFF0-3DC2A5F6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3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30EBB-67D6-944E-5A81-E00CFC36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16CE-472A-4086-851E-45FDCC46EA44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8F14E-06FB-F065-7972-F677E363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EC18C-4777-9C06-E0F9-45197380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2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40F8-531C-C6E0-91F1-7BF3B5EF0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354B-9836-C5ED-97E0-C80D8817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12A7F-D974-791F-7552-0047FF94C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9B787-889F-E8F6-3E5D-B879ABB4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B154-480A-4C42-97D7-05D7CAAC93CA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69CC3-E805-F887-6C22-38AB0CEF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DE79F-85EF-FE9A-CAD1-C571CF78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1336-1276-AC0C-2E5F-9E8705A0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5E64E-516E-A305-0923-FE7BCB08A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9E00E-70AE-1201-E015-FE9538E3D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60F7E-551F-E94D-61A2-D98941C2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CD34-E206-4BA9-87DA-5E3E2DA02D1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911DE-2F2C-0457-1532-A5968C10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CF4E5-3382-350A-A40C-9FA7F9FE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14B7-0A3B-D0CD-8BC0-8FC1F505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481B-AD3B-6780-328E-043947405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0FF5-0743-FC9F-5A25-9E9FB663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388A-AF40-4BC2-962D-7DB31CD6704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03BF-709E-F2F5-C684-37F6E1B3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05937-3CFC-F358-627C-8F485C62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0E79A-0F7A-0A89-9D6E-A2B004F95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029FF-FFF7-56B4-5D57-01123A005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9649-BF79-0FC2-BD72-97B42582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F38F-1F61-41CD-9D90-B25E89CADFB4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81E1-7C5C-731D-35EE-0251F600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3BAF-A1A8-0545-5F95-97016B0F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2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1D11C-0D49-43E4-A045-6A40B814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F522-47DF-6EE5-0DB8-4A6BE6846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D36E6-3E0E-52D7-8C2E-A0ADD37ED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C4616-0D2B-46C6-B852-C3D60F14ECB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2086F-5718-339A-0949-59F4373F5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4302-A300-A057-178B-3161E5B5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9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BF04E7-8450-17E9-6D88-6FADD1ED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070EB0-30DD-C21B-B3CB-A2910C9A5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7822" y="2235200"/>
            <a:ext cx="12447639" cy="2387600"/>
          </a:xfrm>
        </p:spPr>
        <p:txBody>
          <a:bodyPr>
            <a:normAutofit/>
          </a:bodyPr>
          <a:lstStyle/>
          <a:p>
            <a:r>
              <a:rPr lang="hy-AM" b="1" dirty="0">
                <a:solidFill>
                  <a:srgbClr val="FFCC00"/>
                </a:solidFill>
              </a:rPr>
              <a:t>Մոդուլների ներմուծում</a:t>
            </a:r>
            <a:endParaRPr lang="en-US" b="1" dirty="0">
              <a:solidFill>
                <a:srgbClr val="FFCC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64AD8-B62B-5AED-9C3A-A9FBEF6BB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857" y="6366739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FFCC00"/>
                </a:solidFill>
              </a:rPr>
              <a:t>Prepared by Gor Hovsepyan  </a:t>
            </a:r>
          </a:p>
        </p:txBody>
      </p:sp>
      <p:pic>
        <p:nvPicPr>
          <p:cNvPr id="10" name="image1.png" descr="A logo with colorful lines&#10;&#10;AI-generated content may be incorrect.">
            <a:extLst>
              <a:ext uri="{FF2B5EF4-FFF2-40B4-BE49-F238E27FC236}">
                <a16:creationId xmlns:a16="http://schemas.microsoft.com/office/drawing/2014/main" id="{A169D08E-2FC1-0520-A314-1AAF8D71D72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83729" y="631827"/>
            <a:ext cx="3224539" cy="1949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3416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F1B4F4-D88F-ABAF-25F5-D3CDB377A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D58CFF-D9D3-DAC2-BB0A-B42A7D7C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C00"/>
                </a:solidFill>
              </a:rPr>
              <a:t>import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F327A-5230-FC26-94B7-87D28F58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46A34-AB46-DC47-44DB-E477F7593CA7}"/>
              </a:ext>
            </a:extLst>
          </p:cNvPr>
          <p:cNvSpPr txBox="1"/>
          <p:nvPr/>
        </p:nvSpPr>
        <p:spPr>
          <a:xfrm>
            <a:off x="838200" y="1859340"/>
            <a:ext cx="6094268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math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math.sqrt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2608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2B237B-B3E4-16B9-2CAA-C1B08008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D475F-D011-1E99-B692-C72408CD1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import module as alias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BD348-6CD6-8ABE-CA55-EC92DFC4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2EF40-A057-9D43-F29A-E7DFDB190BC6}"/>
              </a:ext>
            </a:extLst>
          </p:cNvPr>
          <p:cNvSpPr txBox="1"/>
          <p:nvPr/>
        </p:nvSpPr>
        <p:spPr>
          <a:xfrm>
            <a:off x="937780" y="1690688"/>
            <a:ext cx="6094268" cy="19389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4000" dirty="0" err="1">
                <a:solidFill>
                  <a:srgbClr val="A9B7C6"/>
                </a:solidFill>
                <a:effectLst/>
                <a:latin typeface="JetBrains Mono"/>
              </a:rPr>
              <a:t>numpy</a:t>
            </a:r>
            <a: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en-US" sz="4000" dirty="0">
                <a:solidFill>
                  <a:srgbClr val="CC7832"/>
                </a:solidFill>
                <a:effectLst/>
                <a:latin typeface="JetBrains Mono"/>
              </a:rPr>
              <a:t>as </a:t>
            </a:r>
            <a: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  <a:t>np</a:t>
            </a:r>
            <a:b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4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4000" dirty="0" err="1">
                <a:solidFill>
                  <a:srgbClr val="A9B7C6"/>
                </a:solidFill>
                <a:effectLst/>
                <a:latin typeface="JetBrains Mono"/>
              </a:rPr>
              <a:t>np.array</a:t>
            </a:r>
            <a: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  <a:t>([</a:t>
            </a:r>
            <a:r>
              <a:rPr lang="en-US" sz="4000" dirty="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4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4000" dirty="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4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4000" dirty="0"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  <a:t>]))</a:t>
            </a:r>
            <a:br>
              <a:rPr lang="en-US" sz="40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40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13895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46F855-552F-6AC3-9D00-AE4C9D022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DEF527-B396-E626-6265-77CF97D8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from module import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050C7-C399-B5C9-EE9F-15CDBB87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8370A-2FD5-4B1F-207E-11EC621D1890}"/>
              </a:ext>
            </a:extLst>
          </p:cNvPr>
          <p:cNvSpPr txBox="1"/>
          <p:nvPr/>
        </p:nvSpPr>
        <p:spPr>
          <a:xfrm>
            <a:off x="958562" y="1772380"/>
            <a:ext cx="6094268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math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sqrt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(sqrt(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72152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DB73D-AF07-DD5D-4D41-D56EC2B03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866FD4-21DA-8A2D-A0A1-611BF734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from module import name1, name2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102F-5E2E-4FCB-814F-425AFB80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3DF2D-6C1D-C4CC-D702-68C0AF6B6CA4}"/>
              </a:ext>
            </a:extLst>
          </p:cNvPr>
          <p:cNvSpPr txBox="1"/>
          <p:nvPr/>
        </p:nvSpPr>
        <p:spPr>
          <a:xfrm>
            <a:off x="937779" y="1690688"/>
            <a:ext cx="7582766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datetime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date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datetime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9679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9B0E-2CA6-A94F-1A31-D413CCAA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B9C9E9-8C30-4EC6-285D-350982E6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48133E-8B52-06B5-32A5-6AAABFA90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from module import 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3D8A3-9366-116A-5A05-014026BB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0F02A-174F-D809-FF29-F445E5C99988}"/>
              </a:ext>
            </a:extLst>
          </p:cNvPr>
          <p:cNvSpPr txBox="1"/>
          <p:nvPr/>
        </p:nvSpPr>
        <p:spPr>
          <a:xfrm>
            <a:off x="838200" y="1859340"/>
            <a:ext cx="6177394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math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*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(sqrt(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49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8570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3CF5-873A-B50B-889C-1A7B3892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91CC7F-C14E-5AD8-8203-A5BCFBF1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0BC359-6C47-FAC7-B5D6-64C65A21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Import inside a function (lazy import)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5D82B-AC7A-C744-CE2D-2EA8E66A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8D3A9-B4FC-13C9-3E77-F25511342027}"/>
              </a:ext>
            </a:extLst>
          </p:cNvPr>
          <p:cNvSpPr txBox="1"/>
          <p:nvPr/>
        </p:nvSpPr>
        <p:spPr>
          <a:xfrm>
            <a:off x="838200" y="1768963"/>
            <a:ext cx="6094268" cy="20621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lang="en-US" sz="3200" dirty="0">
                <a:solidFill>
                  <a:srgbClr val="FFC66D"/>
                </a:solidFill>
                <a:effectLst/>
                <a:latin typeface="JetBrains Mono"/>
              </a:rPr>
              <a:t>calculate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math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math.sqrt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16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0595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7548-0FF9-80D7-2FA2-1D107F00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36DE9A-72B2-DEEF-CC1B-C6FF94C74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5C80DF-DC54-5FA4-257A-E66EDA2A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Dynamic import (using __import__)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A81F-5CEB-0497-2192-A101CC46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7FF8A-6DB0-E0D9-8271-B63983ED26EE}"/>
              </a:ext>
            </a:extLst>
          </p:cNvPr>
          <p:cNvSpPr txBox="1"/>
          <p:nvPr/>
        </p:nvSpPr>
        <p:spPr>
          <a:xfrm>
            <a:off x="838200" y="1961415"/>
            <a:ext cx="9899939" cy="20621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module_name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lang="en-US" sz="3200" dirty="0">
                <a:solidFill>
                  <a:srgbClr val="6A8759"/>
                </a:solidFill>
                <a:effectLst/>
                <a:latin typeface="JetBrains Mono"/>
              </a:rPr>
              <a:t>"math"</a:t>
            </a:r>
            <a:br>
              <a:rPr lang="en-US" sz="3200" dirty="0">
                <a:solidFill>
                  <a:srgbClr val="6A8759"/>
                </a:solidFill>
                <a:effectLst/>
                <a:latin typeface="JetBrains Mono"/>
              </a:rPr>
            </a:b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math_module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__import__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module_name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math_module.pi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438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49DD-3A0B-A081-0EC7-536023D7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EDC626-60B0-CB51-5920-869CF7297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B5A9E2-0F02-B41C-41C5-1B159AA9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Package imports (</a:t>
            </a:r>
            <a:r>
              <a:rPr lang="en-US" dirty="0" err="1">
                <a:solidFill>
                  <a:srgbClr val="FFC000"/>
                </a:solidFill>
              </a:rPr>
              <a:t>package.module</a:t>
            </a:r>
            <a:r>
              <a:rPr lang="en-US" dirty="0">
                <a:solidFill>
                  <a:srgbClr val="FFC000"/>
                </a:solidFill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814D4-035A-E591-7D39-5AB6CB61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DE6FA-4AE5-A86C-2298-C9CF3F767AD4}"/>
              </a:ext>
            </a:extLst>
          </p:cNvPr>
          <p:cNvSpPr txBox="1"/>
          <p:nvPr/>
        </p:nvSpPr>
        <p:spPr>
          <a:xfrm>
            <a:off x="838200" y="1859340"/>
            <a:ext cx="6094268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os.path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os.path.join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>
                <a:solidFill>
                  <a:srgbClr val="6A8759"/>
                </a:solidFill>
                <a:effectLst/>
                <a:latin typeface="JetBrains Mono"/>
              </a:rPr>
              <a:t>"a"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6A8759"/>
                </a:solidFill>
                <a:effectLst/>
                <a:latin typeface="JetBrains Mono"/>
              </a:rPr>
              <a:t>"b"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75509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2A92-EAF9-34EB-DB83-D455C9C0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F0BDA2-D97C-CC3F-4511-2A334FC37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1441F-860B-1353-AFB8-8A9CAB3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Relative imports (inside packages)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665A5-F47D-681E-793F-07B36E0F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68A11-B893-5D87-6266-8FB1054C5915}"/>
              </a:ext>
            </a:extLst>
          </p:cNvPr>
          <p:cNvSpPr txBox="1"/>
          <p:nvPr/>
        </p:nvSpPr>
        <p:spPr>
          <a:xfrm>
            <a:off x="838200" y="2191435"/>
            <a:ext cx="6094268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.helper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func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..common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config</a:t>
            </a:r>
          </a:p>
        </p:txBody>
      </p:sp>
    </p:spTree>
    <p:extLst>
      <p:ext uri="{BB962C8B-B14F-4D97-AF65-F5344CB8AC3E}">
        <p14:creationId xmlns:p14="http://schemas.microsoft.com/office/powerpoint/2010/main" val="94780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A6F5C-B953-320F-F8EF-76087C81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642F7E-E0EF-DF0B-3902-5E6C727B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248" y="3213103"/>
            <a:ext cx="7683500" cy="1325563"/>
          </a:xfrm>
        </p:spPr>
        <p:txBody>
          <a:bodyPr>
            <a:normAutofit/>
          </a:bodyPr>
          <a:lstStyle/>
          <a:p>
            <a:r>
              <a:rPr lang="hy-AM" sz="6000" b="1" dirty="0">
                <a:solidFill>
                  <a:srgbClr val="FFCC00"/>
                </a:solidFill>
              </a:rPr>
              <a:t>Շնորհակալություն</a:t>
            </a:r>
            <a:endParaRPr lang="en-US" sz="6000" b="1" dirty="0">
              <a:solidFill>
                <a:srgbClr val="FFCC00"/>
              </a:solidFill>
            </a:endParaRPr>
          </a:p>
        </p:txBody>
      </p:sp>
      <p:pic>
        <p:nvPicPr>
          <p:cNvPr id="6" name="image1.png" descr="A logo with colorful lines&#10;&#10;AI-generated content may be incorrect.">
            <a:extLst>
              <a:ext uri="{FF2B5EF4-FFF2-40B4-BE49-F238E27FC236}">
                <a16:creationId xmlns:a16="http://schemas.microsoft.com/office/drawing/2014/main" id="{BFF5A66F-9A71-49E2-8953-E1BCAF1319E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83729" y="631827"/>
            <a:ext cx="3224539" cy="1949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71142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200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JetBrains Mono</vt:lpstr>
      <vt:lpstr>Office Theme</vt:lpstr>
      <vt:lpstr>Մոդուլների ներմուծում</vt:lpstr>
      <vt:lpstr>import</vt:lpstr>
      <vt:lpstr>import module as alias</vt:lpstr>
      <vt:lpstr>from module import name</vt:lpstr>
      <vt:lpstr>from module import name1, name2</vt:lpstr>
      <vt:lpstr>from module import *</vt:lpstr>
      <vt:lpstr>Import inside a function (lazy import)</vt:lpstr>
      <vt:lpstr>Dynamic import (using __import__)</vt:lpstr>
      <vt:lpstr>Package imports (package.module)</vt:lpstr>
      <vt:lpstr>Relative imports (inside packages)</vt:lpstr>
      <vt:lpstr>Շնորհակալություն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Հովսեփյան Գոռ Արտակի</dc:creator>
  <cp:lastModifiedBy>Հովսեփյան Գոռ Արտակի</cp:lastModifiedBy>
  <cp:revision>6</cp:revision>
  <dcterms:created xsi:type="dcterms:W3CDTF">2025-07-15T21:00:09Z</dcterms:created>
  <dcterms:modified xsi:type="dcterms:W3CDTF">2025-11-18T14:54:24Z</dcterms:modified>
</cp:coreProperties>
</file>