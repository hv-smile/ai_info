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91" r:id="rId10"/>
    <p:sldId id="295" r:id="rId11"/>
    <p:sldId id="292" r:id="rId12"/>
    <p:sldId id="293" r:id="rId13"/>
    <p:sldId id="294" r:id="rId14"/>
    <p:sldId id="280" r:id="rId15"/>
    <p:sldId id="281" r:id="rId16"/>
    <p:sldId id="282" r:id="rId17"/>
    <p:sldId id="283" r:id="rId18"/>
    <p:sldId id="284" r:id="rId19"/>
    <p:sldId id="272" r:id="rId20"/>
    <p:sldId id="285" r:id="rId21"/>
    <p:sldId id="286" r:id="rId22"/>
    <p:sldId id="287" r:id="rId23"/>
    <p:sldId id="288" r:id="rId24"/>
    <p:sldId id="289" r:id="rId25"/>
    <p:sldId id="29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E6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CD2372-EFF1-5866-F17E-00972449BE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32CD2-48F1-53B0-ED68-030F49BB9E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D14F8-E1D7-453D-ACB0-9704FB024C5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2AB0C-A644-2728-A09B-45EEC1E7FE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69904-057A-C860-59E9-C1ECEB6D3E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58394-31F5-4658-B8B3-5A24CA541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88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EA46F-B858-4ACA-88CD-0CF4E2DA8EEF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6DD48-2B42-4F29-AD86-94FB88F93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78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B15F-E71C-E089-A65F-917C9F01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4C4BA-DBDD-1B29-5FC3-72D54422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21544-CE1F-183A-3EFD-AF6C1B45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C289A-A720-487E-B2C6-E9612DAAE09D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46735-6802-6DDB-1C59-DBA6FD33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7BE66-25FF-3EC2-257E-E25133F6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6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3CF1-9001-3E55-DB40-036DC945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C408-4AFF-E9A4-DC3B-F1317045A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BA60F-B2D1-4A6F-9B0B-A708AA09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65EE-B4EE-441D-A344-1553E5AEEBAE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EA2E1-4B0F-0C42-CB98-F8F5B5C8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DA61A-9C1D-3A02-8CF6-8952400B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B67A-3993-6EBC-6CE9-62468485C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61F15-680E-863B-254A-3A144A0B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5E4FC-A712-ED9A-9FE1-68E5115B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ACD6-C1C2-4539-BDB7-BD12A2BFE2B7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F12B7-5D2E-AFB2-C729-7DB3FB6A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151FB-6F29-66E8-3B0E-9A6CFAF7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61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4096-11B8-7B17-7FF2-806C5ABE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49989-B442-A1B8-20DB-19C9AAEA3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A0614-FF22-8EAF-440A-8E475DEC8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E9D38-12E5-E85B-1013-AF29FDE7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52DE-58EE-4F30-AA2B-B70D7526001D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8CE64-1319-C198-D5B7-9E296991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C3B82-9EF4-453E-30D2-6704F32C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6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AC48-1DA5-76BE-B547-9A27A7CEF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43083-4717-79B3-F252-B431677DF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34ADC-6A12-64AE-6606-000F3067A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92C188-FB39-BC5F-D959-45812E337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B3BAB-B4CA-31DA-96DE-0DA599BE4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A53CF-8123-2DE8-9CBD-7083C45F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59B4-C537-44A4-8DDA-FA1CFEE4F44B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5FC37-72B6-7717-4173-CD9D7F0E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19765-6EB1-DD2A-5774-502E9044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2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77D3-8D12-4C66-CB5B-1756B701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D7C8D-EAC6-C435-07E2-DD2C244A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CBED-4DD8-4702-9903-9945801C0DA6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48873-C447-27A7-9ABD-2AE73147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827EF-6B84-A764-BFF0-3DC2A5F6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3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30EBB-67D6-944E-5A81-E00CFC36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16CE-472A-4086-851E-45FDCC46EA44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8F14E-06FB-F065-7972-F677E363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EC18C-4777-9C06-E0F9-45197380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2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40F8-531C-C6E0-91F1-7BF3B5EF0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B354B-9836-C5ED-97E0-C80D8817F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12A7F-D974-791F-7552-0047FF94C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9B787-889F-E8F6-3E5D-B879ABB4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B154-480A-4C42-97D7-05D7CAAC93CA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69CC3-E805-F887-6C22-38AB0CEF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DE79F-85EF-FE9A-CAD1-C571CF78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1336-1276-AC0C-2E5F-9E8705A0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5E64E-516E-A305-0923-FE7BCB08A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9E00E-70AE-1201-E015-FE9538E3D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60F7E-551F-E94D-61A2-D98941C2C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CD34-E206-4BA9-87DA-5E3E2DA02D1D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911DE-2F2C-0457-1532-A5968C10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CF4E5-3382-350A-A40C-9FA7F9FE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1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14B7-0A3B-D0CD-8BC0-8FC1F505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F481B-AD3B-6780-328E-043947405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D0FF5-0743-FC9F-5A25-9E9FB663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388A-AF40-4BC2-962D-7DB31CD67048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103BF-709E-F2F5-C684-37F6E1B31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05937-3CFC-F358-627C-8F485C62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0E79A-0F7A-0A89-9D6E-A2B004F95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029FF-FFF7-56B4-5D57-01123A005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E9649-BF79-0FC2-BD72-97B42582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F38F-1F61-41CD-9D90-B25E89CADFB4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981E1-7C5C-731D-35EE-0251F600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93BAF-A1A8-0545-5F95-97016B0F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2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1D11C-0D49-43E4-A045-6A40B814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EF522-47DF-6EE5-0DB8-4A6BE6846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D36E6-3E0E-52D7-8C2E-A0ADD37ED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C4616-0D2B-46C6-B852-C3D60F14ECB3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2086F-5718-339A-0949-59F4373F5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D4302-A300-A057-178B-3161E5B5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9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BF04E7-8450-17E9-6D88-6FADD1ED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070EB0-30DD-C21B-B3CB-A2910C9A5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5" y="2235200"/>
            <a:ext cx="11021961" cy="2387600"/>
          </a:xfrm>
        </p:spPr>
        <p:txBody>
          <a:bodyPr>
            <a:normAutofit/>
          </a:bodyPr>
          <a:lstStyle/>
          <a:p>
            <a:r>
              <a:rPr lang="hy-AM" b="1" dirty="0">
                <a:solidFill>
                  <a:srgbClr val="FFCC00"/>
                </a:solidFill>
              </a:rPr>
              <a:t>Ֆունկցիաներ</a:t>
            </a:r>
            <a:endParaRPr lang="en-US" b="1" dirty="0">
              <a:solidFill>
                <a:srgbClr val="FFCC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64AD8-B62B-5AED-9C3A-A9FBEF6BB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857" y="6366739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FFCC00"/>
                </a:solidFill>
              </a:rPr>
              <a:t>Prepared by Gor Hovsepyan  </a:t>
            </a:r>
          </a:p>
        </p:txBody>
      </p:sp>
      <p:pic>
        <p:nvPicPr>
          <p:cNvPr id="10" name="image1.png" descr="A logo with colorful lines&#10;&#10;AI-generated content may be incorrect.">
            <a:extLst>
              <a:ext uri="{FF2B5EF4-FFF2-40B4-BE49-F238E27FC236}">
                <a16:creationId xmlns:a16="http://schemas.microsoft.com/office/drawing/2014/main" id="{A169D08E-2FC1-0520-A314-1AAF8D71D72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483729" y="631827"/>
            <a:ext cx="3224539" cy="1949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3416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F1B4F4-D88F-ABAF-25F5-D3CDB377A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D58CFF-D9D3-DAC2-BB0A-B42A7D7C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>
                <a:solidFill>
                  <a:srgbClr val="FFCC00"/>
                </a:solidFill>
              </a:rPr>
              <a:t> </a:t>
            </a:r>
            <a:r>
              <a:rPr lang="hy-AM" dirty="0">
                <a:solidFill>
                  <a:srgbClr val="FFCC00"/>
                </a:solidFill>
              </a:rPr>
              <a:t>Ֆունկցիաների դերը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73E03-D8B9-3647-7B4B-F2A995FB2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498"/>
            <a:ext cx="10927773" cy="4351338"/>
          </a:xfrm>
        </p:spPr>
        <p:txBody>
          <a:bodyPr>
            <a:normAutofit/>
          </a:bodyPr>
          <a:lstStyle/>
          <a:p>
            <a:r>
              <a:rPr lang="hy-AM" b="1" dirty="0"/>
              <a:t>Ֆունկցիա</a:t>
            </a:r>
            <a:r>
              <a:rPr lang="hy-AM" dirty="0"/>
              <a:t> (</a:t>
            </a:r>
            <a:r>
              <a:rPr lang="en-US" dirty="0"/>
              <a:t>Function) – </a:t>
            </a:r>
            <a:r>
              <a:rPr lang="hy-AM" dirty="0"/>
              <a:t>ծրագրավորման հիմնական կառուցվածքային տարրերից է, որը կատարում է որոշակի գործողություն և կարող է վերադարձնել արդյունք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F327A-5230-FC26-94B7-87D28F58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B3A75E-AAFD-3943-7EF7-A8DBE7C2D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64631"/>
            <a:ext cx="762000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80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89774-A4FE-0A8B-B858-C17F6C52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DDCF4E-C91D-395A-02EF-F0186372C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992C6-26DB-1DA2-4A82-1CB3976A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Ֆունկցիայի կառուցվածք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DD4B-00FB-8449-103A-156DC9BC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666460-5A60-ECF6-2D49-E41D120B2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AD345A8-A156-ED6E-0BC7-EC7258D2C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28" y="3594253"/>
            <a:ext cx="10706072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3600" dirty="0">
                <a:solidFill>
                  <a:srgbClr val="CC7832"/>
                </a:solidFill>
                <a:latin typeface="JetBrains Mono"/>
              </a:rPr>
              <a:t>def </a:t>
            </a:r>
            <a:r>
              <a:rPr lang="en-US" altLang="en-US" sz="3600" dirty="0" err="1">
                <a:solidFill>
                  <a:srgbClr val="FFC66D"/>
                </a:solidFill>
                <a:latin typeface="JetBrains Mono"/>
              </a:rPr>
              <a:t>FunctionName</a:t>
            </a:r>
            <a:r>
              <a:rPr lang="en-US" altLang="en-US" sz="3600" dirty="0">
                <a:latin typeface="JetBrains Mono"/>
              </a:rPr>
              <a:t>(</a:t>
            </a:r>
            <a:r>
              <a:rPr lang="en-US" altLang="en-US" sz="3600" dirty="0" err="1">
                <a:latin typeface="JetBrains Mono"/>
              </a:rPr>
              <a:t>InputParametrs</a:t>
            </a:r>
            <a:r>
              <a:rPr lang="en-US" altLang="en-US" sz="3600" dirty="0">
                <a:latin typeface="JetBrains Mono"/>
              </a:rPr>
              <a:t>):</a:t>
            </a:r>
            <a:br>
              <a:rPr lang="en-US" altLang="en-US" sz="3600" dirty="0">
                <a:solidFill>
                  <a:srgbClr val="A9B7C6"/>
                </a:solidFill>
                <a:latin typeface="JetBrains Mono"/>
              </a:rPr>
            </a:br>
            <a:r>
              <a:rPr lang="en-US" altLang="en-US" sz="3600" dirty="0">
                <a:solidFill>
                  <a:srgbClr val="A9B7C6"/>
                </a:solidFill>
                <a:latin typeface="JetBrains Mono"/>
              </a:rPr>
              <a:t>	</a:t>
            </a:r>
            <a:r>
              <a:rPr lang="en-US" altLang="en-US" sz="3600" dirty="0">
                <a:solidFill>
                  <a:srgbClr val="808080"/>
                </a:solidFill>
                <a:latin typeface="JetBrains Mono"/>
              </a:rPr>
              <a:t>#</a:t>
            </a:r>
            <a:r>
              <a:rPr lang="en-US" altLang="en-US" sz="36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Ֆունկցիայի </a:t>
            </a:r>
            <a:r>
              <a:rPr lang="en-US" altLang="en-US" sz="36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մարմին</a:t>
            </a:r>
            <a:br>
              <a:rPr lang="en-US" altLang="en-US" sz="36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36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3600" dirty="0">
                <a:solidFill>
                  <a:srgbClr val="7030A0"/>
                </a:solidFill>
                <a:latin typeface="JetBrains Mono"/>
              </a:rPr>
              <a:t>print</a:t>
            </a:r>
            <a:r>
              <a:rPr lang="en-US" altLang="en-US" sz="3600" dirty="0">
                <a:latin typeface="JetBrains Mono"/>
              </a:rPr>
              <a:t>(</a:t>
            </a:r>
            <a:r>
              <a:rPr lang="en-US" altLang="en-US" sz="3600" dirty="0" err="1">
                <a:solidFill>
                  <a:srgbClr val="00B050"/>
                </a:solidFill>
                <a:latin typeface="JetBrains Mono"/>
              </a:rPr>
              <a:t>f"Printing</a:t>
            </a:r>
            <a:r>
              <a:rPr lang="en-US" altLang="en-US" sz="3600" dirty="0">
                <a:solidFill>
                  <a:srgbClr val="00B050"/>
                </a:solidFill>
                <a:latin typeface="JetBrains Mono"/>
              </a:rPr>
              <a:t> input </a:t>
            </a:r>
            <a:r>
              <a:rPr lang="en-US" altLang="en-US" sz="3600" dirty="0" err="1">
                <a:solidFill>
                  <a:srgbClr val="00B050"/>
                </a:solidFill>
                <a:latin typeface="JetBrains Mono"/>
              </a:rPr>
              <a:t>parametr</a:t>
            </a:r>
            <a:r>
              <a:rPr lang="en-US" altLang="en-US" sz="3600" dirty="0">
                <a:solidFill>
                  <a:srgbClr val="CC7832"/>
                </a:solidFill>
                <a:latin typeface="JetBrains Mono"/>
              </a:rPr>
              <a:t>{</a:t>
            </a:r>
            <a:r>
              <a:rPr lang="en-US" altLang="en-US" sz="3600" dirty="0" err="1">
                <a:latin typeface="JetBrains Mono"/>
              </a:rPr>
              <a:t>InputParametrs</a:t>
            </a:r>
            <a:r>
              <a:rPr lang="en-US" altLang="en-US" sz="3600" dirty="0">
                <a:solidFill>
                  <a:srgbClr val="CC7832"/>
                </a:solidFill>
                <a:latin typeface="JetBrains Mono"/>
              </a:rPr>
              <a:t>}</a:t>
            </a:r>
            <a:r>
              <a:rPr lang="en-US" altLang="en-US" sz="3600" dirty="0">
                <a:solidFill>
                  <a:srgbClr val="00B050"/>
                </a:solidFill>
                <a:latin typeface="JetBrains Mono"/>
              </a:rPr>
              <a:t>"</a:t>
            </a:r>
            <a:r>
              <a:rPr lang="en-US" altLang="en-US" sz="3600" dirty="0">
                <a:latin typeface="JetBrains Mono"/>
              </a:rPr>
              <a:t>)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B6807C-F2C1-0A61-2B7A-E825F1A2AEEC}"/>
              </a:ext>
            </a:extLst>
          </p:cNvPr>
          <p:cNvSpPr/>
          <p:nvPr/>
        </p:nvSpPr>
        <p:spPr>
          <a:xfrm>
            <a:off x="950976" y="3657600"/>
            <a:ext cx="667512" cy="539496"/>
          </a:xfrm>
          <a:prstGeom prst="roundRect">
            <a:avLst/>
          </a:prstGeom>
          <a:noFill/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7B3108-C70D-C73E-0589-9998510C53B3}"/>
              </a:ext>
            </a:extLst>
          </p:cNvPr>
          <p:cNvSpPr/>
          <p:nvPr/>
        </p:nvSpPr>
        <p:spPr>
          <a:xfrm>
            <a:off x="320040" y="1847088"/>
            <a:ext cx="2816352" cy="813816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dirty="0"/>
              <a:t>def </a:t>
            </a:r>
            <a:r>
              <a:rPr lang="hy-AM" dirty="0"/>
              <a:t>Բանալի բառ</a:t>
            </a:r>
            <a:r>
              <a:rPr lang="af-ZA" dirty="0"/>
              <a:t> 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7C133D-D37C-7F01-23E2-434051E4EC49}"/>
              </a:ext>
            </a:extLst>
          </p:cNvPr>
          <p:cNvCxnSpPr>
            <a:endCxn id="10" idx="0"/>
          </p:cNvCxnSpPr>
          <p:nvPr/>
        </p:nvCxnSpPr>
        <p:spPr>
          <a:xfrm>
            <a:off x="685800" y="2240280"/>
            <a:ext cx="598932" cy="1417320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687295-59D2-604C-4B41-0028BB3EA1DD}"/>
              </a:ext>
            </a:extLst>
          </p:cNvPr>
          <p:cNvSpPr/>
          <p:nvPr/>
        </p:nvSpPr>
        <p:spPr>
          <a:xfrm>
            <a:off x="1618488" y="3657600"/>
            <a:ext cx="2871216" cy="539496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A3A2B6-27E4-1D33-79F9-F2F8209D01BC}"/>
              </a:ext>
            </a:extLst>
          </p:cNvPr>
          <p:cNvSpPr/>
          <p:nvPr/>
        </p:nvSpPr>
        <p:spPr>
          <a:xfrm>
            <a:off x="3456432" y="1847088"/>
            <a:ext cx="4069080" cy="8138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Ֆունկցիայի անվանում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1D3374-F02E-4A53-58AF-18047ACDEE4F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 flipH="1">
            <a:off x="3054096" y="2660904"/>
            <a:ext cx="2436876" cy="996696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C78591-96B2-2022-C2D0-CFE02FB4903D}"/>
              </a:ext>
            </a:extLst>
          </p:cNvPr>
          <p:cNvSpPr/>
          <p:nvPr/>
        </p:nvSpPr>
        <p:spPr>
          <a:xfrm>
            <a:off x="4489704" y="3657600"/>
            <a:ext cx="3468624" cy="539496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B8E0BF-4E79-B1DD-B3C9-8122AACB0EDE}"/>
              </a:ext>
            </a:extLst>
          </p:cNvPr>
          <p:cNvSpPr/>
          <p:nvPr/>
        </p:nvSpPr>
        <p:spPr>
          <a:xfrm>
            <a:off x="7790688" y="1847088"/>
            <a:ext cx="3774730" cy="813816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Մուտքային պարամետր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93CF4A-14B9-3165-02AF-C0406171B5BC}"/>
              </a:ext>
            </a:extLst>
          </p:cNvPr>
          <p:cNvCxnSpPr>
            <a:stCxn id="17" idx="2"/>
            <a:endCxn id="9" idx="0"/>
          </p:cNvCxnSpPr>
          <p:nvPr/>
        </p:nvCxnSpPr>
        <p:spPr>
          <a:xfrm flipH="1">
            <a:off x="6153164" y="2660904"/>
            <a:ext cx="3524889" cy="933349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531A0A-11A8-05B0-4944-589CDCBE1BD8}"/>
              </a:ext>
            </a:extLst>
          </p:cNvPr>
          <p:cNvSpPr/>
          <p:nvPr/>
        </p:nvSpPr>
        <p:spPr>
          <a:xfrm>
            <a:off x="1783080" y="4197096"/>
            <a:ext cx="9782338" cy="1162437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0632763-0F3D-3B8D-5B92-09EF87B56144}"/>
              </a:ext>
            </a:extLst>
          </p:cNvPr>
          <p:cNvSpPr/>
          <p:nvPr/>
        </p:nvSpPr>
        <p:spPr>
          <a:xfrm>
            <a:off x="210312" y="5605272"/>
            <a:ext cx="4919472" cy="109728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Ֆունկցիայի մարմին</a:t>
            </a:r>
            <a:r>
              <a:rPr lang="af-ZA" dirty="0"/>
              <a:t>(</a:t>
            </a:r>
            <a:r>
              <a:rPr lang="hy-AM" dirty="0"/>
              <a:t>Կատարող հատված</a:t>
            </a:r>
            <a:r>
              <a:rPr lang="af-ZA" dirty="0"/>
              <a:t>)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ED0DE5-FF60-309C-40D8-38B47C3B38E5}"/>
              </a:ext>
            </a:extLst>
          </p:cNvPr>
          <p:cNvCxnSpPr>
            <a:stCxn id="19" idx="2"/>
            <a:endCxn id="20" idx="3"/>
          </p:cNvCxnSpPr>
          <p:nvPr/>
        </p:nvCxnSpPr>
        <p:spPr>
          <a:xfrm flipH="1">
            <a:off x="5129784" y="5359533"/>
            <a:ext cx="1544465" cy="794379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30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B2677-F175-C4D3-53FB-8CC2B880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D6B9D1-D2BB-6D17-4BD7-9F2BE41A5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260CF7-2383-8A91-90CF-BB0834B9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Ֆունկցիաների տեսակները ըստ արժեք ընդունելու և վերադարձնելու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B9602-01CE-BA54-4678-E8CEFCD4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48E28F98-14C8-4012-9B3D-BA2BEEE8B077}" type="slidenum">
              <a:rPr lang="en-US" smtClean="0"/>
              <a:t>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9FB756-A6C7-3C7F-A17B-76C7C23A8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A993AD-D7B5-C210-2B5C-AEE23A843C69}"/>
              </a:ext>
            </a:extLst>
          </p:cNvPr>
          <p:cNvSpPr/>
          <p:nvPr/>
        </p:nvSpPr>
        <p:spPr>
          <a:xfrm>
            <a:off x="-5138264" y="2053906"/>
            <a:ext cx="4754880" cy="8355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Մուտքային արժեք ընդունող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A5CC46-AED2-0338-5239-19864A927E5C}"/>
              </a:ext>
            </a:extLst>
          </p:cNvPr>
          <p:cNvSpPr/>
          <p:nvPr/>
        </p:nvSpPr>
        <p:spPr>
          <a:xfrm>
            <a:off x="-5138264" y="4093021"/>
            <a:ext cx="4754880" cy="835597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Արժեք վերադարձնող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415872-0742-33DA-8DDC-85F0C9FDCE23}"/>
              </a:ext>
            </a:extLst>
          </p:cNvPr>
          <p:cNvSpPr/>
          <p:nvPr/>
        </p:nvSpPr>
        <p:spPr>
          <a:xfrm>
            <a:off x="-5138264" y="3070638"/>
            <a:ext cx="4754880" cy="835597"/>
          </a:xfrm>
          <a:prstGeom prst="round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Մուտքային արժեք չընդունող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BCAEB5-5758-F2D7-ACD9-372D144FEC86}"/>
              </a:ext>
            </a:extLst>
          </p:cNvPr>
          <p:cNvSpPr/>
          <p:nvPr/>
        </p:nvSpPr>
        <p:spPr>
          <a:xfrm>
            <a:off x="-5138264" y="5115404"/>
            <a:ext cx="4754880" cy="835597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Արժեք չվերադարձնող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7A8F14-DF81-1CFC-0B9D-0CA04CCAD159}"/>
              </a:ext>
            </a:extLst>
          </p:cNvPr>
          <p:cNvSpPr/>
          <p:nvPr/>
        </p:nvSpPr>
        <p:spPr>
          <a:xfrm>
            <a:off x="7137654" y="2053906"/>
            <a:ext cx="4626864" cy="835598"/>
          </a:xfrm>
          <a:prstGeom prst="roundRect">
            <a:avLst/>
          </a:prstGeom>
          <a:gradFill>
            <a:gsLst>
              <a:gs pos="100000">
                <a:srgbClr val="00D17D"/>
              </a:gs>
              <a:gs pos="0">
                <a:srgbClr val="00BAC8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Մուտքային արժեք ընդունող</a:t>
            </a:r>
          </a:p>
          <a:p>
            <a:pPr algn="ctr"/>
            <a:r>
              <a:rPr lang="hy-AM" dirty="0"/>
              <a:t>Արժեք վերադարձնող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8151C2-601D-D064-5F5D-89CBD9B5A7C8}"/>
              </a:ext>
            </a:extLst>
          </p:cNvPr>
          <p:cNvSpPr/>
          <p:nvPr/>
        </p:nvSpPr>
        <p:spPr>
          <a:xfrm>
            <a:off x="7137654" y="3070637"/>
            <a:ext cx="4626864" cy="835598"/>
          </a:xfrm>
          <a:prstGeom prst="roundRect">
            <a:avLst/>
          </a:prstGeom>
          <a:gradFill>
            <a:gsLst>
              <a:gs pos="100000">
                <a:srgbClr val="00D17D"/>
              </a:gs>
              <a:gs pos="0">
                <a:srgbClr val="794DFF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Մուտքային արժեք չընդունող</a:t>
            </a:r>
          </a:p>
          <a:p>
            <a:pPr algn="ctr"/>
            <a:r>
              <a:rPr lang="hy-AM" dirty="0"/>
              <a:t>Արժեք վերադարձնող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74CD70-BD2B-06A4-7DFF-CFB13D1344C0}"/>
              </a:ext>
            </a:extLst>
          </p:cNvPr>
          <p:cNvSpPr/>
          <p:nvPr/>
        </p:nvSpPr>
        <p:spPr>
          <a:xfrm>
            <a:off x="7137654" y="4087369"/>
            <a:ext cx="4626864" cy="835598"/>
          </a:xfrm>
          <a:prstGeom prst="roundRect">
            <a:avLst/>
          </a:prstGeom>
          <a:gradFill>
            <a:gsLst>
              <a:gs pos="100000">
                <a:srgbClr val="E69500"/>
              </a:gs>
              <a:gs pos="0">
                <a:srgbClr val="794DFF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Մուտքային արժեք չընդունող</a:t>
            </a:r>
          </a:p>
          <a:p>
            <a:pPr algn="ctr"/>
            <a:r>
              <a:rPr lang="hy-AM" dirty="0"/>
              <a:t>Արժեք չվերադարձնող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BB0353-42E2-656E-B8E1-DE891208EFF3}"/>
              </a:ext>
            </a:extLst>
          </p:cNvPr>
          <p:cNvSpPr/>
          <p:nvPr/>
        </p:nvSpPr>
        <p:spPr>
          <a:xfrm>
            <a:off x="7137654" y="5115403"/>
            <a:ext cx="4626864" cy="835598"/>
          </a:xfrm>
          <a:prstGeom prst="roundRect">
            <a:avLst/>
          </a:prstGeom>
          <a:gradFill>
            <a:gsLst>
              <a:gs pos="100000">
                <a:srgbClr val="FFC000"/>
              </a:gs>
              <a:gs pos="0">
                <a:srgbClr val="00BAC8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Մուտքային արժեք ընդունող</a:t>
            </a:r>
          </a:p>
          <a:p>
            <a:pPr algn="ctr"/>
            <a:r>
              <a:rPr lang="hy-AM" dirty="0"/>
              <a:t>Արժեք չվերադարձնող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A98681-2F44-FA56-B951-C87448AB5C5D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886325" y="2471705"/>
            <a:ext cx="225132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3F1C83-4F40-40EF-8376-4487099DB355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886325" y="2471705"/>
            <a:ext cx="2251329" cy="214098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9CC3B8-062B-5DC1-E638-F0FE32804FE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886325" y="2466054"/>
            <a:ext cx="2251329" cy="30671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AC6467E-1B53-6F34-C3E2-B3009E0A817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886325" y="3488436"/>
            <a:ext cx="2251329" cy="112425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3095D4-C461-9F7C-31CB-7BF4244F7A7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886325" y="3488436"/>
            <a:ext cx="225132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09B159-1222-A5B8-7B6D-848BC7425E1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886325" y="3505390"/>
            <a:ext cx="2251329" cy="9997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643268-0657-0D63-3B8C-1D45251FDEE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886325" y="5533202"/>
            <a:ext cx="225132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F1891C-3113-AEFC-8ABC-C39DC02AD077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886325" y="4505168"/>
            <a:ext cx="2251329" cy="102803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78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33333E-6 L 0.43242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2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81481E-6 L 0.43242 -0.0006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2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1.11111E-6 L 0.43242 0.0009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28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96296E-6 L 0.43242 -0.0016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28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90DBB-C5B2-922F-8992-49E892CA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6FCC88-B315-61CE-5791-7965A40D5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B3D3C6-EE1D-DC34-F0AA-CCB204F8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Ֆունկցիաների օրինակներ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5656E-31F5-9D35-75C1-B77B0713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452A47-D14B-87DA-A589-1DE8D5152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6BE00B-78CC-46F1-7F95-B12F4C64A0F8}"/>
              </a:ext>
            </a:extLst>
          </p:cNvPr>
          <p:cNvSpPr/>
          <p:nvPr/>
        </p:nvSpPr>
        <p:spPr>
          <a:xfrm>
            <a:off x="284087" y="1683778"/>
            <a:ext cx="5561838" cy="1274064"/>
          </a:xfrm>
          <a:prstGeom prst="roundRect">
            <a:avLst/>
          </a:prstGeom>
          <a:gradFill>
            <a:gsLst>
              <a:gs pos="100000">
                <a:srgbClr val="00D17D"/>
              </a:gs>
              <a:gs pos="0">
                <a:srgbClr val="00BAC8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sz="2400" dirty="0"/>
              <a:t>Մուտքային արժեք ընդունող</a:t>
            </a:r>
          </a:p>
          <a:p>
            <a:pPr algn="ctr"/>
            <a:r>
              <a:rPr lang="hy-AM" sz="2400" dirty="0"/>
              <a:t>Արժեք վերադարձնող</a:t>
            </a:r>
            <a:endParaRPr lang="en-US" sz="2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0E468EB-A257-3026-58EB-317CA2E42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87" y="3932388"/>
            <a:ext cx="5686172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3600" dirty="0">
                <a:solidFill>
                  <a:schemeClr val="accent2">
                    <a:lumMod val="75000"/>
                  </a:schemeClr>
                </a:solidFill>
                <a:latin typeface="JetBrains Mono"/>
              </a:rPr>
              <a:t>def</a:t>
            </a:r>
            <a:r>
              <a:rPr lang="en-US" altLang="en-US" sz="3600" dirty="0">
                <a:solidFill>
                  <a:srgbClr val="CC7832"/>
                </a:solidFill>
                <a:latin typeface="JetBrains Mono"/>
              </a:rPr>
              <a:t> </a:t>
            </a:r>
            <a:r>
              <a:rPr lang="en-US" altLang="en-US" sz="3600" dirty="0" err="1">
                <a:solidFill>
                  <a:srgbClr val="FFFF00"/>
                </a:solidFill>
                <a:latin typeface="JetBrains Mono"/>
              </a:rPr>
              <a:t>FunctionName</a:t>
            </a:r>
            <a:r>
              <a:rPr lang="en-US" altLang="en-US" sz="3600" dirty="0">
                <a:latin typeface="JetBrains Mono"/>
              </a:rPr>
              <a:t>(</a:t>
            </a:r>
            <a:r>
              <a:rPr lang="en-US" altLang="en-US" sz="3600" dirty="0" err="1">
                <a:latin typeface="JetBrains Mono"/>
              </a:rPr>
              <a:t>a,b</a:t>
            </a:r>
            <a:r>
              <a:rPr lang="en-US" altLang="en-US" sz="3600" dirty="0">
                <a:latin typeface="JetBrains Mono"/>
              </a:rPr>
              <a:t>):</a:t>
            </a:r>
            <a:br>
              <a:rPr lang="en-US" altLang="en-US" sz="3600" dirty="0">
                <a:solidFill>
                  <a:srgbClr val="A9B7C6"/>
                </a:solidFill>
                <a:latin typeface="JetBrains Mono"/>
              </a:rPr>
            </a:br>
            <a:r>
              <a:rPr lang="en-US" altLang="en-US" sz="3600" dirty="0">
                <a:solidFill>
                  <a:srgbClr val="A9B7C6"/>
                </a:solidFill>
                <a:latin typeface="JetBrains Mono"/>
              </a:rPr>
              <a:t>    </a:t>
            </a:r>
            <a:r>
              <a:rPr lang="en-US" altLang="en-US" sz="3600" dirty="0">
                <a:solidFill>
                  <a:srgbClr val="808080"/>
                </a:solidFill>
                <a:latin typeface="JetBrains Mono"/>
              </a:rPr>
              <a:t>#</a:t>
            </a:r>
            <a:r>
              <a:rPr lang="en-US" altLang="en-US" sz="36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Վերադարձվող </a:t>
            </a:r>
            <a:r>
              <a:rPr lang="en-US" altLang="en-US" sz="3600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արժեք</a:t>
            </a:r>
            <a:br>
              <a:rPr lang="en-US" altLang="en-US" sz="36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3600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3600" dirty="0">
                <a:solidFill>
                  <a:schemeClr val="accent2">
                    <a:lumMod val="75000"/>
                  </a:schemeClr>
                </a:solidFill>
                <a:latin typeface="JetBrains Mono"/>
              </a:rPr>
              <a:t>return</a:t>
            </a:r>
            <a:r>
              <a:rPr lang="en-US" altLang="en-US" sz="3600" dirty="0">
                <a:solidFill>
                  <a:srgbClr val="CC7832"/>
                </a:solidFill>
                <a:latin typeface="JetBrains Mono"/>
              </a:rPr>
              <a:t> </a:t>
            </a:r>
            <a:r>
              <a:rPr lang="en-US" altLang="en-US" sz="3600" dirty="0" err="1">
                <a:latin typeface="JetBrains Mono"/>
              </a:rPr>
              <a:t>a+b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5B7EE9-5CF8-2987-A22F-3878AE93AB41}"/>
              </a:ext>
            </a:extLst>
          </p:cNvPr>
          <p:cNvSpPr/>
          <p:nvPr/>
        </p:nvSpPr>
        <p:spPr>
          <a:xfrm>
            <a:off x="6313993" y="1690688"/>
            <a:ext cx="5561837" cy="1274064"/>
          </a:xfrm>
          <a:prstGeom prst="roundRect">
            <a:avLst/>
          </a:prstGeom>
          <a:gradFill>
            <a:gsLst>
              <a:gs pos="100000">
                <a:srgbClr val="FFC000"/>
              </a:gs>
              <a:gs pos="0">
                <a:srgbClr val="00BAC8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sz="2400" dirty="0"/>
              <a:t>Մուտքային արժեք ընդունող</a:t>
            </a:r>
          </a:p>
          <a:p>
            <a:pPr algn="ctr"/>
            <a:r>
              <a:rPr lang="hy-AM" sz="2400" dirty="0"/>
              <a:t>Արժեք չվերադարձնող</a:t>
            </a:r>
            <a:endParaRPr lang="en-US" sz="24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D52D5A4-93FD-04FF-E652-3FA04151E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438" y="3932388"/>
            <a:ext cx="5405647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def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latin typeface="JetBrains Mono"/>
              </a:rPr>
              <a:t>FunctionName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a,b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hy-AM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Արժեքը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տպում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է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JetBrains Mono"/>
              </a:rPr>
              <a:t>f"Sum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/>
              </a:rPr>
              <a:t> is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a+b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181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F011-6D72-E1CC-0163-2006E7BD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D23FF9-4503-50A8-674C-B5ADAC65A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F4793D-6DDB-3A05-ED28-A2EA8CE3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Ֆունկցիաների օրինակներ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329E-73A9-9A11-EF8B-E0A16AD4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27CAD1-3050-238D-5980-4B7372E55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B5932E-CC1D-2117-17D3-B89EF12E7509}"/>
              </a:ext>
            </a:extLst>
          </p:cNvPr>
          <p:cNvSpPr/>
          <p:nvPr/>
        </p:nvSpPr>
        <p:spPr>
          <a:xfrm>
            <a:off x="231648" y="1646238"/>
            <a:ext cx="5592318" cy="1299556"/>
          </a:xfrm>
          <a:prstGeom prst="roundRect">
            <a:avLst/>
          </a:prstGeom>
          <a:gradFill>
            <a:gsLst>
              <a:gs pos="100000">
                <a:srgbClr val="00D17D"/>
              </a:gs>
              <a:gs pos="0">
                <a:srgbClr val="794DFF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sz="2400" dirty="0"/>
              <a:t>Մուտքային արժեք չընդունող</a:t>
            </a:r>
          </a:p>
          <a:p>
            <a:pPr algn="ctr"/>
            <a:r>
              <a:rPr lang="hy-AM" sz="2400" dirty="0"/>
              <a:t>Արժեք վերադարձնող</a:t>
            </a:r>
            <a:endParaRPr lang="en-US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CCE013-7C8F-B9AC-8831-2685CC10A444}"/>
              </a:ext>
            </a:extLst>
          </p:cNvPr>
          <p:cNvSpPr/>
          <p:nvPr/>
        </p:nvSpPr>
        <p:spPr>
          <a:xfrm>
            <a:off x="6327648" y="1646238"/>
            <a:ext cx="5592318" cy="1299556"/>
          </a:xfrm>
          <a:prstGeom prst="roundRect">
            <a:avLst/>
          </a:prstGeom>
          <a:gradFill>
            <a:gsLst>
              <a:gs pos="100000">
                <a:srgbClr val="E69500"/>
              </a:gs>
              <a:gs pos="0">
                <a:srgbClr val="794DFF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sz="2400" dirty="0"/>
              <a:t>Մուտքային արժեք չընդունող</a:t>
            </a:r>
          </a:p>
          <a:p>
            <a:pPr algn="ctr"/>
            <a:r>
              <a:rPr lang="hy-AM" sz="2400" dirty="0"/>
              <a:t>Արժեք չվերադարձնող</a:t>
            </a:r>
            <a:endParaRPr lang="en-US" sz="24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156AE7D-54C3-E82D-CDE2-D7011B02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648" y="3938357"/>
            <a:ext cx="5279074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def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latin typeface="JetBrains Mono"/>
              </a:rPr>
              <a:t>FunctionName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Արժեքը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տպում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է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JetBrains Mono"/>
              </a:rPr>
              <a:t>f"printing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/>
              </a:rPr>
              <a:t> text"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5710D15-8265-077A-EC42-9C0B02FA4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48" y="3938357"/>
            <a:ext cx="5509842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def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latin typeface="JetBrains Mono"/>
              </a:rPr>
              <a:t>FunctionName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վերադարձնում է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թիվ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return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/>
              </a:rPr>
              <a:t>3.14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479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3223-D62F-5B83-B26C-D170F059D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A46982-C805-75A9-0451-6040ED281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3C330D-8B40-9F31-FFC4-2A643E97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Ֆունկցիայի կանչը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8318B-0E0D-69FE-1FBE-A7F889B0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5ED66B-4205-84C2-E5F4-C347C2D8F1B5}"/>
              </a:ext>
            </a:extLst>
          </p:cNvPr>
          <p:cNvSpPr/>
          <p:nvPr/>
        </p:nvSpPr>
        <p:spPr>
          <a:xfrm>
            <a:off x="550865" y="1800860"/>
            <a:ext cx="6008504" cy="10972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Արժեք վերադարձնող ֆունկցիայի կանչ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7A9C1A7-AE86-1DC9-D1BC-D8CCE7DDD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5" y="3429000"/>
            <a:ext cx="6008504" cy="286232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pow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a**b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Pow = pow(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lang="en-US" altLang="en-US" sz="3600" dirty="0">
                <a:solidFill>
                  <a:srgbClr val="6897BB"/>
                </a:solidFill>
                <a:latin typeface="JetBrains Mono"/>
              </a:rPr>
              <a:t>2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return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Pow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f"Pow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- 5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Pow-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57136B-CE88-6DB8-D4BD-792B59070E6A}"/>
              </a:ext>
            </a:extLst>
          </p:cNvPr>
          <p:cNvSpPr/>
          <p:nvPr/>
        </p:nvSpPr>
        <p:spPr>
          <a:xfrm>
            <a:off x="7226844" y="3439439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function return25</a:t>
            </a:r>
          </a:p>
          <a:p>
            <a:r>
              <a:rPr lang="en-US" dirty="0"/>
              <a:t>Pow - 5 = 20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BF4C4-5908-FAEF-69A9-F411ED6CE310}"/>
              </a:ext>
            </a:extLst>
          </p:cNvPr>
          <p:cNvSpPr/>
          <p:nvPr/>
        </p:nvSpPr>
        <p:spPr>
          <a:xfrm>
            <a:off x="7226844" y="1983740"/>
            <a:ext cx="2499360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3C2F-CE6B-8F5C-272B-13250804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FE9E35-170B-9064-C301-38AD8A648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47AF3A-1571-A02D-5094-63371866B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Ֆունկցիայի կանչը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9467B-AD68-3DC3-BB79-BA370547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8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6AD98B4-2AFA-6711-07DD-20CC7E46C9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516" y="3676918"/>
            <a:ext cx="8314327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Message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inputMessage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f"My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message is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inputMessage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Message(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"Messgae1"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Message(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"Message2"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100E6-7497-8079-F8D9-9565916F812B}"/>
              </a:ext>
            </a:extLst>
          </p:cNvPr>
          <p:cNvSpPr/>
          <p:nvPr/>
        </p:nvSpPr>
        <p:spPr>
          <a:xfrm>
            <a:off x="7343455" y="1663700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My message is Messgae1</a:t>
            </a:r>
          </a:p>
          <a:p>
            <a:r>
              <a:rPr lang="en-US" dirty="0"/>
              <a:t>My message is Message2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BE60B2-765F-1466-71AF-248C5814D7D1}"/>
              </a:ext>
            </a:extLst>
          </p:cNvPr>
          <p:cNvSpPr/>
          <p:nvPr/>
        </p:nvSpPr>
        <p:spPr>
          <a:xfrm>
            <a:off x="9141775" y="304800"/>
            <a:ext cx="2499360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22B448-CD4A-CB06-C3F5-BC653A1FEF92}"/>
              </a:ext>
            </a:extLst>
          </p:cNvPr>
          <p:cNvSpPr/>
          <p:nvPr/>
        </p:nvSpPr>
        <p:spPr>
          <a:xfrm>
            <a:off x="680516" y="1800860"/>
            <a:ext cx="6008504" cy="10972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Արժեք չվերադարձնող ֆունկցիայի կանչ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50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C094C-8E51-EFA4-52E4-0F685817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61C453-56A9-8E2E-5F50-CD0F37A4F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735897-08D4-044B-102E-8FC2F3ED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Մուտքային պարամետրեր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4BC4A-8007-3B2F-2439-F0F1A32D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9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216E1D-A50A-2F6D-8EF1-F0586FC366A5}"/>
              </a:ext>
            </a:extLst>
          </p:cNvPr>
          <p:cNvSpPr/>
          <p:nvPr/>
        </p:nvSpPr>
        <p:spPr>
          <a:xfrm>
            <a:off x="1245970" y="2075688"/>
            <a:ext cx="4398264" cy="11612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Ընդհանուր մուտքային պարամետրեր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CA14BB-2FFB-3BD9-07DF-4717DDBE404F}"/>
              </a:ext>
            </a:extLst>
          </p:cNvPr>
          <p:cNvSpPr/>
          <p:nvPr/>
        </p:nvSpPr>
        <p:spPr>
          <a:xfrm>
            <a:off x="6547767" y="2075688"/>
            <a:ext cx="4398264" cy="11612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Դինամիկ պարամետրեր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AF9939-BBCD-79F8-3926-690E596D877E}"/>
              </a:ext>
            </a:extLst>
          </p:cNvPr>
          <p:cNvSpPr/>
          <p:nvPr/>
        </p:nvSpPr>
        <p:spPr>
          <a:xfrm>
            <a:off x="1245970" y="3541776"/>
            <a:ext cx="4398264" cy="1161288"/>
          </a:xfrm>
          <a:prstGeom prst="roundRect">
            <a:avLst/>
          </a:prstGeom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Դիրքային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EC1183-2CBB-1029-3C98-589B1CB52BA8}"/>
              </a:ext>
            </a:extLst>
          </p:cNvPr>
          <p:cNvSpPr/>
          <p:nvPr/>
        </p:nvSpPr>
        <p:spPr>
          <a:xfrm>
            <a:off x="1245970" y="5007864"/>
            <a:ext cx="4398264" cy="1161288"/>
          </a:xfrm>
          <a:prstGeom prst="roundRect">
            <a:avLst/>
          </a:prstGeom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dirty="0"/>
              <a:t>Keyword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72B362-1435-9297-305D-429C5255567A}"/>
              </a:ext>
            </a:extLst>
          </p:cNvPr>
          <p:cNvSpPr/>
          <p:nvPr/>
        </p:nvSpPr>
        <p:spPr>
          <a:xfrm>
            <a:off x="6547767" y="3541776"/>
            <a:ext cx="4398264" cy="1161288"/>
          </a:xfrm>
          <a:prstGeom prst="roundRect">
            <a:avLst/>
          </a:prstGeom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  <a:r>
              <a:rPr lang="en-US" dirty="0" err="1"/>
              <a:t>args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9557A79-3EC9-A872-13BD-340B1EDB758A}"/>
              </a:ext>
            </a:extLst>
          </p:cNvPr>
          <p:cNvSpPr/>
          <p:nvPr/>
        </p:nvSpPr>
        <p:spPr>
          <a:xfrm>
            <a:off x="6547766" y="5062283"/>
            <a:ext cx="4398264" cy="1161288"/>
          </a:xfrm>
          <a:prstGeom prst="roundRect">
            <a:avLst/>
          </a:prstGeom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**</a:t>
            </a:r>
            <a:r>
              <a:rPr lang="en-US" dirty="0" err="1"/>
              <a:t>kwargs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8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CCCDC-FB70-6D49-B251-C91D5171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A9FFC4-DEC4-E41E-FF21-21070D3A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9871D2-A84B-2E44-33DF-6E852B98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Դիրքային </a:t>
            </a:r>
            <a:r>
              <a:rPr lang="af-ZA" dirty="0">
                <a:solidFill>
                  <a:srgbClr val="FFCC00"/>
                </a:solidFill>
              </a:rPr>
              <a:t>(Positional)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669D1-171B-54B4-772B-F5D459E3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786B1F-44E5-C687-971E-6452C589D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5" y="2018806"/>
            <a:ext cx="9429120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greet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f"Hello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! You are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years old."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greet(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"John"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name = "John", age = 25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13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99B39-78A6-DE31-F762-48F445CAB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842E4A-666A-695B-F8CB-4375548C3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B25518-DF25-8B73-FEBC-CDBE5A00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>
                <a:solidFill>
                  <a:srgbClr val="FFCC00"/>
                </a:solidFill>
              </a:rPr>
              <a:t>Keyword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07076-D9C8-C33C-B584-DE174E9A7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A62C04-3677-9B3E-1F36-50DFB1085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00" y="2200177"/>
            <a:ext cx="10635989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greet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f"Hello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! You are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years old."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greet(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"John"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name = "John", age = 25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571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8562-BCCA-86DD-A287-724FCEE31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710AA3-54CA-DC37-2691-34B7A9575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AE3DE9-92A6-986E-E80B-3F110118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Միայն դիրքային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92C62-9263-5C7D-E6E8-8349425C1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EC47087-0EB5-B442-B210-5B0BAFCCE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00" y="2211937"/>
            <a:ext cx="9429120" cy="397031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greet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/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city):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f"Hello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! You are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years old."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f"City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: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greet(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"John"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city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"New York"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Սխալ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կիրառում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կհանգեցնի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error -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ի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greet(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"John"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city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"New York"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874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E0EC-9F08-BAF6-DAE1-C0182A48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A1BFC0-2C6B-6187-0DA6-C76D2FBB2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01DE3A-1088-082A-8528-2100025FE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>
                <a:solidFill>
                  <a:srgbClr val="FFCC00"/>
                </a:solidFill>
              </a:rPr>
              <a:t>Default </a:t>
            </a:r>
            <a:r>
              <a:rPr lang="hy-AM" dirty="0">
                <a:solidFill>
                  <a:srgbClr val="FFCC00"/>
                </a:solidFill>
              </a:rPr>
              <a:t>պարամետրեր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0B83D-4900-AE0F-0134-512D0EF31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38D2EB5-93DE-CC08-9044-42FB5802F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44750"/>
            <a:ext cx="11201913" cy="353943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greet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age=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):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f"Hello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! You are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age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years old."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կանչում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ենք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ֆունկցիան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փոխանցելով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hy-AM" altLang="en-US" sz="3200" b="0" i="0" u="none" strike="noStrike" cap="none" normalizeH="0" baseline="0" dirty="0">
              <a:ln>
                <a:noFill/>
              </a:ln>
              <a:solidFill>
                <a:srgbClr val="808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f-ZA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միաժամանակ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2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պարամետրերը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greet(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"John"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30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Այս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դեպքում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age = 25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ավտոմատ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կերպով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տրվող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արժեք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greet(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"Alice"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7CC43-46A8-D589-3E41-9FAA31C518B1}"/>
              </a:ext>
            </a:extLst>
          </p:cNvPr>
          <p:cNvSpPr/>
          <p:nvPr/>
        </p:nvSpPr>
        <p:spPr>
          <a:xfrm>
            <a:off x="3076255" y="5271710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Hello, John! You are 30 years old.</a:t>
            </a:r>
          </a:p>
          <a:p>
            <a:r>
              <a:rPr lang="en-US" dirty="0"/>
              <a:t>Hello, Alice! You are 25 years old.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55175A-1D49-C220-A16D-9479D907811E}"/>
              </a:ext>
            </a:extLst>
          </p:cNvPr>
          <p:cNvSpPr/>
          <p:nvPr/>
        </p:nvSpPr>
        <p:spPr>
          <a:xfrm>
            <a:off x="0" y="5431730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0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B05B-C66C-17C9-1A6D-729AB0EFC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767796-5EFD-88E5-FA01-689A48C15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DCF685-11BA-548A-6553-1DC74F44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Գլոբալ և լոկալ փոփոխականներ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23B37-BA37-9323-92D7-C80E31C06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6453A7-1F61-B93A-1E6D-8F4BA235C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229D7E-395D-57EB-1D20-CF1CCFA29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4" y="2203196"/>
            <a:ext cx="7008650" cy="397031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Գլոբալ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փոփոխական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my_function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x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Լոկալ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փոփոխական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x is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my_function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f"global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x is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B9B75A-608C-1C40-1E30-381325783CB9}"/>
              </a:ext>
            </a:extLst>
          </p:cNvPr>
          <p:cNvSpPr/>
          <p:nvPr/>
        </p:nvSpPr>
        <p:spPr>
          <a:xfrm>
            <a:off x="7762870" y="4939074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function x is 5</a:t>
            </a:r>
          </a:p>
          <a:p>
            <a:r>
              <a:rPr lang="en-US" dirty="0"/>
              <a:t>global x is 10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197F2D-7845-8CD1-2C00-FD0B7870C6A3}"/>
              </a:ext>
            </a:extLst>
          </p:cNvPr>
          <p:cNvSpPr/>
          <p:nvPr/>
        </p:nvSpPr>
        <p:spPr>
          <a:xfrm>
            <a:off x="7761932" y="3740405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5A73A-A71A-D290-BC10-6148C9DC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A48CDB-C3CF-BFCD-3C7D-D723CD49A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5EDC6-DC52-7585-3501-B985F82C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C00"/>
                </a:solidFill>
              </a:rPr>
              <a:t>global </a:t>
            </a:r>
            <a:r>
              <a:rPr lang="hy-AM" dirty="0">
                <a:solidFill>
                  <a:srgbClr val="FFCC00"/>
                </a:solidFill>
              </a:rPr>
              <a:t>բանալի բառ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A55C5-98D6-A60B-B035-07F4D4F0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15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5CACB2-FFDA-5BE5-6B46-9BDB27C2D5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35" y="3030929"/>
            <a:ext cx="11860939" cy="353943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Գլոբալ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փոփոխական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my_function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():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global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Հասանելիություն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ենք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ստանում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գլոբալ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x-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ին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20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փոփոխում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ենք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գլոբալ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փոփոխականը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"Inside function (global x modified):"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my_function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"Outside function (global x):"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x) 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1ACAB-61D5-6EC7-58C2-10F0FFCA79F9}"/>
              </a:ext>
            </a:extLst>
          </p:cNvPr>
          <p:cNvSpPr/>
          <p:nvPr/>
        </p:nvSpPr>
        <p:spPr>
          <a:xfrm>
            <a:off x="7354320" y="1461242"/>
            <a:ext cx="4297680" cy="1234440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Inside function (global x modified): 20</a:t>
            </a:r>
          </a:p>
          <a:p>
            <a:r>
              <a:rPr lang="en-US" dirty="0"/>
              <a:t>Outside function (global x): 20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2156F7-243F-FE4C-ECD1-7D252ECA05D2}"/>
              </a:ext>
            </a:extLst>
          </p:cNvPr>
          <p:cNvSpPr/>
          <p:nvPr/>
        </p:nvSpPr>
        <p:spPr>
          <a:xfrm>
            <a:off x="9152640" y="102342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05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768E-0A14-B8B4-E667-4D740D78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CE0A23-8D50-CA4B-2529-2A53310C5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FF1B5E-1FC2-2163-3578-E5707A62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>
                <a:solidFill>
                  <a:srgbClr val="FFCC00"/>
                </a:solidFill>
              </a:rPr>
              <a:t>globals() </a:t>
            </a:r>
            <a:r>
              <a:rPr lang="hy-AM" dirty="0">
                <a:solidFill>
                  <a:srgbClr val="FFCC00"/>
                </a:solidFill>
              </a:rPr>
              <a:t>Ֆունկցիա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67B33-C4B0-FDF9-61CB-40EB8FE6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0B5B7-22CE-36E9-0876-B7E30F3D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511" y="1305454"/>
            <a:ext cx="6932956" cy="3779837"/>
          </a:xfrm>
        </p:spPr>
        <p:txBody>
          <a:bodyPr/>
          <a:lstStyle/>
          <a:p>
            <a:r>
              <a:rPr lang="af-ZA" dirty="0"/>
              <a:t>Globals() </a:t>
            </a:r>
            <a:r>
              <a:rPr lang="hy-AM" dirty="0"/>
              <a:t>Ֆունկցիան վերադարձնում է բառարան որը պարունակում է բոլոր գլոբալ փոփոխականները և ֆունկցիանրը իրենց արժեքների հետ միասին և գործում է բոլոր հրամանները կապված բառարանի հետ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C68FCFD-17D1-7483-0936-614B19864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00" y="3675384"/>
            <a:ext cx="3663375" cy="286232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20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my_function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"Hello!"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globals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D74724-D9C4-480A-BDCD-835323EF7CB5}"/>
              </a:ext>
            </a:extLst>
          </p:cNvPr>
          <p:cNvSpPr/>
          <p:nvPr/>
        </p:nvSpPr>
        <p:spPr>
          <a:xfrm>
            <a:off x="7278393" y="1351892"/>
            <a:ext cx="4837680" cy="5201087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{</a:t>
            </a:r>
          </a:p>
          <a:p>
            <a:r>
              <a:rPr lang="en-US" dirty="0"/>
              <a:t>    '__name__': '__main__',</a:t>
            </a:r>
          </a:p>
          <a:p>
            <a:r>
              <a:rPr lang="en-US" dirty="0"/>
              <a:t>    '__doc__': None,</a:t>
            </a:r>
          </a:p>
          <a:p>
            <a:r>
              <a:rPr lang="en-US" dirty="0"/>
              <a:t>    '__package__': None,</a:t>
            </a:r>
          </a:p>
          <a:p>
            <a:r>
              <a:rPr lang="en-US" dirty="0"/>
              <a:t>    '__loader__': &lt;class '_</a:t>
            </a:r>
            <a:r>
              <a:rPr lang="en-US" dirty="0" err="1"/>
              <a:t>frozen_importlib.BuiltinImporter</a:t>
            </a:r>
            <a:r>
              <a:rPr lang="en-US" dirty="0"/>
              <a:t>'&gt;,</a:t>
            </a:r>
          </a:p>
          <a:p>
            <a:r>
              <a:rPr lang="en-US" dirty="0"/>
              <a:t>    '__spec__': None,</a:t>
            </a:r>
          </a:p>
          <a:p>
            <a:r>
              <a:rPr lang="en-US" dirty="0"/>
              <a:t>    '__file__': '/path/to/script.py',</a:t>
            </a:r>
          </a:p>
          <a:p>
            <a:r>
              <a:rPr lang="en-US" dirty="0"/>
              <a:t>    '__cached__': None,</a:t>
            </a:r>
          </a:p>
          <a:p>
            <a:r>
              <a:rPr lang="en-US" dirty="0"/>
              <a:t>    'a': 10,</a:t>
            </a:r>
          </a:p>
          <a:p>
            <a:r>
              <a:rPr lang="en-US" dirty="0"/>
              <a:t>    'b': 20,</a:t>
            </a:r>
          </a:p>
          <a:p>
            <a:r>
              <a:rPr lang="en-US" dirty="0"/>
              <a:t>    '</a:t>
            </a:r>
            <a:r>
              <a:rPr lang="en-US" dirty="0" err="1"/>
              <a:t>my_function</a:t>
            </a:r>
            <a:r>
              <a:rPr lang="en-US" dirty="0"/>
              <a:t>': &lt;function </a:t>
            </a:r>
            <a:r>
              <a:rPr lang="en-US" dirty="0" err="1"/>
              <a:t>my_function</a:t>
            </a:r>
            <a:r>
              <a:rPr lang="en-US" dirty="0"/>
              <a:t> at 0x...&gt;,</a:t>
            </a:r>
          </a:p>
          <a:p>
            <a:r>
              <a:rPr lang="en-US" dirty="0"/>
              <a:t>    ...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83790B-1CEC-9CD8-2051-1281017A62EE}"/>
              </a:ext>
            </a:extLst>
          </p:cNvPr>
          <p:cNvSpPr/>
          <p:nvPr/>
        </p:nvSpPr>
        <p:spPr>
          <a:xfrm>
            <a:off x="7278393" y="4148804"/>
            <a:ext cx="4567190" cy="1357304"/>
          </a:xfrm>
          <a:prstGeom prst="roundRect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8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E7541-DEA0-ADF5-48A0-BD0824A7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045B48-D376-0F3A-FF97-5972C328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A6DBD8-BF09-5A17-8827-667B28B6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>
                <a:solidFill>
                  <a:srgbClr val="FFCC00"/>
                </a:solidFill>
              </a:rPr>
              <a:t>globals() </a:t>
            </a:r>
            <a:r>
              <a:rPr lang="hy-AM" dirty="0">
                <a:solidFill>
                  <a:srgbClr val="FFCC00"/>
                </a:solidFill>
              </a:rPr>
              <a:t>Ֆունկցիա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DA092-2A07-3E5C-F4A5-511B10E7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17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325B64F-C293-F253-01E0-CB13CFD4B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22" y="2523342"/>
            <a:ext cx="9231566" cy="397031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Գլոբալ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Փոփոխական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my_function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լոկալ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փոփոխական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"Inside function (local x):"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"Inside function (global x 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globals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()[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'x'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my_function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"Outside function (global x):"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1CFD48-A1DF-835F-D1B7-CA30716C76A6}"/>
              </a:ext>
            </a:extLst>
          </p:cNvPr>
          <p:cNvSpPr/>
          <p:nvPr/>
        </p:nvSpPr>
        <p:spPr>
          <a:xfrm>
            <a:off x="7354320" y="994089"/>
            <a:ext cx="4297680" cy="1529253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Inside function (local x): 5</a:t>
            </a:r>
          </a:p>
          <a:p>
            <a:r>
              <a:rPr lang="en-US" dirty="0"/>
              <a:t>Inside function (global x  10</a:t>
            </a:r>
          </a:p>
          <a:p>
            <a:r>
              <a:rPr lang="en-US" dirty="0"/>
              <a:t>Outside function (global x): 10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C98537-3C6C-32A5-D902-F966F09C3ED1}"/>
              </a:ext>
            </a:extLst>
          </p:cNvPr>
          <p:cNvSpPr/>
          <p:nvPr/>
        </p:nvSpPr>
        <p:spPr>
          <a:xfrm>
            <a:off x="9152640" y="31183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65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F92C2-63E0-CD45-D6C4-C70E64348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02A9BA-F1E6-3D9A-25CC-1BF81FEDF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98773-FD2F-BF20-DAE6-732DA6E8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18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E57205-8087-64EB-022A-81B3FFF56E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8356" y="612844"/>
            <a:ext cx="8579015" cy="563231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 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my_function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  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global_x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globals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()[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'x'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 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global_x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+=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global_x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local_x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global_x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my_function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"Local x inside function:"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local_x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"Global x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afther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function:"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global_x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"Global x outside function:"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x)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8FD98-D36A-7D7F-AC57-EC1386DAC630}"/>
              </a:ext>
            </a:extLst>
          </p:cNvPr>
          <p:cNvSpPr/>
          <p:nvPr/>
        </p:nvSpPr>
        <p:spPr>
          <a:xfrm>
            <a:off x="7776350" y="1286189"/>
            <a:ext cx="4297680" cy="1529253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Local x inside function: 5</a:t>
            </a:r>
          </a:p>
          <a:p>
            <a:r>
              <a:rPr lang="en-US" dirty="0"/>
              <a:t>Global x </a:t>
            </a:r>
            <a:r>
              <a:rPr lang="en-US" dirty="0" err="1"/>
              <a:t>afther</a:t>
            </a:r>
            <a:r>
              <a:rPr lang="en-US" dirty="0"/>
              <a:t> function: 20</a:t>
            </a:r>
          </a:p>
          <a:p>
            <a:r>
              <a:rPr lang="en-US" dirty="0"/>
              <a:t>Global x outside function: 10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C2CBDB-9D64-72F7-60AC-A994C1BF0544}"/>
              </a:ext>
            </a:extLst>
          </p:cNvPr>
          <p:cNvSpPr/>
          <p:nvPr/>
        </p:nvSpPr>
        <p:spPr>
          <a:xfrm>
            <a:off x="9574670" y="222102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7A6F5C-B953-320F-F8EF-76087C818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642F7E-E0EF-DF0B-3902-5E6C727B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248" y="3213103"/>
            <a:ext cx="7683500" cy="1325563"/>
          </a:xfrm>
        </p:spPr>
        <p:txBody>
          <a:bodyPr>
            <a:normAutofit/>
          </a:bodyPr>
          <a:lstStyle/>
          <a:p>
            <a:r>
              <a:rPr lang="hy-AM" sz="6000" b="1" dirty="0">
                <a:solidFill>
                  <a:srgbClr val="FFCC00"/>
                </a:solidFill>
              </a:rPr>
              <a:t>Շնորհակալություն</a:t>
            </a:r>
            <a:endParaRPr lang="en-US" sz="6000" b="1" dirty="0">
              <a:solidFill>
                <a:srgbClr val="FFCC00"/>
              </a:solidFill>
            </a:endParaRPr>
          </a:p>
        </p:txBody>
      </p:sp>
      <p:pic>
        <p:nvPicPr>
          <p:cNvPr id="6" name="image1.png" descr="A logo with colorful lines&#10;&#10;AI-generated content may be incorrect.">
            <a:extLst>
              <a:ext uri="{FF2B5EF4-FFF2-40B4-BE49-F238E27FC236}">
                <a16:creationId xmlns:a16="http://schemas.microsoft.com/office/drawing/2014/main" id="{BFF5A66F-9A71-49E2-8953-E1BCAF1319E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483729" y="631827"/>
            <a:ext cx="3224539" cy="1949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71142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511C5-DE63-F69E-AFE8-820ECC52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2B843F-9CCD-7C1B-57BF-0F66451A8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7C035B-5CFC-5D50-8982-05787E9A0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Քննարկում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91321-4D3B-2DCF-9973-11C80459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20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42A05F-08AF-676F-B0B6-6BDA742C8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F095A3-2DF1-BA67-47A7-917A141FB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00" y="2590692"/>
            <a:ext cx="7121501" cy="286232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x = </a:t>
            </a:r>
            <a:r>
              <a:rPr lang="en-US" altLang="en-US" sz="3600">
                <a:solidFill>
                  <a:srgbClr val="6897BB"/>
                </a:solidFill>
                <a:latin typeface="JetBrains Mono"/>
              </a:rPr>
              <a:t>10</a:t>
            </a:r>
            <a:br>
              <a:rPr lang="en-US" altLang="en-US" sz="3600">
                <a:solidFill>
                  <a:srgbClr val="6897BB"/>
                </a:solidFill>
                <a:latin typeface="JetBrains Mono"/>
              </a:rPr>
            </a:br>
            <a:r>
              <a:rPr lang="en-US" altLang="en-US" sz="3600">
                <a:solidFill>
                  <a:srgbClr val="8888C6"/>
                </a:solidFill>
                <a:latin typeface="JetBrains Mono"/>
              </a:rPr>
              <a:t>print</a:t>
            </a: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(</a:t>
            </a:r>
            <a:r>
              <a:rPr lang="en-US" altLang="en-US" sz="3600">
                <a:solidFill>
                  <a:srgbClr val="6A8759"/>
                </a:solidFill>
                <a:latin typeface="JetBrains Mono"/>
              </a:rPr>
              <a:t>f"Before deletion: </a:t>
            </a:r>
            <a:r>
              <a:rPr lang="en-US" altLang="en-US" sz="3600">
                <a:solidFill>
                  <a:srgbClr val="CC7832"/>
                </a:solidFill>
                <a:latin typeface="JetBrains Mono"/>
              </a:rPr>
              <a:t>{</a:t>
            </a:r>
            <a:r>
              <a:rPr lang="en-US" altLang="en-US" sz="3600">
                <a:solidFill>
                  <a:srgbClr val="8888C6"/>
                </a:solidFill>
                <a:latin typeface="JetBrains Mono"/>
              </a:rPr>
              <a:t>globals</a:t>
            </a: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()</a:t>
            </a:r>
            <a:r>
              <a:rPr lang="en-US" altLang="en-US" sz="3600">
                <a:solidFill>
                  <a:srgbClr val="CC7832"/>
                </a:solidFill>
                <a:latin typeface="JetBrains Mono"/>
              </a:rPr>
              <a:t>}</a:t>
            </a:r>
            <a:r>
              <a:rPr lang="en-US" altLang="en-US" sz="3600">
                <a:solidFill>
                  <a:srgbClr val="6A8759"/>
                </a:solidFill>
                <a:latin typeface="JetBrains Mono"/>
              </a:rPr>
              <a:t>"</a:t>
            </a: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)</a:t>
            </a:r>
            <a:br>
              <a:rPr lang="en-US" altLang="en-US" sz="3600">
                <a:solidFill>
                  <a:srgbClr val="A9B7C6"/>
                </a:solidFill>
                <a:latin typeface="JetBrains Mono"/>
              </a:rPr>
            </a:br>
            <a:r>
              <a:rPr lang="en-US" altLang="en-US" sz="3600">
                <a:solidFill>
                  <a:srgbClr val="CC7832"/>
                </a:solidFill>
                <a:latin typeface="JetBrains Mono"/>
              </a:rPr>
              <a:t>del </a:t>
            </a:r>
            <a:r>
              <a:rPr lang="en-US" altLang="en-US" sz="3600">
                <a:solidFill>
                  <a:srgbClr val="8888C6"/>
                </a:solidFill>
                <a:latin typeface="JetBrains Mono"/>
              </a:rPr>
              <a:t>globals</a:t>
            </a: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()[</a:t>
            </a:r>
            <a:r>
              <a:rPr lang="en-US" altLang="en-US" sz="3600">
                <a:solidFill>
                  <a:srgbClr val="6A8759"/>
                </a:solidFill>
                <a:latin typeface="JetBrains Mono"/>
              </a:rPr>
              <a:t>'x'</a:t>
            </a: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]</a:t>
            </a:r>
            <a:br>
              <a:rPr lang="en-US" altLang="en-US" sz="3600">
                <a:solidFill>
                  <a:srgbClr val="A9B7C6"/>
                </a:solidFill>
                <a:latin typeface="JetBrains Mono"/>
              </a:rPr>
            </a:br>
            <a:r>
              <a:rPr lang="en-US" altLang="en-US" sz="3600">
                <a:solidFill>
                  <a:srgbClr val="8888C6"/>
                </a:solidFill>
                <a:latin typeface="JetBrains Mono"/>
              </a:rPr>
              <a:t>print</a:t>
            </a: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(</a:t>
            </a:r>
            <a:r>
              <a:rPr lang="en-US" altLang="en-US" sz="3600">
                <a:solidFill>
                  <a:srgbClr val="6A8759"/>
                </a:solidFill>
                <a:latin typeface="JetBrains Mono"/>
              </a:rPr>
              <a:t>f"After deletion: </a:t>
            </a:r>
            <a:r>
              <a:rPr lang="en-US" altLang="en-US" sz="3600">
                <a:solidFill>
                  <a:srgbClr val="CC7832"/>
                </a:solidFill>
                <a:latin typeface="JetBrains Mono"/>
              </a:rPr>
              <a:t>{</a:t>
            </a:r>
            <a:r>
              <a:rPr lang="en-US" altLang="en-US" sz="3600">
                <a:solidFill>
                  <a:srgbClr val="8888C6"/>
                </a:solidFill>
                <a:latin typeface="JetBrains Mono"/>
              </a:rPr>
              <a:t>globals</a:t>
            </a: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()</a:t>
            </a:r>
            <a:r>
              <a:rPr lang="en-US" altLang="en-US" sz="3600">
                <a:solidFill>
                  <a:srgbClr val="CC7832"/>
                </a:solidFill>
                <a:latin typeface="JetBrains Mono"/>
              </a:rPr>
              <a:t>}</a:t>
            </a:r>
            <a:r>
              <a:rPr lang="en-US" altLang="en-US" sz="3600">
                <a:solidFill>
                  <a:srgbClr val="6A8759"/>
                </a:solidFill>
                <a:latin typeface="JetBrains Mono"/>
              </a:rPr>
              <a:t>"</a:t>
            </a: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)</a:t>
            </a:r>
            <a:br>
              <a:rPr lang="en-US" altLang="en-US" sz="3600">
                <a:solidFill>
                  <a:srgbClr val="A9B7C6"/>
                </a:solidFill>
                <a:latin typeface="JetBrains Mono"/>
              </a:rPr>
            </a:br>
            <a:r>
              <a:rPr lang="en-US" altLang="en-US" sz="3600">
                <a:solidFill>
                  <a:srgbClr val="8888C6"/>
                </a:solidFill>
                <a:latin typeface="JetBrains Mono"/>
              </a:rPr>
              <a:t>print</a:t>
            </a:r>
            <a:r>
              <a:rPr lang="en-US" altLang="en-US" sz="3600">
                <a:solidFill>
                  <a:srgbClr val="A9B7C6"/>
                </a:solidFill>
                <a:latin typeface="JetBrains Mono"/>
              </a:rPr>
              <a:t>(x)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647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D005-791A-3C9B-1051-44F57D9DF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01AD77-D417-B158-6654-1A2A6EB79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790B4B-B536-FDF1-80D8-26698089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Քննարկում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BD83C-927A-ECC2-4F1B-3160D465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21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4DD7CB-D091-96B3-CCA5-7FBA19B68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9EE4E5-B078-A628-455C-EA044D3B9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89" y="1989799"/>
            <a:ext cx="4391972" cy="120032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globals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().items())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97D8E6-EB12-6C32-6EC4-D292B1A8B513}"/>
              </a:ext>
            </a:extLst>
          </p:cNvPr>
          <p:cNvSpPr/>
          <p:nvPr/>
        </p:nvSpPr>
        <p:spPr>
          <a:xfrm>
            <a:off x="4931972" y="208503"/>
            <a:ext cx="7069951" cy="6440993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{</a:t>
            </a:r>
          </a:p>
          <a:p>
            <a:r>
              <a:rPr lang="en-US" dirty="0"/>
              <a:t>    '__name__': '__main__',</a:t>
            </a:r>
          </a:p>
          <a:p>
            <a:r>
              <a:rPr lang="en-US" dirty="0"/>
              <a:t>    '__doc__': None,</a:t>
            </a:r>
          </a:p>
          <a:p>
            <a:r>
              <a:rPr lang="en-US" dirty="0"/>
              <a:t>    '__package__': None,</a:t>
            </a:r>
          </a:p>
          <a:p>
            <a:r>
              <a:rPr lang="en-US" dirty="0"/>
              <a:t>    '__loader__': {</a:t>
            </a:r>
          </a:p>
          <a:p>
            <a:r>
              <a:rPr lang="en-US" dirty="0"/>
              <a:t>        'class': '_</a:t>
            </a:r>
            <a:r>
              <a:rPr lang="en-US" dirty="0" err="1"/>
              <a:t>frozen_importlib_external.SourceFileLoader</a:t>
            </a:r>
            <a:r>
              <a:rPr lang="en-US" dirty="0"/>
              <a:t>',</a:t>
            </a:r>
          </a:p>
          <a:p>
            <a:r>
              <a:rPr lang="en-US" dirty="0"/>
              <a:t>        '</a:t>
            </a:r>
            <a:r>
              <a:rPr lang="en-US" dirty="0" err="1"/>
              <a:t>memory_address</a:t>
            </a:r>
            <a:r>
              <a:rPr lang="en-US" dirty="0"/>
              <a:t>': '0x00000202EAAC6CD0'</a:t>
            </a:r>
          </a:p>
          <a:p>
            <a:r>
              <a:rPr lang="en-US" dirty="0"/>
              <a:t>    },</a:t>
            </a:r>
          </a:p>
          <a:p>
            <a:r>
              <a:rPr lang="en-US" dirty="0"/>
              <a:t>    '__spec__': None,</a:t>
            </a:r>
          </a:p>
          <a:p>
            <a:r>
              <a:rPr lang="en-US" dirty="0"/>
              <a:t>    '__annotations__': {},</a:t>
            </a:r>
          </a:p>
          <a:p>
            <a:r>
              <a:rPr lang="en-US" dirty="0"/>
              <a:t>    '__</a:t>
            </a:r>
            <a:r>
              <a:rPr lang="en-US" dirty="0" err="1"/>
              <a:t>builtins</a:t>
            </a:r>
            <a:r>
              <a:rPr lang="en-US" dirty="0"/>
              <a:t>__': {</a:t>
            </a:r>
          </a:p>
          <a:p>
            <a:r>
              <a:rPr lang="en-US" dirty="0"/>
              <a:t>        'module': '</a:t>
            </a:r>
            <a:r>
              <a:rPr lang="en-US" dirty="0" err="1"/>
              <a:t>builtins</a:t>
            </a:r>
            <a:r>
              <a:rPr lang="en-US" dirty="0"/>
              <a:t>'</a:t>
            </a:r>
          </a:p>
          <a:p>
            <a:r>
              <a:rPr lang="en-US" dirty="0"/>
              <a:t>    },</a:t>
            </a:r>
          </a:p>
          <a:p>
            <a:r>
              <a:rPr lang="en-US" dirty="0"/>
              <a:t>    '__file__': 'C:\\Users\\Gor Hovsepyan\\</a:t>
            </a:r>
            <a:r>
              <a:rPr lang="en-US" dirty="0" err="1"/>
              <a:t>PycharmProjects</a:t>
            </a:r>
            <a:r>
              <a:rPr lang="en-US" dirty="0"/>
              <a:t>\\pythonProject7\\main.py',</a:t>
            </a:r>
          </a:p>
          <a:p>
            <a:r>
              <a:rPr lang="en-US" dirty="0"/>
              <a:t>    '__cached__': None,</a:t>
            </a:r>
          </a:p>
          <a:p>
            <a:r>
              <a:rPr lang="en-US" dirty="0"/>
              <a:t>    'x': 10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DAD410-FC5D-0838-5B0E-1C2255868AF6}"/>
              </a:ext>
            </a:extLst>
          </p:cNvPr>
          <p:cNvSpPr/>
          <p:nvPr/>
        </p:nvSpPr>
        <p:spPr>
          <a:xfrm>
            <a:off x="1968068" y="5718550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8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05D59-6D7E-C69F-0524-48153695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13AE65-B197-104D-03F0-653F83A6D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E38FB7-CC05-B672-D0D9-E77F1FEC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Քննարկում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6F796-A16C-BC61-4340-EBDA0484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22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745648-A8D1-2E02-02D4-F70AED90A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7DD859-2213-F99F-3746-C1B568413775}"/>
              </a:ext>
            </a:extLst>
          </p:cNvPr>
          <p:cNvSpPr/>
          <p:nvPr/>
        </p:nvSpPr>
        <p:spPr>
          <a:xfrm>
            <a:off x="4931972" y="208503"/>
            <a:ext cx="7069951" cy="6440993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dict_values</a:t>
            </a:r>
            <a:r>
              <a:rPr lang="en-US" dirty="0"/>
              <a:t>([</a:t>
            </a:r>
          </a:p>
          <a:p>
            <a:r>
              <a:rPr lang="en-US" dirty="0"/>
              <a:t>'__main__’, </a:t>
            </a:r>
          </a:p>
          <a:p>
            <a:r>
              <a:rPr lang="en-US" dirty="0"/>
              <a:t>None, </a:t>
            </a:r>
          </a:p>
          <a:p>
            <a:r>
              <a:rPr lang="en-US" dirty="0"/>
              <a:t>None, </a:t>
            </a:r>
          </a:p>
          <a:p>
            <a:r>
              <a:rPr lang="en-US" dirty="0"/>
              <a:t>&lt;_</a:t>
            </a:r>
            <a:r>
              <a:rPr lang="en-US" dirty="0" err="1"/>
              <a:t>frozen_importlib_external.SourceFileLoader</a:t>
            </a:r>
            <a:r>
              <a:rPr lang="en-US" dirty="0"/>
              <a:t> object at 0x00000229AC9D9E80&gt;, </a:t>
            </a:r>
          </a:p>
          <a:p>
            <a:r>
              <a:rPr lang="en-US" dirty="0"/>
              <a:t>None, </a:t>
            </a:r>
          </a:p>
          <a:p>
            <a:r>
              <a:rPr lang="en-US" dirty="0"/>
              <a:t>{}, </a:t>
            </a:r>
          </a:p>
          <a:p>
            <a:r>
              <a:rPr lang="en-US" dirty="0"/>
              <a:t>&lt;module '</a:t>
            </a:r>
            <a:r>
              <a:rPr lang="en-US" dirty="0" err="1"/>
              <a:t>builtins</a:t>
            </a:r>
            <a:r>
              <a:rPr lang="en-US" dirty="0"/>
              <a:t>' (built-in)&gt;, </a:t>
            </a:r>
          </a:p>
          <a:p>
            <a:r>
              <a:rPr lang="en-US" dirty="0"/>
              <a:t>'C:\\Users\\Gor Hovsepyan\\</a:t>
            </a:r>
            <a:r>
              <a:rPr lang="en-US" dirty="0" err="1"/>
              <a:t>PycharmProjects</a:t>
            </a:r>
            <a:r>
              <a:rPr lang="en-US" dirty="0"/>
              <a:t>\\pythonProject9\\main.py’, </a:t>
            </a:r>
          </a:p>
          <a:p>
            <a:r>
              <a:rPr lang="en-US" dirty="0"/>
              <a:t>None, </a:t>
            </a:r>
          </a:p>
          <a:p>
            <a:r>
              <a:rPr lang="en-US" dirty="0"/>
              <a:t>10])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4BC787-2513-4C73-857B-FA75689CC467}"/>
              </a:ext>
            </a:extLst>
          </p:cNvPr>
          <p:cNvSpPr/>
          <p:nvPr/>
        </p:nvSpPr>
        <p:spPr>
          <a:xfrm>
            <a:off x="1968068" y="5718550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23792A7-1A09-E6A6-E6F4-4B7A8F863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77" y="1656822"/>
            <a:ext cx="4521879" cy="120032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globals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().values())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06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C026-E9BD-C0FA-3AEA-3D0CEF49F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3DA6CF-A32D-8121-F48E-183D32DE6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F5DBA4-7E38-312C-84EE-4DDFC6E6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Քննարկում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24CDF-1ECD-9C06-1035-9257FDF1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23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6A5431-593D-B183-9560-B0FEBD363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5669A3-F1A2-9592-08CA-63817533E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44" y="1444750"/>
            <a:ext cx="5359481" cy="507831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outer_function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(x):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inner_function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(y):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y *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result =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inner_function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(x)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result+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output =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outer_function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(output)  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inner_function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478F44-AA32-0B45-DC8F-85CD34EE159E}"/>
              </a:ext>
            </a:extLst>
          </p:cNvPr>
          <p:cNvSpPr/>
          <p:nvPr/>
        </p:nvSpPr>
        <p:spPr>
          <a:xfrm>
            <a:off x="6397117" y="4144966"/>
            <a:ext cx="5511046" cy="2270928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12</a:t>
            </a:r>
          </a:p>
          <a:p>
            <a:r>
              <a:rPr lang="en-US" dirty="0"/>
              <a:t>Traceback (most recent call last):</a:t>
            </a:r>
          </a:p>
          <a:p>
            <a:r>
              <a:rPr lang="en-US" dirty="0"/>
              <a:t>  File "C:\Users\Gor Hovsepyan\</a:t>
            </a:r>
            <a:r>
              <a:rPr lang="en-US" dirty="0" err="1"/>
              <a:t>PycharmProjects</a:t>
            </a:r>
            <a:r>
              <a:rPr lang="en-US" dirty="0"/>
              <a:t>\pythonProject7\main.py", line 9, in &lt;module&gt;</a:t>
            </a:r>
          </a:p>
          <a:p>
            <a:r>
              <a:rPr lang="en-US" dirty="0"/>
              <a:t>    print(</a:t>
            </a:r>
            <a:r>
              <a:rPr lang="en-US" dirty="0" err="1"/>
              <a:t>inner_function</a:t>
            </a:r>
            <a:r>
              <a:rPr lang="en-US" dirty="0"/>
              <a:t>(5))</a:t>
            </a:r>
          </a:p>
          <a:p>
            <a:r>
              <a:rPr lang="en-US" dirty="0" err="1"/>
              <a:t>NameError</a:t>
            </a:r>
            <a:r>
              <a:rPr lang="en-US" dirty="0"/>
              <a:t>: name '</a:t>
            </a:r>
            <a:r>
              <a:rPr lang="en-US" dirty="0" err="1"/>
              <a:t>inner_function</a:t>
            </a:r>
            <a:r>
              <a:rPr lang="en-US" dirty="0"/>
              <a:t>' is not defined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83058B-02CB-184D-E8EA-698C898E68CF}"/>
              </a:ext>
            </a:extLst>
          </p:cNvPr>
          <p:cNvSpPr/>
          <p:nvPr/>
        </p:nvSpPr>
        <p:spPr>
          <a:xfrm>
            <a:off x="6397117" y="2879727"/>
            <a:ext cx="24993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19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EBD2-D9A9-7DB5-BD39-4347F759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1ED8FC-5825-FC0D-8577-FC7AAA70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3ECE52-57C8-4227-06EE-5CFA04CA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Քննարկում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5F11F-9591-8E61-6448-4339F8BD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24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9204D7-1994-1D9E-FEB4-EAA7573BE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0EECFF-3338-4BBA-27CD-EFCF15ECF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519" y="407987"/>
            <a:ext cx="5359481" cy="563231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outer_function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(x):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inner_function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(y):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globals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y *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result =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inner_function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(x)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result+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globals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output =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outer_function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(output)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inner_function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81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73029-D95B-73BE-4623-5CFA41E5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F316E7-697D-CAB8-B707-11CAA073C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4800BE-D085-7FEB-1BA1-6FBDECC1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Քննարկում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9DCD0-2C2B-44AB-5522-89855B91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6A7BC8-2AEF-8517-6381-7D4C8DF4B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00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3196</TotalTime>
  <Words>1509</Words>
  <Application>Microsoft Office PowerPoint</Application>
  <PresentationFormat>Widescreen</PresentationFormat>
  <Paragraphs>190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Courier New</vt:lpstr>
      <vt:lpstr>JetBrains Mono</vt:lpstr>
      <vt:lpstr>Office Theme</vt:lpstr>
      <vt:lpstr>Ֆունկցիաներ</vt:lpstr>
      <vt:lpstr> Ֆունկցիաների դերը</vt:lpstr>
      <vt:lpstr>Ֆունկցիայի կառուցվածք</vt:lpstr>
      <vt:lpstr>Ֆունկցիաների տեսակները ըստ արժեք ընդունելու և վերադարձնելու</vt:lpstr>
      <vt:lpstr>Ֆունկցիաների օրինակներ</vt:lpstr>
      <vt:lpstr>Ֆունկցիաների օրինակներ</vt:lpstr>
      <vt:lpstr>Ֆունկցիայի կանչը</vt:lpstr>
      <vt:lpstr>Ֆունկցիայի կանչը</vt:lpstr>
      <vt:lpstr>Մուտքային պարամետրեր</vt:lpstr>
      <vt:lpstr>Դիրքային (Positional)</vt:lpstr>
      <vt:lpstr>Keyword</vt:lpstr>
      <vt:lpstr>Միայն դիրքային</vt:lpstr>
      <vt:lpstr>Default պարամետրեր</vt:lpstr>
      <vt:lpstr>Գլոբալ և լոկալ փոփոխականներ</vt:lpstr>
      <vt:lpstr>global բանալի բառ</vt:lpstr>
      <vt:lpstr>globals() Ֆունկցիա</vt:lpstr>
      <vt:lpstr>globals() Ֆունկցիա</vt:lpstr>
      <vt:lpstr>PowerPoint Presentation</vt:lpstr>
      <vt:lpstr>Շնորհակալություն</vt:lpstr>
      <vt:lpstr>Քննարկում</vt:lpstr>
      <vt:lpstr>Քննարկում</vt:lpstr>
      <vt:lpstr>Քննարկում</vt:lpstr>
      <vt:lpstr>Քննարկում</vt:lpstr>
      <vt:lpstr>Քննարկում</vt:lpstr>
      <vt:lpstr>Քննարկում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Հովսեփյան Գոռ Արտակի</dc:creator>
  <cp:lastModifiedBy>Հովսեփյան Գոռ Արտակի</cp:lastModifiedBy>
  <cp:revision>6</cp:revision>
  <dcterms:created xsi:type="dcterms:W3CDTF">2025-07-15T21:00:09Z</dcterms:created>
  <dcterms:modified xsi:type="dcterms:W3CDTF">2025-11-13T14:53:41Z</dcterms:modified>
</cp:coreProperties>
</file>