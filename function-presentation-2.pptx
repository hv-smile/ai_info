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3" r:id="rId3"/>
    <p:sldId id="274" r:id="rId4"/>
    <p:sldId id="275" r:id="rId5"/>
    <p:sldId id="276" r:id="rId6"/>
    <p:sldId id="277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E6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7" autoAdjust="0"/>
    <p:restoredTop sz="94660"/>
  </p:normalViewPr>
  <p:slideViewPr>
    <p:cSldViewPr snapToGrid="0">
      <p:cViewPr>
        <p:scale>
          <a:sx n="73" d="100"/>
          <a:sy n="73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CD2372-EFF1-5866-F17E-00972449BE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32CD2-48F1-53B0-ED68-030F49BB9E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D14F8-E1D7-453D-ACB0-9704FB024C5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2AB0C-A644-2728-A09B-45EEC1E7FE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B69904-057A-C860-59E9-C1ECEB6D3EB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58394-31F5-4658-B8B3-5A24CA541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88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EA46F-B858-4ACA-88CD-0CF4E2DA8EE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66DD48-2B42-4F29-AD86-94FB88F938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78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FB15F-E71C-E089-A65F-917C9F01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4C4BA-DBDD-1B29-5FC3-72D54422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21544-CE1F-183A-3EFD-AF6C1B45C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C289A-A720-487E-B2C6-E9612DAAE09D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46735-6802-6DDB-1C59-DBA6FD33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7BE66-25FF-3EC2-257E-E25133F6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6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3CF1-9001-3E55-DB40-036DC945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FC408-4AFF-E9A4-DC3B-F1317045A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BA60F-B2D1-4A6F-9B0B-A708AA09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65EE-B4EE-441D-A344-1553E5AEEBAE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EA2E1-4B0F-0C42-CB98-F8F5B5C83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DA61A-9C1D-3A02-8CF6-8952400B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7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B67A-3993-6EBC-6CE9-62468485C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61F15-680E-863B-254A-3A144A0BC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5E4FC-A712-ED9A-9FE1-68E5115B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3ACD6-C1C2-4539-BDB7-BD12A2BFE2B7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F12B7-5D2E-AFB2-C729-7DB3FB6A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151FB-6F29-66E8-3B0E-9A6CFAF73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61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4096-11B8-7B17-7FF2-806C5ABE6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49989-B442-A1B8-20DB-19C9AAEA3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CA0614-FF22-8EAF-440A-8E475DEC8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E9D38-12E5-E85B-1013-AF29FDE7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252DE-58EE-4F30-AA2B-B70D7526001D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8CE64-1319-C198-D5B7-9E296991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4C3B82-9EF4-453E-30D2-6704F32CF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6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AC48-1DA5-76BE-B547-9A27A7CEF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43083-4717-79B3-F252-B431677DF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34ADC-6A12-64AE-6606-000F3067A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92C188-FB39-BC5F-D959-45812E337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B3BAB-B4CA-31DA-96DE-0DA599BE4D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A53CF-8123-2DE8-9CBD-7083C45F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59B4-C537-44A4-8DDA-FA1CFEE4F44B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5FC37-72B6-7717-4173-CD9D7F0E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19765-6EB1-DD2A-5774-502E9044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2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77D3-8D12-4C66-CB5B-1756B701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D7C8D-EAC6-C435-07E2-DD2C244A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5CBED-4DD8-4702-9903-9945801C0DA6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48873-C447-27A7-9ABD-2AE73147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827EF-6B84-A764-BFF0-3DC2A5F6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32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30EBB-67D6-944E-5A81-E00CFC36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16CE-472A-4086-851E-45FDCC46EA44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8F14E-06FB-F065-7972-F677E363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EC18C-4777-9C06-E0F9-45197380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28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540F8-531C-C6E0-91F1-7BF3B5EF0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B354B-9836-C5ED-97E0-C80D8817F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12A7F-D974-791F-7552-0047FF94C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9B787-889F-E8F6-3E5D-B879ABB4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EB154-480A-4C42-97D7-05D7CAAC93CA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69CC3-E805-F887-6C22-38AB0CEF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DE79F-85EF-FE9A-CAD1-C571CF78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13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1336-1276-AC0C-2E5F-9E8705A0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5E64E-516E-A305-0923-FE7BCB08A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9E00E-70AE-1201-E015-FE9538E3D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60F7E-551F-E94D-61A2-D98941C2C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8CD34-E206-4BA9-87DA-5E3E2DA02D1D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911DE-2F2C-0457-1532-A5968C10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CF4E5-3382-350A-A40C-9FA7F9FE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14B7-0A3B-D0CD-8BC0-8FC1F5054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F481B-AD3B-6780-328E-043947405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D0FF5-0743-FC9F-5A25-9E9FB663F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A388A-AF40-4BC2-962D-7DB31CD67048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103BF-709E-F2F5-C684-37F6E1B31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05937-3CFC-F358-627C-8F485C62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0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50E79A-0F7A-0A89-9D6E-A2B004F954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029FF-FFF7-56B4-5D57-01123A005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9649-BF79-0FC2-BD72-97B42582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1F38F-1F61-41CD-9D90-B25E89CADFB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81E1-7C5C-731D-35EE-0251F600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3BAF-A1A8-0545-5F95-97016B0F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423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91D11C-0D49-43E4-A045-6A40B814D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5EF522-47DF-6EE5-0DB8-4A6BE6846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D36E6-3E0E-52D7-8C2E-A0ADD37ED8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C4616-0D2B-46C6-B852-C3D60F14ECB3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2086F-5718-339A-0949-59F4373F5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D4302-A300-A057-178B-3161E5B5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28F98-14C8-4012-9B3D-BA2BEEE8B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9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BF04E7-8450-17E9-6D88-6FADD1ED7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070EB0-30DD-C21B-B3CB-A2910C9A5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5" y="2235200"/>
            <a:ext cx="11021961" cy="2387600"/>
          </a:xfrm>
        </p:spPr>
        <p:txBody>
          <a:bodyPr>
            <a:normAutofit/>
          </a:bodyPr>
          <a:lstStyle/>
          <a:p>
            <a:r>
              <a:rPr lang="hy-AM" b="1" dirty="0">
                <a:solidFill>
                  <a:srgbClr val="FFCC00"/>
                </a:solidFill>
              </a:rPr>
              <a:t>Ֆունկցիաներ</a:t>
            </a:r>
            <a:endParaRPr lang="en-US" b="1" dirty="0">
              <a:solidFill>
                <a:srgbClr val="FFCC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64AD8-B62B-5AED-9C3A-A9FBEF6BB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394857" y="6366739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FFCC00"/>
                </a:solidFill>
              </a:rPr>
              <a:t>Prepared by Gor Hovsepyan  </a:t>
            </a:r>
          </a:p>
        </p:txBody>
      </p:sp>
      <p:pic>
        <p:nvPicPr>
          <p:cNvPr id="10" name="image1.png" descr="A logo with colorful lines&#10;&#10;AI-generated content may be incorrect.">
            <a:extLst>
              <a:ext uri="{FF2B5EF4-FFF2-40B4-BE49-F238E27FC236}">
                <a16:creationId xmlns:a16="http://schemas.microsoft.com/office/drawing/2014/main" id="{A169D08E-2FC1-0520-A314-1AAF8D71D72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83729" y="631827"/>
            <a:ext cx="3224539" cy="1949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3416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F1B4F4-D88F-ABAF-25F5-D3CDB377A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D58CFF-D9D3-DAC2-BB0A-B42A7D7C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CC00"/>
                </a:solidFill>
                <a:latin typeface="Arial Unicode MS"/>
              </a:rPr>
              <a:t>*</a:t>
            </a:r>
            <a:r>
              <a:rPr lang="en-US" altLang="en-US" dirty="0" err="1">
                <a:solidFill>
                  <a:srgbClr val="FFCC00"/>
                </a:solidFill>
                <a:latin typeface="Arial Unicode MS"/>
              </a:rPr>
              <a:t>args</a:t>
            </a:r>
            <a:r>
              <a:rPr lang="en-US" altLang="en-US" dirty="0">
                <a:solidFill>
                  <a:srgbClr val="FFCC00"/>
                </a:solidFill>
              </a:rPr>
              <a:t> — </a:t>
            </a:r>
            <a:r>
              <a:rPr lang="en-US" altLang="en-US" dirty="0" err="1">
                <a:solidFill>
                  <a:srgbClr val="FFCC00"/>
                </a:solidFill>
              </a:rPr>
              <a:t>Անհամար</a:t>
            </a:r>
            <a:r>
              <a:rPr lang="en-US" altLang="en-US" dirty="0">
                <a:solidFill>
                  <a:srgbClr val="FFCC00"/>
                </a:solidFill>
              </a:rPr>
              <a:t> Դիրքային </a:t>
            </a:r>
            <a:br>
              <a:rPr lang="en-US" altLang="en-US" dirty="0">
                <a:solidFill>
                  <a:srgbClr val="FFCC00"/>
                </a:solidFill>
              </a:rPr>
            </a:br>
            <a:r>
              <a:rPr lang="en-US" altLang="en-US" dirty="0" err="1">
                <a:solidFill>
                  <a:srgbClr val="FFCC00"/>
                </a:solidFill>
              </a:rPr>
              <a:t>Պարամետրեր</a:t>
            </a:r>
            <a:r>
              <a:rPr lang="en-US" altLang="en-US" dirty="0">
                <a:solidFill>
                  <a:srgbClr val="FFCC00"/>
                </a:solidFill>
              </a:rPr>
              <a:t> 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F327A-5230-FC26-94B7-87D28F58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2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E54EE1E-3C7D-6181-D178-FE52C401B9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0392" y="3822624"/>
            <a:ext cx="6243056" cy="175432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add_numbers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(*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sum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add_numbers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3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4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08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F8726-FCE8-8673-6F00-FEB6C11D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9A6EC2-359E-B91F-1F77-AE04E3207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5EAD5B-DE1E-2B9D-F396-0DA3F088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FFCC00"/>
                </a:solidFill>
                <a:latin typeface="Arial Unicode MS"/>
              </a:rPr>
              <a:t>**</a:t>
            </a:r>
            <a:r>
              <a:rPr lang="en-US" altLang="en-US" dirty="0" err="1">
                <a:solidFill>
                  <a:srgbClr val="FFCC00"/>
                </a:solidFill>
                <a:latin typeface="Arial Unicode MS"/>
              </a:rPr>
              <a:t>kwargs</a:t>
            </a:r>
            <a:r>
              <a:rPr lang="en-US" altLang="en-US" dirty="0">
                <a:solidFill>
                  <a:srgbClr val="FFCC00"/>
                </a:solidFill>
              </a:rPr>
              <a:t> — </a:t>
            </a:r>
            <a:r>
              <a:rPr lang="en-US" altLang="en-US" dirty="0" err="1">
                <a:solidFill>
                  <a:srgbClr val="FFCC00"/>
                </a:solidFill>
              </a:rPr>
              <a:t>Անհամար</a:t>
            </a:r>
            <a:br>
              <a:rPr lang="en-US" altLang="en-US" dirty="0">
                <a:solidFill>
                  <a:srgbClr val="FFCC00"/>
                </a:solidFill>
              </a:rPr>
            </a:br>
            <a:r>
              <a:rPr lang="en-US" altLang="en-US" dirty="0">
                <a:solidFill>
                  <a:srgbClr val="FFCC00"/>
                </a:solidFill>
              </a:rPr>
              <a:t> </a:t>
            </a:r>
            <a:r>
              <a:rPr lang="en-US" altLang="en-US" dirty="0" err="1">
                <a:solidFill>
                  <a:srgbClr val="FFCC00"/>
                </a:solidFill>
              </a:rPr>
              <a:t>Բանալի-Արժեք</a:t>
            </a:r>
            <a:r>
              <a:rPr lang="en-US" altLang="en-US" dirty="0">
                <a:solidFill>
                  <a:srgbClr val="FFCC00"/>
                </a:solidFill>
              </a:rPr>
              <a:t> </a:t>
            </a:r>
            <a:r>
              <a:rPr lang="en-US" altLang="en-US" dirty="0" err="1">
                <a:solidFill>
                  <a:srgbClr val="FFCC00"/>
                </a:solidFill>
              </a:rPr>
              <a:t>Պարամետրեր</a:t>
            </a:r>
            <a:r>
              <a:rPr lang="en-US" altLang="en-US" dirty="0">
                <a:solidFill>
                  <a:srgbClr val="FFCC00"/>
                </a:solidFill>
              </a:rPr>
              <a:t> 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BD41F-A005-D1A2-DBD9-A81AF974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6806270-39D9-780C-B2EA-9A9641B2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07" y="2488936"/>
            <a:ext cx="8806129" cy="34163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greet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(**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kwargs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key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value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kwargs.items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():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f"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key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: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{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value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}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greet(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name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"John"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age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25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JetBrains Mono"/>
              </a:rPr>
              <a:t>city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=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"New York"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246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582C-E9F0-34BA-2C03-51AC1385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B5552-89BF-C6C3-8D2C-78EF7075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9A48DD-D152-35AD-96FB-830D7779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C00"/>
                </a:solidFill>
              </a:rPr>
              <a:t>Ռեկուրսիա </a:t>
            </a:r>
            <a:r>
              <a:rPr lang="af-ZA" dirty="0">
                <a:solidFill>
                  <a:srgbClr val="FFCC00"/>
                </a:solidFill>
              </a:rPr>
              <a:t>(Recursion)</a:t>
            </a:r>
            <a:endParaRPr lang="en-US" dirty="0">
              <a:solidFill>
                <a:srgbClr val="FFCC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53E73-6AE3-245F-6A06-844A3CB6D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3E44ED6-CFE8-765C-4F1C-F7216B4A0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142" y="2625163"/>
            <a:ext cx="7926850" cy="22467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def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FF00"/>
                </a:solidFill>
                <a:effectLst/>
                <a:latin typeface="JetBrains Mono"/>
              </a:rPr>
              <a:t>recursive_function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(parameters):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condition: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return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result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else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JetBrains Mono"/>
              </a:rPr>
              <a:t>return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recursive_function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JetBrains Mono"/>
              </a:rPr>
              <a:t>modified_parameters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JetBrains Mono"/>
              </a:rPr>
              <a:t>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D8F1AC-B25F-18C8-2517-FB9C37488C07}"/>
              </a:ext>
            </a:extLst>
          </p:cNvPr>
          <p:cNvSpPr/>
          <p:nvPr/>
        </p:nvSpPr>
        <p:spPr>
          <a:xfrm>
            <a:off x="2138008" y="2552855"/>
            <a:ext cx="5393502" cy="569722"/>
          </a:xfrm>
          <a:prstGeom prst="roundRect">
            <a:avLst/>
          </a:prstGeom>
          <a:noFill/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44EE48-BEF5-E896-C4FD-DF2099798928}"/>
              </a:ext>
            </a:extLst>
          </p:cNvPr>
          <p:cNvSpPr/>
          <p:nvPr/>
        </p:nvSpPr>
        <p:spPr>
          <a:xfrm>
            <a:off x="2429678" y="3041070"/>
            <a:ext cx="2402851" cy="1045621"/>
          </a:xfrm>
          <a:prstGeom prst="roundRect">
            <a:avLst/>
          </a:prstGeom>
          <a:noFill/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4398CE-8F27-413A-DE6A-96CB336DA37E}"/>
              </a:ext>
            </a:extLst>
          </p:cNvPr>
          <p:cNvSpPr/>
          <p:nvPr/>
        </p:nvSpPr>
        <p:spPr>
          <a:xfrm>
            <a:off x="560438" y="1549605"/>
            <a:ext cx="3375458" cy="727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y-AM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Հիմնական ֆունկցիա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B3513F-4EAA-72AE-A0CD-A117E1DA70BA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>
            <a:off x="2248167" y="2277192"/>
            <a:ext cx="2586592" cy="275663"/>
          </a:xfrm>
          <a:prstGeom prst="straightConnector1">
            <a:avLst/>
          </a:prstGeom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290428-7CBA-9F9D-667F-D08772E1EA28}"/>
              </a:ext>
            </a:extLst>
          </p:cNvPr>
          <p:cNvSpPr/>
          <p:nvPr/>
        </p:nvSpPr>
        <p:spPr>
          <a:xfrm>
            <a:off x="4930022" y="1549604"/>
            <a:ext cx="4784249" cy="727587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y-AM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Ռեկուրսիան</a:t>
            </a:r>
            <a:r>
              <a:rPr kumimoji="0" lang="hy-AM" alt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դադարեցնող պայման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3721803-BE0B-A4F1-9E77-8A5E5F61D582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 flipH="1">
            <a:off x="3631104" y="2277191"/>
            <a:ext cx="3691043" cy="763879"/>
          </a:xfrm>
          <a:prstGeom prst="straightConnector1">
            <a:avLst/>
          </a:prstGeom>
          <a:ln w="57150" cap="flat" cmpd="sng" algn="ctr">
            <a:solidFill>
              <a:srgbClr val="00D17D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37B09A3-E17A-278B-B68A-97E829B005B6}"/>
              </a:ext>
            </a:extLst>
          </p:cNvPr>
          <p:cNvSpPr/>
          <p:nvPr/>
        </p:nvSpPr>
        <p:spPr>
          <a:xfrm>
            <a:off x="3228658" y="5622790"/>
            <a:ext cx="6037220" cy="961376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y-AM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Ռոկուրսիա</a:t>
            </a:r>
            <a:r>
              <a:rPr kumimoji="0" lang="hy-AM" altLang="en-US" sz="2000" b="0" i="0" u="none" strike="noStrike" cap="none" normalizeH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ֆունկցիան կանչում է ինքն իրեն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A91973-CFD6-29FD-F816-0846C88DAD57}"/>
              </a:ext>
            </a:extLst>
          </p:cNvPr>
          <p:cNvCxnSpPr>
            <a:cxnSpLocks/>
            <a:stCxn id="13" idx="0"/>
            <a:endCxn id="15" idx="2"/>
          </p:cNvCxnSpPr>
          <p:nvPr/>
        </p:nvCxnSpPr>
        <p:spPr>
          <a:xfrm flipV="1">
            <a:off x="6247268" y="4871932"/>
            <a:ext cx="0" cy="750858"/>
          </a:xfrm>
          <a:prstGeom prst="straightConnector1">
            <a:avLst/>
          </a:prstGeom>
          <a:ln w="57150" cap="flat" cmpd="sng" algn="ctr">
            <a:solidFill>
              <a:srgbClr val="E695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CE7986-EDDA-BD34-AA51-213602A70D28}"/>
              </a:ext>
            </a:extLst>
          </p:cNvPr>
          <p:cNvSpPr/>
          <p:nvPr/>
        </p:nvSpPr>
        <p:spPr>
          <a:xfrm>
            <a:off x="2429678" y="4302210"/>
            <a:ext cx="7635180" cy="569722"/>
          </a:xfrm>
          <a:prstGeom prst="roundRect">
            <a:avLst/>
          </a:prstGeom>
          <a:noFill/>
          <a:ln w="57150" cap="flat" cmpd="sng" algn="ctr">
            <a:solidFill>
              <a:srgbClr val="E695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5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5C546-9942-700A-3E94-45DD596D9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B1C7A5-B110-70CE-8099-2E7F570FC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8251F4-8098-E43E-A25F-C778DB817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000"/>
                </a:solidFill>
              </a:rPr>
              <a:t>Ռեկուրսիվ ֆունկցիա թվի ֆակտորիալ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C1252-FF8C-2C0E-50F1-33C29144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103A0A-1D52-D325-ABEA-9C10D5120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929" y="2842340"/>
            <a:ext cx="4428264" cy="26776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factorial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 ==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or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 ==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 * factorial(n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(factorial(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5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209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3762-7023-A99D-E9D4-AB63D726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E26866-3117-40DA-68D0-68FDB8011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F4AEA-A9E5-1CC9-7476-AB439163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y-AM" dirty="0">
                <a:solidFill>
                  <a:srgbClr val="FFC000"/>
                </a:solidFill>
              </a:rPr>
              <a:t>Ռեկուրսիվ ֆունկցիաֆիբոնաչիյի թվեր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BCE6E-3EC3-7BA1-F4C5-063852D4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8F98-14C8-4012-9B3D-BA2BEEE8B077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905A0C2-7DF9-1C01-F2C8-A719B253C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00" y="2523342"/>
            <a:ext cx="6543523" cy="3970318"/>
          </a:xfrm>
          <a:prstGeom prst="rect">
            <a:avLst/>
          </a:prstGeom>
          <a:solidFill>
            <a:srgbClr val="2B2B2B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def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fibonacci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(n):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 ==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elif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n ==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else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fibonacci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1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 +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fibonacci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(n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fibonacci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6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))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705195-6BC1-6012-3F07-C46F9182CC2A}"/>
              </a:ext>
            </a:extLst>
          </p:cNvPr>
          <p:cNvSpPr/>
          <p:nvPr/>
        </p:nvSpPr>
        <p:spPr>
          <a:xfrm>
            <a:off x="7631479" y="5083560"/>
            <a:ext cx="4297680" cy="123444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8</a:t>
            </a:r>
          </a:p>
          <a:p>
            <a:endParaRPr lang="en-US" dirty="0"/>
          </a:p>
          <a:p>
            <a:r>
              <a:rPr lang="en-US" dirty="0"/>
              <a:t>Process finished with exit code 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DD6433-9464-65AF-19D2-3BD10588DFC1}"/>
              </a:ext>
            </a:extLst>
          </p:cNvPr>
          <p:cNvSpPr/>
          <p:nvPr/>
        </p:nvSpPr>
        <p:spPr>
          <a:xfrm>
            <a:off x="7631479" y="3815833"/>
            <a:ext cx="2499360" cy="91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y-AM" dirty="0"/>
              <a:t>Արդյունք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6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7A6F5C-B953-320F-F8EF-76087C818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194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642F7E-E0EF-DF0B-3902-5E6C727B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248" y="3213103"/>
            <a:ext cx="7683500" cy="1325563"/>
          </a:xfrm>
        </p:spPr>
        <p:txBody>
          <a:bodyPr>
            <a:normAutofit/>
          </a:bodyPr>
          <a:lstStyle/>
          <a:p>
            <a:r>
              <a:rPr lang="hy-AM" sz="6000" b="1" dirty="0">
                <a:solidFill>
                  <a:srgbClr val="FFCC00"/>
                </a:solidFill>
              </a:rPr>
              <a:t>Շնորհակալություն</a:t>
            </a:r>
            <a:endParaRPr lang="en-US" sz="6000" b="1" dirty="0">
              <a:solidFill>
                <a:srgbClr val="FFCC00"/>
              </a:solidFill>
            </a:endParaRPr>
          </a:p>
        </p:txBody>
      </p:sp>
      <p:pic>
        <p:nvPicPr>
          <p:cNvPr id="6" name="image1.png" descr="A logo with colorful lines&#10;&#10;AI-generated content may be incorrect.">
            <a:extLst>
              <a:ext uri="{FF2B5EF4-FFF2-40B4-BE49-F238E27FC236}">
                <a16:creationId xmlns:a16="http://schemas.microsoft.com/office/drawing/2014/main" id="{BFF5A66F-9A71-49E2-8953-E1BCAF1319E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483729" y="631827"/>
            <a:ext cx="3224539" cy="1949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71142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3155</TotalTime>
  <Words>258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Unicode MS</vt:lpstr>
      <vt:lpstr>JetBrains Mono</vt:lpstr>
      <vt:lpstr>Office Theme</vt:lpstr>
      <vt:lpstr>Ֆունկցիաներ</vt:lpstr>
      <vt:lpstr>*args — Անհամար Դիրքային  Պարամետրեր </vt:lpstr>
      <vt:lpstr>**kwargs — Անհամար  Բանալի-Արժեք Պարամետրեր </vt:lpstr>
      <vt:lpstr>Ռեկուրսիա (Recursion)</vt:lpstr>
      <vt:lpstr>Ռեկուրսիվ ֆունկցիա թվի ֆակտորիալ</vt:lpstr>
      <vt:lpstr>Ռեկուրսիվ ֆունկցիաֆիբոնաչիյի թվեր</vt:lpstr>
      <vt:lpstr>Շնորհակալություն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Հովսեփյան Գոռ Արտակի</dc:creator>
  <cp:lastModifiedBy>Հովսեփյան Գոռ Արտակի</cp:lastModifiedBy>
  <cp:revision>6</cp:revision>
  <dcterms:created xsi:type="dcterms:W3CDTF">2025-07-15T21:00:09Z</dcterms:created>
  <dcterms:modified xsi:type="dcterms:W3CDTF">2025-11-08T16:28:14Z</dcterms:modified>
</cp:coreProperties>
</file>