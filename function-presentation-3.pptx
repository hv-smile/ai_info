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65" r:id="rId3"/>
    <p:sldId id="266" r:id="rId4"/>
    <p:sldId id="267" r:id="rId5"/>
    <p:sldId id="270" r:id="rId6"/>
    <p:sldId id="280" r:id="rId7"/>
    <p:sldId id="277" r:id="rId8"/>
    <p:sldId id="276" r:id="rId9"/>
    <p:sldId id="283" r:id="rId10"/>
    <p:sldId id="284" r:id="rId11"/>
    <p:sldId id="285" r:id="rId12"/>
    <p:sldId id="286" r:id="rId13"/>
    <p:sldId id="287" r:id="rId14"/>
    <p:sldId id="264" r:id="rId15"/>
    <p:sldId id="268" r:id="rId16"/>
    <p:sldId id="269" r:id="rId17"/>
    <p:sldId id="271" r:id="rId18"/>
    <p:sldId id="278" r:id="rId19"/>
    <p:sldId id="279" r:id="rId20"/>
    <p:sldId id="281" r:id="rId21"/>
    <p:sldId id="28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9500"/>
    <a:srgbClr val="00D17D"/>
    <a:srgbClr val="00BAC8"/>
    <a:srgbClr val="2B2B2B"/>
    <a:srgbClr val="794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3" d="100"/>
          <a:sy n="73" d="100"/>
        </p:scale>
        <p:origin x="107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61E10-0BBF-D371-3235-2EAE478E9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CA681-E4D5-1B9C-BACA-D6D808BD2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D609D-87EC-AD61-C92F-C307292C7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A581F-35CB-C4D6-792D-68A65899C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98FC-F0E4-8864-9ED0-061AD1CC0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89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76A37-EEDA-668D-6885-9EE77700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FA202-18E3-C8CD-2609-8E2AA93E2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6BE48-FAAF-BA98-E15C-31F4AEF76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7D9CE-62EB-C23A-CA2E-7573E3E9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08509-D550-AF55-38D1-0E3A6FCF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6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3C9F8-EF3A-1EB7-9F7B-B7D4F5D7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FAB87-6A8A-14BB-9119-CAAAC53A8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34EAA-5AC6-BD04-27AD-19DE6E9E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C2D44-91FA-F079-F105-90D4D6E59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F8B35-7347-9DDA-F3EB-CDC1EA68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32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0AF44-950D-018C-AEF3-1D214C38A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82C53-BE86-32C7-A1DE-1D579B4174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19718-EDA5-788E-2970-0B9759C9F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D5449-813C-FD2D-A969-E68D5F4B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8C907-825F-F719-BA37-93B42C20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1865A-07FA-349F-2F55-910D3A9EA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0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677E-56FC-EDB3-583F-CF2D91ECB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648B4-BB3F-C182-3728-68B240CA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019AB-5030-F782-17E4-12A55AE95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25B349-65C0-9B61-B0A3-6D72A9459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3928F8-ACFE-9D86-92CF-FEF96C99E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D2CE09-78C4-258E-6147-7CAE93CF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BB8633-F0BE-7EF4-16B8-9EED3DD7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B6B8A5-2807-451F-BE47-7A7DA069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60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C3AD7-6009-BBD5-3E7D-F5627A1DF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D56006-088A-27AB-AD37-1CDF85F72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DFCA1-3D99-CBA2-A50C-EBD32545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64E685-45C8-7E55-631F-7891BF4B4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5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CEC38A-57F1-60FF-26C6-F1679E551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C9190D-45AB-E937-4358-E91F09CA5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89283-47AE-47AC-E7F5-2F265BA31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42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353E4-8A87-08FE-0FD0-0584ED4AF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C058E-A9A3-4F33-61C8-3B999FD32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0B6E1-60A2-AB40-8973-EA724EC1D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B6009-7960-8DF9-CCFE-53EB49221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21261-AD61-E0B3-9082-BB20C72A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19907-0386-CBE6-5D53-00790DDBC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CA78-7530-41B2-C42F-DD7D8B70C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6425F7-72A9-DA9A-6D13-B2C99A2AB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49B35-E97C-EFC5-4DCD-7398CF6A7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EEC92-889D-40F1-5C9A-9E5311A8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D601E-7AF0-FC3C-70FF-E4DF7FC75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B24CC-DAAB-8164-D744-61EE3C99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19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2D811-DB9A-5985-7DB0-E6E5AEFB6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4E1B2-D016-3858-EED9-36B4952EB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BBF0B-F1EE-8A43-593A-E0FE28364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F0B0D-58E1-55A3-BC4E-ED1AAB3F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1A418-76DA-0D08-6223-CB89A16B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FF8D3C-F17F-D68F-C74E-7B88F92C2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0C937-081D-C03C-6617-E25A49835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0118A-BDF4-B9E4-B7C5-86AA676FB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CF34F-32B6-C947-A2B3-DB6434A3E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E87A1-B0A9-4394-7019-21158A707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54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999999-9208-1122-0072-CF1D0B54D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ED079-EED3-26C7-129F-A7EFF1959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7A99C-A692-4BCE-F458-3AD809D85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A760B-2742-E584-AAC9-AF395857C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B631F-2F39-8750-6983-74B46BEC3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60024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EB89F-157A-F231-BC3C-3FF8600C0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0313" y="549276"/>
            <a:ext cx="5170030" cy="4259814"/>
          </a:xfrm>
        </p:spPr>
        <p:txBody>
          <a:bodyPr>
            <a:normAutofit/>
          </a:bodyPr>
          <a:lstStyle/>
          <a:p>
            <a:r>
              <a:rPr lang="af-ZA" dirty="0">
                <a:solidFill>
                  <a:srgbClr val="FFC000"/>
                </a:solidFill>
              </a:rPr>
              <a:t>Python Function 3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2C9FB-8170-6E84-8FD0-E44C0E869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4113" y="4967821"/>
            <a:ext cx="4500561" cy="1320249"/>
          </a:xfrm>
        </p:spPr>
        <p:txBody>
          <a:bodyPr>
            <a:normAutofit/>
          </a:bodyPr>
          <a:lstStyle/>
          <a:p>
            <a:r>
              <a:rPr lang="af-ZA" dirty="0"/>
              <a:t>Gor Hovsepyan</a:t>
            </a: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17DD569-CE68-111D-135F-A0C241EBE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0000" y="1601887"/>
            <a:ext cx="6049714" cy="3644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8732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4BA49-BE13-4E2A-8408-1B62DDFB0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15114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Lambda </a:t>
            </a:r>
            <a:r>
              <a:rPr lang="hy-AM" dirty="0">
                <a:solidFill>
                  <a:srgbClr val="FFC000"/>
                </a:solidFill>
              </a:rPr>
              <a:t>Ֆունկցիաներ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7EF2FA-965A-4064-12BA-A7D86DD9C8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81755" y="3590823"/>
            <a:ext cx="6104941" cy="64633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lambda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arguments: expression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386143-F229-21D3-1893-C762B183572C}"/>
              </a:ext>
            </a:extLst>
          </p:cNvPr>
          <p:cNvSpPr/>
          <p:nvPr/>
        </p:nvSpPr>
        <p:spPr>
          <a:xfrm>
            <a:off x="2781755" y="3667433"/>
            <a:ext cx="1583767" cy="569722"/>
          </a:xfrm>
          <a:prstGeom prst="round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A7A1FE-FE6D-9FA8-3AE9-26BEF6DB2A4B}"/>
              </a:ext>
            </a:extLst>
          </p:cNvPr>
          <p:cNvSpPr/>
          <p:nvPr/>
        </p:nvSpPr>
        <p:spPr>
          <a:xfrm>
            <a:off x="4365522" y="3667433"/>
            <a:ext cx="2241755" cy="569722"/>
          </a:xfrm>
          <a:prstGeom prst="roundRect">
            <a:avLst/>
          </a:prstGeom>
          <a:noFill/>
          <a:ln w="57150" cap="flat" cmpd="sng" algn="ctr">
            <a:solidFill>
              <a:srgbClr val="00D17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B19170-D8FA-0A6E-399F-CB2DE03DB622}"/>
              </a:ext>
            </a:extLst>
          </p:cNvPr>
          <p:cNvSpPr/>
          <p:nvPr/>
        </p:nvSpPr>
        <p:spPr>
          <a:xfrm>
            <a:off x="6607277" y="3671801"/>
            <a:ext cx="2241755" cy="569722"/>
          </a:xfrm>
          <a:prstGeom prst="roundRect">
            <a:avLst/>
          </a:prstGeom>
          <a:noFill/>
          <a:ln w="57150" cap="flat" cmpd="sng" algn="ctr">
            <a:solidFill>
              <a:srgbClr val="E695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6B1E67-BCD2-C59F-C64C-44642FB665E7}"/>
              </a:ext>
            </a:extLst>
          </p:cNvPr>
          <p:cNvSpPr/>
          <p:nvPr/>
        </p:nvSpPr>
        <p:spPr>
          <a:xfrm>
            <a:off x="560438" y="1549605"/>
            <a:ext cx="7610168" cy="727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lambda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hy-AM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Բանալի բառ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որը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սահմանում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է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անանուն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ֆունկցիա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D446AA-D028-A6CF-47EC-88A40045513F}"/>
              </a:ext>
            </a:extLst>
          </p:cNvPr>
          <p:cNvCxnSpPr>
            <a:stCxn id="8" idx="2"/>
            <a:endCxn id="5" idx="0"/>
          </p:cNvCxnSpPr>
          <p:nvPr/>
        </p:nvCxnSpPr>
        <p:spPr>
          <a:xfrm flipH="1">
            <a:off x="3573639" y="2277192"/>
            <a:ext cx="791883" cy="1390241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474BC32-45EC-FAF9-4150-4D4272AD995C}"/>
              </a:ext>
            </a:extLst>
          </p:cNvPr>
          <p:cNvSpPr/>
          <p:nvPr/>
        </p:nvSpPr>
        <p:spPr>
          <a:xfrm>
            <a:off x="5695335" y="2452092"/>
            <a:ext cx="6307394" cy="72758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arguments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մուտքային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արգումենտներ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9B2863-5C84-3A5A-B7BC-EB5AB06EBD19}"/>
              </a:ext>
            </a:extLst>
          </p:cNvPr>
          <p:cNvCxnSpPr>
            <a:cxnSpLocks/>
            <a:stCxn id="13" idx="2"/>
            <a:endCxn id="6" idx="0"/>
          </p:cNvCxnSpPr>
          <p:nvPr/>
        </p:nvCxnSpPr>
        <p:spPr>
          <a:xfrm flipH="1">
            <a:off x="5486400" y="3179679"/>
            <a:ext cx="3362632" cy="487754"/>
          </a:xfrm>
          <a:prstGeom prst="straightConnector1">
            <a:avLst/>
          </a:prstGeom>
          <a:ln w="57150" cap="flat" cmpd="sng" algn="ctr">
            <a:solidFill>
              <a:srgbClr val="00D17D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F39AC99-E9B3-E6D3-A83F-FD04CB316E9B}"/>
              </a:ext>
            </a:extLst>
          </p:cNvPr>
          <p:cNvSpPr/>
          <p:nvPr/>
        </p:nvSpPr>
        <p:spPr>
          <a:xfrm>
            <a:off x="383458" y="4823198"/>
            <a:ext cx="11503742" cy="174475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expression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-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մեկ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արտահայտություն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որը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վերադարձնում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է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արժեք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6465D1C-9A8E-472E-8C79-7A2F3AC8A991}"/>
              </a:ext>
            </a:extLst>
          </p:cNvPr>
          <p:cNvCxnSpPr>
            <a:cxnSpLocks/>
            <a:stCxn id="18" idx="0"/>
            <a:endCxn id="7" idx="2"/>
          </p:cNvCxnSpPr>
          <p:nvPr/>
        </p:nvCxnSpPr>
        <p:spPr>
          <a:xfrm flipV="1">
            <a:off x="6135329" y="4241523"/>
            <a:ext cx="1592826" cy="581675"/>
          </a:xfrm>
          <a:prstGeom prst="straightConnector1">
            <a:avLst/>
          </a:prstGeom>
          <a:ln w="57150" cap="flat" cmpd="sng" algn="ctr">
            <a:solidFill>
              <a:srgbClr val="E695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85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3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4D39-D403-44A9-F389-71CA602D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Lambda </a:t>
            </a:r>
            <a:r>
              <a:rPr lang="hy-AM" dirty="0">
                <a:solidFill>
                  <a:srgbClr val="FFC000"/>
                </a:solidFill>
              </a:rPr>
              <a:t>Ֆունկցիաներ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D1F592-7D58-CB7C-2C8A-A2BC22DBB4F0}"/>
              </a:ext>
            </a:extLst>
          </p:cNvPr>
          <p:cNvSpPr/>
          <p:nvPr/>
        </p:nvSpPr>
        <p:spPr>
          <a:xfrm>
            <a:off x="6681511" y="4222570"/>
            <a:ext cx="4297680" cy="1234440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8</a:t>
            </a:r>
          </a:p>
          <a:p>
            <a:r>
              <a:rPr lang="en-US" dirty="0"/>
              <a:t>2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D4E922-9BED-4D7F-BD6A-EAC30901066C}"/>
              </a:ext>
            </a:extLst>
          </p:cNvPr>
          <p:cNvSpPr/>
          <p:nvPr/>
        </p:nvSpPr>
        <p:spPr>
          <a:xfrm>
            <a:off x="7580671" y="2828835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879394-EE73-77A2-3977-E557C84A8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00" y="2594688"/>
            <a:ext cx="4535216" cy="286232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add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lambda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y: x + y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(add(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(add(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4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-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38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F2778-5181-762F-DAC9-8CEF78ACA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>
                <a:solidFill>
                  <a:srgbClr val="FFC000"/>
                </a:solidFill>
              </a:rPr>
              <a:t>map </a:t>
            </a:r>
            <a:r>
              <a:rPr lang="hy-AM" dirty="0">
                <a:solidFill>
                  <a:srgbClr val="FFC000"/>
                </a:solidFill>
              </a:rPr>
              <a:t>Ֆունկցիա</a:t>
            </a:r>
            <a:r>
              <a:rPr lang="af-ZA" dirty="0">
                <a:solidFill>
                  <a:srgbClr val="FFC000"/>
                </a:solidFill>
              </a:rPr>
              <a:t> 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3C6805-5AC5-BD84-653D-64684B847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161" y="3036838"/>
            <a:ext cx="8768811" cy="230832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numbers = [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4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squared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list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map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lambda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x: x**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numbers))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(squared)  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DF0526-1109-4B72-1D9B-EC77B4D3885B}"/>
              </a:ext>
            </a:extLst>
          </p:cNvPr>
          <p:cNvSpPr/>
          <p:nvPr/>
        </p:nvSpPr>
        <p:spPr>
          <a:xfrm>
            <a:off x="5304116" y="3630666"/>
            <a:ext cx="2856917" cy="569722"/>
          </a:xfrm>
          <a:prstGeom prst="round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84933B-01D1-D391-C07B-6923F42DF074}"/>
              </a:ext>
            </a:extLst>
          </p:cNvPr>
          <p:cNvSpPr/>
          <p:nvPr/>
        </p:nvSpPr>
        <p:spPr>
          <a:xfrm>
            <a:off x="550865" y="1512838"/>
            <a:ext cx="7610168" cy="11910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y-AM" altLang="en-US" sz="3200" dirty="0">
                <a:solidFill>
                  <a:schemeClr val="bg1"/>
                </a:solidFill>
                <a:latin typeface="Arial" panose="020B0604020202020204" pitchFamily="34" charset="0"/>
              </a:rPr>
              <a:t>Ֆունկցիա որը կատարվելու է ցանկացած տարի հետ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D3A573-DDD5-D023-76C6-3DE3B540E9C6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4355949" y="2703871"/>
            <a:ext cx="2376626" cy="926795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C2EB91D-BB25-9291-50B6-321837250EF7}"/>
              </a:ext>
            </a:extLst>
          </p:cNvPr>
          <p:cNvSpPr/>
          <p:nvPr/>
        </p:nvSpPr>
        <p:spPr>
          <a:xfrm>
            <a:off x="8295904" y="3621278"/>
            <a:ext cx="2241755" cy="569722"/>
          </a:xfrm>
          <a:prstGeom prst="roundRect">
            <a:avLst/>
          </a:prstGeom>
          <a:noFill/>
          <a:ln w="57150" cap="flat" cmpd="sng" algn="ctr">
            <a:solidFill>
              <a:srgbClr val="00D17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647C4A-C659-2004-A6A7-24B76B85A1E6}"/>
              </a:ext>
            </a:extLst>
          </p:cNvPr>
          <p:cNvSpPr/>
          <p:nvPr/>
        </p:nvSpPr>
        <p:spPr>
          <a:xfrm>
            <a:off x="539999" y="5668706"/>
            <a:ext cx="6814529" cy="72758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y-AM" altLang="en-US" sz="3200" dirty="0">
                <a:solidFill>
                  <a:schemeClr val="bg1"/>
                </a:solidFill>
                <a:latin typeface="Arial" panose="020B0604020202020204" pitchFamily="34" charset="0"/>
              </a:rPr>
              <a:t>Մուտքային տարերի հավաքածու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7978D0-07DF-C918-B5AD-A7A6894CDAB0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3947264" y="4191000"/>
            <a:ext cx="5469518" cy="1477706"/>
          </a:xfrm>
          <a:prstGeom prst="straightConnector1">
            <a:avLst/>
          </a:prstGeom>
          <a:ln w="57150" cap="flat" cmpd="sng" algn="ctr">
            <a:solidFill>
              <a:srgbClr val="00D17D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78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B082E-E9B3-A2A2-ABB6-DAD4CBDA9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filter() </a:t>
            </a:r>
            <a:r>
              <a:rPr lang="hy-AM" dirty="0">
                <a:solidFill>
                  <a:srgbClr val="FFC000"/>
                </a:solidFill>
              </a:rPr>
              <a:t>ֆունկցիա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51A8718-6B98-0691-E602-5731574C1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5806" y="3111538"/>
            <a:ext cx="9380388" cy="230832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numbers = [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4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6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evens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list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filter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lambda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x: x %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numbers))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(evens)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C41409-E148-41B7-0CCB-39068F7816EA}"/>
              </a:ext>
            </a:extLst>
          </p:cNvPr>
          <p:cNvSpPr/>
          <p:nvPr/>
        </p:nvSpPr>
        <p:spPr>
          <a:xfrm>
            <a:off x="4662108" y="3740431"/>
            <a:ext cx="3891957" cy="569722"/>
          </a:xfrm>
          <a:prstGeom prst="round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3EBDBD-05B9-E583-0717-C474BA534A8F}"/>
              </a:ext>
            </a:extLst>
          </p:cNvPr>
          <p:cNvSpPr/>
          <p:nvPr/>
        </p:nvSpPr>
        <p:spPr>
          <a:xfrm>
            <a:off x="265729" y="1545406"/>
            <a:ext cx="7610168" cy="11910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y-AM" altLang="en-US" sz="3200" dirty="0">
                <a:solidFill>
                  <a:schemeClr val="bg1"/>
                </a:solidFill>
                <a:latin typeface="Arial" panose="020B0604020202020204" pitchFamily="34" charset="0"/>
              </a:rPr>
              <a:t>Ֆունկցիա որը ստուգում է պայմանը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3651AF-896D-8190-8677-9AAE19C17ADC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4070813" y="2736439"/>
            <a:ext cx="2537274" cy="1003992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14973A-40AB-6FC1-6CFA-BDBEA76F61A0}"/>
              </a:ext>
            </a:extLst>
          </p:cNvPr>
          <p:cNvSpPr/>
          <p:nvPr/>
        </p:nvSpPr>
        <p:spPr>
          <a:xfrm>
            <a:off x="8659697" y="3753635"/>
            <a:ext cx="2241755" cy="569722"/>
          </a:xfrm>
          <a:prstGeom prst="roundRect">
            <a:avLst/>
          </a:prstGeom>
          <a:noFill/>
          <a:ln w="57150" cap="flat" cmpd="sng" algn="ctr">
            <a:solidFill>
              <a:srgbClr val="00D17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4C723D-4245-E926-032A-8DE1206202C6}"/>
              </a:ext>
            </a:extLst>
          </p:cNvPr>
          <p:cNvSpPr/>
          <p:nvPr/>
        </p:nvSpPr>
        <p:spPr>
          <a:xfrm>
            <a:off x="254863" y="5590413"/>
            <a:ext cx="6814529" cy="72758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y-AM" altLang="en-US" sz="3200" dirty="0">
                <a:solidFill>
                  <a:schemeClr val="bg1"/>
                </a:solidFill>
                <a:latin typeface="Arial" panose="020B0604020202020204" pitchFamily="34" charset="0"/>
              </a:rPr>
              <a:t>Մուտքային տարերի հավաքածու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903F21-C087-4BCF-C7AD-B68D47B9F31B}"/>
              </a:ext>
            </a:extLst>
          </p:cNvPr>
          <p:cNvCxnSpPr>
            <a:cxnSpLocks/>
            <a:stCxn id="11" idx="0"/>
            <a:endCxn id="10" idx="2"/>
          </p:cNvCxnSpPr>
          <p:nvPr/>
        </p:nvCxnSpPr>
        <p:spPr>
          <a:xfrm flipV="1">
            <a:off x="3662128" y="4323357"/>
            <a:ext cx="6118447" cy="1267056"/>
          </a:xfrm>
          <a:prstGeom prst="straightConnector1">
            <a:avLst/>
          </a:prstGeom>
          <a:ln w="57150" cap="flat" cmpd="sng" algn="ctr">
            <a:solidFill>
              <a:srgbClr val="00D17D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041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45047-880A-6C29-7697-00B23110C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>
                <a:solidFill>
                  <a:srgbClr val="FFC000"/>
                </a:solidFill>
              </a:rPr>
              <a:t>zip() </a:t>
            </a:r>
            <a:r>
              <a:rPr lang="hy-AM" dirty="0">
                <a:solidFill>
                  <a:srgbClr val="FFC000"/>
                </a:solidFill>
              </a:rPr>
              <a:t>Ֆունկցիա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BCD2E8-4C52-D89C-E60B-9A663BDCC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00" y="2274838"/>
            <a:ext cx="4495141" cy="230832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names = 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"Alice"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"Bob"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"Charlie"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ages = 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zipped 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zip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(names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ages)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(zipped))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C98109-DF36-2C30-7FCD-16DA7BD9ACD2}"/>
              </a:ext>
            </a:extLst>
          </p:cNvPr>
          <p:cNvSpPr/>
          <p:nvPr/>
        </p:nvSpPr>
        <p:spPr>
          <a:xfrm>
            <a:off x="6681511" y="4222570"/>
            <a:ext cx="4297680" cy="1234440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[('Alice', 25), ('Bob', 30), ('Charlie', 35)]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A9FFD1-95C7-2888-5AAE-6FE5CEF35802}"/>
              </a:ext>
            </a:extLst>
          </p:cNvPr>
          <p:cNvSpPr/>
          <p:nvPr/>
        </p:nvSpPr>
        <p:spPr>
          <a:xfrm>
            <a:off x="7580671" y="2828835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25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CC477-EEBF-D13E-8BAA-39D582C7A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List Comprehension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19F509-73E6-1F09-9BC7-1BDF5B8FC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00" y="2659871"/>
            <a:ext cx="5388270" cy="120032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numbers = 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squared = [num **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numbers]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(squared)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[1, 4, 9, 16, 25]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A458614-F1CA-B131-5FD3-3226C8641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460" y="1921207"/>
            <a:ext cx="4204484" cy="26776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numbers = 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squared = []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numbers: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squared.append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(num **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(squared)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[1, 4, 9, 16, 25]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86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79914-EAF4-EF2D-0818-8C348D54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351834"/>
            <a:ext cx="11101135" cy="1809500"/>
          </a:xfrm>
        </p:spPr>
        <p:txBody>
          <a:bodyPr/>
          <a:lstStyle/>
          <a:p>
            <a:r>
              <a:rPr lang="af-ZA" dirty="0"/>
              <a:t>If </a:t>
            </a:r>
            <a:r>
              <a:rPr lang="hy-AM" dirty="0"/>
              <a:t>Կրճատ գրելաձև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A38A09-667A-11F0-56B5-CEF4DC59A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3421" y="3065118"/>
            <a:ext cx="7014292" cy="2062103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age =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18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status =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"Adult"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age &gt;=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18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"Minor"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(status)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Արդյունքը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: Adult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707383-724F-7180-7EF7-542128B79817}"/>
              </a:ext>
            </a:extLst>
          </p:cNvPr>
          <p:cNvSpPr/>
          <p:nvPr/>
        </p:nvSpPr>
        <p:spPr>
          <a:xfrm>
            <a:off x="4092759" y="3597305"/>
            <a:ext cx="1168610" cy="569722"/>
          </a:xfrm>
          <a:prstGeom prst="round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2A747B-655A-B8C9-5559-87B48083506C}"/>
              </a:ext>
            </a:extLst>
          </p:cNvPr>
          <p:cNvSpPr/>
          <p:nvPr/>
        </p:nvSpPr>
        <p:spPr>
          <a:xfrm>
            <a:off x="5261369" y="3634553"/>
            <a:ext cx="2053832" cy="569722"/>
          </a:xfrm>
          <a:prstGeom prst="roundRect">
            <a:avLst/>
          </a:prstGeom>
          <a:noFill/>
          <a:ln w="57150" cap="flat" cmpd="sng" algn="ctr">
            <a:solidFill>
              <a:srgbClr val="00D17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7DC8BD-9584-36C5-E599-CA1BB8164032}"/>
              </a:ext>
            </a:extLst>
          </p:cNvPr>
          <p:cNvSpPr/>
          <p:nvPr/>
        </p:nvSpPr>
        <p:spPr>
          <a:xfrm>
            <a:off x="560438" y="1549605"/>
            <a:ext cx="3375458" cy="727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f-ZA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If </a:t>
            </a:r>
            <a:r>
              <a:rPr lang="hy-AM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Պայմանի գործողություն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679D8B7-55A7-5F5C-555F-8BD4E7C5FE32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>
            <a:off x="2248167" y="2277192"/>
            <a:ext cx="2428897" cy="1320113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ABBB41-B716-BBF6-34A6-44F39AEF6872}"/>
              </a:ext>
            </a:extLst>
          </p:cNvPr>
          <p:cNvSpPr/>
          <p:nvPr/>
        </p:nvSpPr>
        <p:spPr>
          <a:xfrm>
            <a:off x="4930022" y="1549604"/>
            <a:ext cx="1778891" cy="72758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y-AM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Պայման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EE31F3-D24E-9510-09FB-725B25D953E9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>
            <a:off x="5819468" y="2277191"/>
            <a:ext cx="468817" cy="1357362"/>
          </a:xfrm>
          <a:prstGeom prst="straightConnector1">
            <a:avLst/>
          </a:prstGeom>
          <a:ln w="57150" cap="flat" cmpd="sng" algn="ctr">
            <a:solidFill>
              <a:srgbClr val="00D17D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A3278D-4BDA-C5F9-64CE-54A970D5BFF4}"/>
              </a:ext>
            </a:extLst>
          </p:cNvPr>
          <p:cNvSpPr/>
          <p:nvPr/>
        </p:nvSpPr>
        <p:spPr>
          <a:xfrm>
            <a:off x="6708913" y="5355385"/>
            <a:ext cx="3264203" cy="961376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f-ZA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Else- </a:t>
            </a:r>
            <a:r>
              <a:rPr lang="hy-AM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ի գործողություն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0EE87A-2F88-86E8-8A0F-6298118C2934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8341015" y="4096169"/>
            <a:ext cx="134874" cy="1259216"/>
          </a:xfrm>
          <a:prstGeom prst="straightConnector1">
            <a:avLst/>
          </a:prstGeom>
          <a:ln w="57150" cap="flat" cmpd="sng" algn="ctr">
            <a:solidFill>
              <a:srgbClr val="E695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20C6F4D-57DD-19AB-A696-E2D238AA391C}"/>
              </a:ext>
            </a:extLst>
          </p:cNvPr>
          <p:cNvSpPr/>
          <p:nvPr/>
        </p:nvSpPr>
        <p:spPr>
          <a:xfrm>
            <a:off x="7355012" y="3597305"/>
            <a:ext cx="2241755" cy="569722"/>
          </a:xfrm>
          <a:prstGeom prst="roundRect">
            <a:avLst/>
          </a:prstGeom>
          <a:noFill/>
          <a:ln w="57150" cap="flat" cmpd="sng" algn="ctr">
            <a:solidFill>
              <a:srgbClr val="E695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3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2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D8753-C360-B620-ADE2-2FBF25C7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List Comprehension </a:t>
            </a:r>
            <a:r>
              <a:rPr lang="hy-AM" dirty="0">
                <a:solidFill>
                  <a:srgbClr val="FFC000"/>
                </a:solidFill>
              </a:rPr>
              <a:t>կառուցվածք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4D7D49-5398-CD93-1048-A94D92730359}"/>
              </a:ext>
            </a:extLst>
          </p:cNvPr>
          <p:cNvSpPr/>
          <p:nvPr/>
        </p:nvSpPr>
        <p:spPr>
          <a:xfrm>
            <a:off x="1991591" y="3210791"/>
            <a:ext cx="8544791" cy="7793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</a:rPr>
              <a:t>[</a:t>
            </a:r>
            <a:r>
              <a:rPr lang="en-US" sz="3200" dirty="0" err="1">
                <a:solidFill>
                  <a:schemeClr val="tx1"/>
                </a:solidFill>
              </a:rPr>
              <a:t>new_value</a:t>
            </a:r>
            <a:r>
              <a:rPr lang="en-US" sz="3200" dirty="0">
                <a:solidFill>
                  <a:schemeClr val="tx1"/>
                </a:solidFill>
              </a:rPr>
              <a:t> 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iteam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iterable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sz="3200" dirty="0">
                <a:solidFill>
                  <a:schemeClr val="tx1"/>
                </a:solidFill>
              </a:rPr>
              <a:t> condition]</a:t>
            </a:r>
          </a:p>
        </p:txBody>
      </p:sp>
    </p:spTree>
    <p:extLst>
      <p:ext uri="{BB962C8B-B14F-4D97-AF65-F5344CB8AC3E}">
        <p14:creationId xmlns:p14="http://schemas.microsoft.com/office/powerpoint/2010/main" val="3695104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0E4D-4197-EFDC-264B-1ED055944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9DC6-CDEF-05F6-ED84-615DC9F77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F9E516-F8D2-E103-6FB4-197E54294D1F}"/>
              </a:ext>
            </a:extLst>
          </p:cNvPr>
          <p:cNvSpPr txBox="1"/>
          <p:nvPr/>
        </p:nvSpPr>
        <p:spPr>
          <a:xfrm>
            <a:off x="838200" y="1825625"/>
            <a:ext cx="7697066" cy="18158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 err="1">
                <a:solidFill>
                  <a:srgbClr val="A9B7C6"/>
                </a:solidFill>
                <a:effectLst/>
                <a:latin typeface="JetBrains Mono"/>
              </a:rPr>
              <a:t>nums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 = [-</a:t>
            </a:r>
            <a:r>
              <a:rPr lang="en-US" sz="2800" dirty="0"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lang="en-US" sz="28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-</a:t>
            </a:r>
            <a:r>
              <a:rPr lang="en-US" sz="2800" dirty="0"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lang="en-US" sz="28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lang="en-US" sz="28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lang="en-US" sz="28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JetBrains Mono"/>
              </a:rPr>
              <a:t>4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2800" dirty="0" err="1">
                <a:solidFill>
                  <a:srgbClr val="A9B7C6"/>
                </a:solidFill>
                <a:effectLst/>
                <a:latin typeface="JetBrains Mono"/>
              </a:rPr>
              <a:t>positive_doubled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 = [x * </a:t>
            </a:r>
            <a:r>
              <a:rPr lang="en-US" sz="2800" dirty="0">
                <a:solidFill>
                  <a:srgbClr val="6897BB"/>
                </a:solidFill>
                <a:effectLst/>
                <a:latin typeface="JetBrains Mono"/>
              </a:rPr>
              <a:t>2 </a:t>
            </a:r>
            <a:r>
              <a:rPr lang="en-US" sz="2800" dirty="0"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x </a:t>
            </a:r>
            <a:r>
              <a:rPr lang="en-US" sz="2800" dirty="0"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lang="en-US" sz="2800" dirty="0" err="1">
                <a:solidFill>
                  <a:srgbClr val="A9B7C6"/>
                </a:solidFill>
                <a:effectLst/>
                <a:latin typeface="JetBrains Mono"/>
              </a:rPr>
              <a:t>nums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lang="en-US" sz="2800" dirty="0">
                <a:solidFill>
                  <a:srgbClr val="CC7832"/>
                </a:solidFill>
                <a:effectLst/>
                <a:latin typeface="JetBrains Mono"/>
              </a:rPr>
              <a:t>if 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x &gt; </a:t>
            </a:r>
            <a:r>
              <a:rPr lang="en-US" sz="2800" dirty="0"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2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2800" dirty="0" err="1">
                <a:solidFill>
                  <a:srgbClr val="A9B7C6"/>
                </a:solidFill>
                <a:effectLst/>
                <a:latin typeface="JetBrains Mono"/>
              </a:rPr>
              <a:t>positive_doubled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)  </a:t>
            </a:r>
            <a:r>
              <a:rPr lang="en-US" sz="2800" dirty="0">
                <a:solidFill>
                  <a:srgbClr val="808080"/>
                </a:solidFill>
                <a:effectLst/>
                <a:latin typeface="JetBrains Mono"/>
              </a:rPr>
              <a:t># [4, 8]</a:t>
            </a:r>
            <a:endParaRPr lang="en-US" sz="2800" dirty="0">
              <a:solidFill>
                <a:srgbClr val="A9B7C6"/>
              </a:solidFill>
              <a:effectLst/>
              <a:latin typeface="JetBrains Mon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163F85-F452-A002-8216-C815D17E6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266" y="4707874"/>
            <a:ext cx="2184748" cy="103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6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7320-9D8A-1123-E4E4-F8F9AAE08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0CCC4-7E5F-E859-8211-76217E552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A19DC6-FE70-F3B1-AE7B-EB2AD9B11B07}"/>
              </a:ext>
            </a:extLst>
          </p:cNvPr>
          <p:cNvSpPr txBox="1"/>
          <p:nvPr/>
        </p:nvSpPr>
        <p:spPr>
          <a:xfrm>
            <a:off x="838200" y="1825625"/>
            <a:ext cx="9144000" cy="224676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numbers = [</a:t>
            </a:r>
            <a:r>
              <a:rPr lang="en-US" sz="2800" dirty="0"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lang="en-US" sz="28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lang="en-US" sz="28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lang="en-US" sz="28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JetBrains Mono"/>
              </a:rPr>
              <a:t>4</a:t>
            </a:r>
            <a:r>
              <a:rPr lang="en-US" sz="28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labels = [</a:t>
            </a:r>
            <a:r>
              <a:rPr lang="en-US" sz="2800" dirty="0">
                <a:solidFill>
                  <a:srgbClr val="6A8759"/>
                </a:solidFill>
                <a:effectLst/>
                <a:latin typeface="JetBrains Mono"/>
              </a:rPr>
              <a:t>"even" </a:t>
            </a:r>
            <a:r>
              <a:rPr lang="en-US" sz="2800" dirty="0">
                <a:solidFill>
                  <a:srgbClr val="CC7832"/>
                </a:solidFill>
                <a:effectLst/>
                <a:latin typeface="JetBrains Mono"/>
              </a:rPr>
              <a:t>if 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n % </a:t>
            </a:r>
            <a:r>
              <a:rPr lang="en-US" sz="2800" dirty="0">
                <a:solidFill>
                  <a:srgbClr val="6897BB"/>
                </a:solidFill>
                <a:effectLst/>
                <a:latin typeface="JetBrains Mono"/>
              </a:rPr>
              <a:t>2 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== </a:t>
            </a:r>
            <a:r>
              <a:rPr lang="en-US" sz="2800" dirty="0">
                <a:solidFill>
                  <a:srgbClr val="6897BB"/>
                </a:solidFill>
                <a:effectLst/>
                <a:latin typeface="JetBrains Mono"/>
              </a:rPr>
              <a:t>0 </a:t>
            </a:r>
            <a:r>
              <a:rPr lang="en-US" sz="2800" dirty="0">
                <a:solidFill>
                  <a:srgbClr val="CC7832"/>
                </a:solidFill>
                <a:effectLst/>
                <a:latin typeface="JetBrains Mono"/>
              </a:rPr>
              <a:t>else </a:t>
            </a:r>
            <a:r>
              <a:rPr lang="en-US" sz="2800" dirty="0">
                <a:solidFill>
                  <a:srgbClr val="6A8759"/>
                </a:solidFill>
                <a:effectLst/>
                <a:latin typeface="JetBrains Mono"/>
              </a:rPr>
              <a:t>"odd" </a:t>
            </a:r>
            <a:r>
              <a:rPr lang="en-US" sz="2800" dirty="0"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n </a:t>
            </a:r>
            <a:r>
              <a:rPr lang="en-US" sz="2800" dirty="0"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numbers]</a:t>
            </a:r>
            <a:b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2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sz="2800" dirty="0">
                <a:solidFill>
                  <a:srgbClr val="A9B7C6"/>
                </a:solidFill>
                <a:effectLst/>
                <a:latin typeface="JetBrains Mono"/>
              </a:rPr>
              <a:t>(labels)  </a:t>
            </a:r>
            <a:r>
              <a:rPr lang="en-US" sz="2800" dirty="0">
                <a:solidFill>
                  <a:srgbClr val="808080"/>
                </a:solidFill>
                <a:effectLst/>
                <a:latin typeface="JetBrains Mono"/>
              </a:rPr>
              <a:t># ['odd', 'even', 'odd', 'even', 'odd']</a:t>
            </a:r>
            <a:endParaRPr lang="en-US" sz="2800" dirty="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234791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F3FC-83E8-D462-E260-A36E5367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8F896-6A2E-4DBE-BF0C-E8477421884E}"/>
              </a:ext>
            </a:extLst>
          </p:cNvPr>
          <p:cNvSpPr txBox="1"/>
          <p:nvPr/>
        </p:nvSpPr>
        <p:spPr>
          <a:xfrm>
            <a:off x="838200" y="1784158"/>
            <a:ext cx="10216055" cy="10772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values = [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, True, 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32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3200" dirty="0">
                <a:solidFill>
                  <a:srgbClr val="8888C6"/>
                </a:solidFill>
                <a:effectLst/>
                <a:latin typeface="JetBrains Mono"/>
              </a:rPr>
              <a:t>all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(values))   </a:t>
            </a:r>
            <a:r>
              <a:rPr lang="en-US" sz="3200" dirty="0">
                <a:solidFill>
                  <a:srgbClr val="808080"/>
                </a:solidFill>
                <a:effectLst/>
                <a:latin typeface="JetBrains Mono"/>
              </a:rPr>
              <a:t># True, </a:t>
            </a:r>
            <a:r>
              <a:rPr lang="en-US" sz="32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որովհետև</a:t>
            </a:r>
            <a:r>
              <a:rPr lang="en-US" sz="32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32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բոլորը</a:t>
            </a:r>
            <a:r>
              <a:rPr lang="en-US" sz="3200" dirty="0">
                <a:solidFill>
                  <a:srgbClr val="808080"/>
                </a:solidFill>
                <a:effectLst/>
                <a:latin typeface="JetBrains Mono"/>
              </a:rPr>
              <a:t> True </a:t>
            </a:r>
            <a:r>
              <a:rPr lang="en-US" sz="32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են</a:t>
            </a:r>
            <a:endParaRPr lang="en-US" sz="3200" dirty="0">
              <a:solidFill>
                <a:srgbClr val="A9B7C6"/>
              </a:solidFill>
              <a:effectLst/>
              <a:latin typeface="JetBrains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89333C-719C-D9DF-7040-3BC061987D97}"/>
              </a:ext>
            </a:extLst>
          </p:cNvPr>
          <p:cNvSpPr txBox="1"/>
          <p:nvPr/>
        </p:nvSpPr>
        <p:spPr>
          <a:xfrm>
            <a:off x="838200" y="3458016"/>
            <a:ext cx="9333186" cy="10772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 err="1">
                <a:solidFill>
                  <a:srgbClr val="A9B7C6"/>
                </a:solidFill>
                <a:effectLst/>
                <a:latin typeface="JetBrains Mono"/>
              </a:rPr>
              <a:t>nums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 = [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-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32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3200" dirty="0">
                <a:solidFill>
                  <a:srgbClr val="8888C6"/>
                </a:solidFill>
                <a:effectLst/>
                <a:latin typeface="JetBrains Mono"/>
              </a:rPr>
              <a:t>all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(n &gt; 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0 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n 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lang="en-US" sz="3200" dirty="0" err="1">
                <a:solidFill>
                  <a:srgbClr val="A9B7C6"/>
                </a:solidFill>
                <a:effectLst/>
                <a:latin typeface="JetBrains Mono"/>
              </a:rPr>
              <a:t>nums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))  </a:t>
            </a:r>
            <a:r>
              <a:rPr lang="en-US" sz="3200" dirty="0">
                <a:solidFill>
                  <a:srgbClr val="808080"/>
                </a:solidFill>
                <a:effectLst/>
                <a:latin typeface="JetBrains Mono"/>
              </a:rPr>
              <a:t># False</a:t>
            </a:r>
            <a:endParaRPr lang="en-US" sz="3200" dirty="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429683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B980A-9361-5E02-A4BB-5D3499DC2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EBF9C-8718-487A-18B8-2689C56C8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2D08A-4176-DF00-AD31-CF0666996B96}"/>
              </a:ext>
            </a:extLst>
          </p:cNvPr>
          <p:cNvSpPr txBox="1"/>
          <p:nvPr/>
        </p:nvSpPr>
        <p:spPr>
          <a:xfrm>
            <a:off x="838200" y="1825625"/>
            <a:ext cx="7094483" cy="10772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>
                <a:solidFill>
                  <a:srgbClr val="A9B7C6"/>
                </a:solidFill>
                <a:effectLst/>
                <a:latin typeface="JetBrains Mono"/>
              </a:rPr>
              <a:t>answers = [</a:t>
            </a:r>
            <a:r>
              <a:rPr lang="en-US" sz="3200">
                <a:solidFill>
                  <a:srgbClr val="CC7832"/>
                </a:solidFill>
                <a:effectLst/>
                <a:latin typeface="JetBrains Mono"/>
              </a:rPr>
              <a:t>False, False, True, False</a:t>
            </a:r>
            <a:r>
              <a:rPr lang="en-US" sz="3200"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lang="en-US" sz="32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320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sz="320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3200">
                <a:solidFill>
                  <a:srgbClr val="8888C6"/>
                </a:solidFill>
                <a:effectLst/>
                <a:latin typeface="JetBrains Mono"/>
              </a:rPr>
              <a:t>any</a:t>
            </a:r>
            <a:r>
              <a:rPr lang="en-US" sz="3200">
                <a:solidFill>
                  <a:srgbClr val="A9B7C6"/>
                </a:solidFill>
                <a:effectLst/>
                <a:latin typeface="JetBrains Mono"/>
              </a:rPr>
              <a:t>(answers))  </a:t>
            </a:r>
            <a:r>
              <a:rPr lang="en-US" sz="3200">
                <a:solidFill>
                  <a:srgbClr val="808080"/>
                </a:solidFill>
                <a:effectLst/>
                <a:latin typeface="JetBrains Mono"/>
              </a:rPr>
              <a:t># True</a:t>
            </a:r>
            <a:endParaRPr lang="en-US" sz="3200" dirty="0">
              <a:solidFill>
                <a:srgbClr val="A9B7C6"/>
              </a:solidFill>
              <a:effectLst/>
              <a:latin typeface="JetBrains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09C954-6D11-F366-0DB8-A539D19E2BC1}"/>
              </a:ext>
            </a:extLst>
          </p:cNvPr>
          <p:cNvSpPr txBox="1"/>
          <p:nvPr/>
        </p:nvSpPr>
        <p:spPr>
          <a:xfrm>
            <a:off x="838200" y="3192545"/>
            <a:ext cx="7556938" cy="10772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 err="1">
                <a:solidFill>
                  <a:srgbClr val="A9B7C6"/>
                </a:solidFill>
                <a:effectLst/>
                <a:latin typeface="JetBrains Mono"/>
              </a:rPr>
              <a:t>nums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 = [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-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32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3200" dirty="0">
                <a:solidFill>
                  <a:srgbClr val="8888C6"/>
                </a:solidFill>
                <a:effectLst/>
                <a:latin typeface="JetBrains Mono"/>
              </a:rPr>
              <a:t>any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(n &gt; </a:t>
            </a:r>
            <a:r>
              <a:rPr lang="en-US" sz="3200" dirty="0">
                <a:solidFill>
                  <a:srgbClr val="6897BB"/>
                </a:solidFill>
                <a:effectLst/>
                <a:latin typeface="JetBrains Mono"/>
              </a:rPr>
              <a:t>0 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n </a:t>
            </a:r>
            <a:r>
              <a:rPr lang="en-US" sz="3200" dirty="0"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lang="en-US" sz="3200" dirty="0" err="1">
                <a:solidFill>
                  <a:srgbClr val="A9B7C6"/>
                </a:solidFill>
                <a:effectLst/>
                <a:latin typeface="JetBrains Mono"/>
              </a:rPr>
              <a:t>nums</a:t>
            </a:r>
            <a:r>
              <a:rPr lang="en-US" sz="3200" dirty="0">
                <a:solidFill>
                  <a:srgbClr val="A9B7C6"/>
                </a:solidFill>
                <a:effectLst/>
                <a:latin typeface="JetBrains Mono"/>
              </a:rPr>
              <a:t>))  </a:t>
            </a:r>
            <a:r>
              <a:rPr lang="en-US" sz="3200" dirty="0">
                <a:solidFill>
                  <a:srgbClr val="808080"/>
                </a:solidFill>
                <a:effectLst/>
                <a:latin typeface="JetBrains Mono"/>
              </a:rPr>
              <a:t>#True</a:t>
            </a:r>
            <a:endParaRPr lang="en-US" sz="3200" dirty="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716777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E613E6F-8741-44F7-7BC2-D2AA38F9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7" y="545126"/>
            <a:ext cx="9217026" cy="37839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100" dirty="0" err="1">
                <a:solidFill>
                  <a:srgbClr val="FFC000"/>
                </a:solidFill>
              </a:rPr>
              <a:t>Շնորհակալություն</a:t>
            </a:r>
            <a:endParaRPr lang="en-US" sz="8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43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9F95-E2B1-1E1D-6F69-37C3093F8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/>
              <a:t>Քննարկում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698253-77E9-27C6-D14B-88826EEDA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00" y="2173295"/>
            <a:ext cx="6932860" cy="175432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words = [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"hello"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"world"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"python"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lengths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list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map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words))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(lengths) 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D429B5-713C-8F10-9E5D-CAB09EF8F58A}"/>
              </a:ext>
            </a:extLst>
          </p:cNvPr>
          <p:cNvSpPr/>
          <p:nvPr/>
        </p:nvSpPr>
        <p:spPr>
          <a:xfrm>
            <a:off x="3636995" y="4674854"/>
            <a:ext cx="4297680" cy="1234440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[5, 5, 6]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5AA6E9-494F-D9B5-5540-E58EE8ABE02F}"/>
              </a:ext>
            </a:extLst>
          </p:cNvPr>
          <p:cNvSpPr/>
          <p:nvPr/>
        </p:nvSpPr>
        <p:spPr>
          <a:xfrm>
            <a:off x="540000" y="4834874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65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AD8C5-7B5D-3C44-F07A-FD19DC2F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91D85-757B-37A7-E5E8-5F8621F8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/>
              <a:t>Քննարկում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4FC-6E1A-9C23-4AD3-C7A67C70FCD3}"/>
              </a:ext>
            </a:extLst>
          </p:cNvPr>
          <p:cNvSpPr/>
          <p:nvPr/>
        </p:nvSpPr>
        <p:spPr>
          <a:xfrm>
            <a:off x="3636995" y="4674854"/>
            <a:ext cx="4297680" cy="1234440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[5, 7, 9]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4DA8E8-1A22-99D4-C69D-4E883EAF708E}"/>
              </a:ext>
            </a:extLst>
          </p:cNvPr>
          <p:cNvSpPr/>
          <p:nvPr/>
        </p:nvSpPr>
        <p:spPr>
          <a:xfrm>
            <a:off x="540000" y="4834874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3B9D5A7-667A-D561-FCA5-A542FCE6D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87" y="1646179"/>
            <a:ext cx="8718156" cy="286232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 = [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 = [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4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6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sum_result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list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map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lambda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y: x + 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b))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sum_result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2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FFF6-6242-EFB4-DC6C-F4C5D3509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E6A7E-0058-B30A-93C6-881749F6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/>
              <a:t>Քննարկում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C39651-A621-264F-F032-1E27EB38767B}"/>
              </a:ext>
            </a:extLst>
          </p:cNvPr>
          <p:cNvSpPr/>
          <p:nvPr/>
        </p:nvSpPr>
        <p:spPr>
          <a:xfrm>
            <a:off x="3636995" y="4674854"/>
            <a:ext cx="4297680" cy="1234440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['apple', 'good', 'banana']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F5CEC-0F07-2B12-A440-66672C26E5EA}"/>
              </a:ext>
            </a:extLst>
          </p:cNvPr>
          <p:cNvSpPr/>
          <p:nvPr/>
        </p:nvSpPr>
        <p:spPr>
          <a:xfrm>
            <a:off x="540000" y="4834874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CA8947-275E-B51D-5DAC-34C75F64C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5" y="1837303"/>
            <a:ext cx="11356442" cy="230832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words = [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"apple"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"is"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"good"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"banana"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"no"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long_words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list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filter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lambda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word: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(word) &gt;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words))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long_words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72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DEADF-8DF0-C1E7-AE48-EED6852B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B7EE-4362-A882-23EB-D9CD89F4A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9" y="172957"/>
            <a:ext cx="11101135" cy="1809500"/>
          </a:xfrm>
        </p:spPr>
        <p:txBody>
          <a:bodyPr/>
          <a:lstStyle/>
          <a:p>
            <a:r>
              <a:rPr lang="hy-AM" dirty="0"/>
              <a:t>Քննարկում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F26A99-D99E-A9EA-255D-886F29D26672}"/>
              </a:ext>
            </a:extLst>
          </p:cNvPr>
          <p:cNvSpPr/>
          <p:nvPr/>
        </p:nvSpPr>
        <p:spPr>
          <a:xfrm>
            <a:off x="8741524" y="3545585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CC18FE-BFB5-F9D9-0CC3-242CEB375879}"/>
              </a:ext>
            </a:extLst>
          </p:cNvPr>
          <p:cNvSpPr/>
          <p:nvPr/>
        </p:nvSpPr>
        <p:spPr>
          <a:xfrm>
            <a:off x="6549887" y="5183062"/>
            <a:ext cx="5318838" cy="1234440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[1, 2, 3, 4, 5, 6, 7, 8, 9]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B869A0-FEB5-3FF7-D0CC-A48E80319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49" y="1596383"/>
            <a:ext cx="7085658" cy="120032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matrix = [[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6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7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8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9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]]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flattened = [item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sublist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matrix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item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sublist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(flattened)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69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83361-07E5-5DE3-B406-2A2EFBEB9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FD0B8-7449-0094-3454-F1154AE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9" y="172957"/>
            <a:ext cx="11101135" cy="1809500"/>
          </a:xfrm>
        </p:spPr>
        <p:txBody>
          <a:bodyPr/>
          <a:lstStyle/>
          <a:p>
            <a:r>
              <a:rPr lang="hy-AM" dirty="0"/>
              <a:t>Քննարկում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C65192-9C6E-EE85-2844-7CB4F939BFC3}"/>
              </a:ext>
            </a:extLst>
          </p:cNvPr>
          <p:cNvSpPr/>
          <p:nvPr/>
        </p:nvSpPr>
        <p:spPr>
          <a:xfrm>
            <a:off x="8741524" y="3545585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2A6A56-7A49-3122-8EDF-5325685299CE}"/>
              </a:ext>
            </a:extLst>
          </p:cNvPr>
          <p:cNvSpPr/>
          <p:nvPr/>
        </p:nvSpPr>
        <p:spPr>
          <a:xfrm>
            <a:off x="6549887" y="5183062"/>
            <a:ext cx="5318838" cy="1234440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[1, 4, 3, 8, 5]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CAA6B5A-69AD-D8D8-1E1B-4060E9B7C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88" y="1742755"/>
            <a:ext cx="8449236" cy="15696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numbers = 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doubled = [num *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 %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numbers]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(doubled)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0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EBEC3-FF3E-A500-DD5C-C59986F18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B67F-FBEF-D24D-766E-6755AB16E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9" y="172957"/>
            <a:ext cx="11101135" cy="1809500"/>
          </a:xfrm>
        </p:spPr>
        <p:txBody>
          <a:bodyPr/>
          <a:lstStyle/>
          <a:p>
            <a:r>
              <a:rPr lang="hy-AM" dirty="0"/>
              <a:t>Քննարկում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35BF9C-3136-3B17-703C-1EB4796BCDC8}"/>
              </a:ext>
            </a:extLst>
          </p:cNvPr>
          <p:cNvSpPr/>
          <p:nvPr/>
        </p:nvSpPr>
        <p:spPr>
          <a:xfrm>
            <a:off x="8741524" y="3545585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A293DC-0A53-6A22-DAA4-00353286D9E4}"/>
              </a:ext>
            </a:extLst>
          </p:cNvPr>
          <p:cNvSpPr/>
          <p:nvPr/>
        </p:nvSpPr>
        <p:spPr>
          <a:xfrm>
            <a:off x="2683565" y="5183062"/>
            <a:ext cx="9185160" cy="1234440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[('Alice', 25, 'New York'), ('Bob', 30, 'Los Angeles'), ('Charlie', 35, 'Chicago')]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4519F8-BD94-FAB5-3923-6B4293DD9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357" y="1503763"/>
            <a:ext cx="5957400" cy="26776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names = 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"Alice"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"Bob"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"Charlie"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ages = 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cities = 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"New York"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"Los Angeles"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"Chicago"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zipped 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zip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(names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cities)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(zipped))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33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F0246-FFCE-AA2D-E3B6-3C22AB3D4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23F5-7B81-F5BF-54A3-C340E25E3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9" y="172957"/>
            <a:ext cx="11101135" cy="1809500"/>
          </a:xfrm>
        </p:spPr>
        <p:txBody>
          <a:bodyPr/>
          <a:lstStyle/>
          <a:p>
            <a:r>
              <a:rPr lang="hy-AM" dirty="0"/>
              <a:t>Քննարկում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2B1E0A-FAA4-57A1-865D-6A765F5CA8F6}"/>
              </a:ext>
            </a:extLst>
          </p:cNvPr>
          <p:cNvSpPr/>
          <p:nvPr/>
        </p:nvSpPr>
        <p:spPr>
          <a:xfrm>
            <a:off x="7986150" y="3595281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2C7266-D1A2-4F03-0930-C388E3C57C22}"/>
              </a:ext>
            </a:extLst>
          </p:cNvPr>
          <p:cNvSpPr/>
          <p:nvPr/>
        </p:nvSpPr>
        <p:spPr>
          <a:xfrm>
            <a:off x="6987209" y="5183062"/>
            <a:ext cx="4881516" cy="1234440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('Alice', 'Bob', 'Charlie')</a:t>
            </a:r>
          </a:p>
          <a:p>
            <a:r>
              <a:rPr lang="en-US" dirty="0"/>
              <a:t>(25, 30, 35)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1188752-09D2-F0A9-AE17-9E2C86307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235" y="1490008"/>
            <a:ext cx="6090129" cy="193899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zipped = [(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'Alice'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'Bob'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'Charlie'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)]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names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ages 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zip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(*zipped)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(names)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('Alice', 'Bob', 'Charlie')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(ages)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(25, 30, 35)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75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E7780781-3FAE-4E42-AE10-793197C7E948}" vid="{53D0403F-AFF4-49F8-A4B2-4D212A80F73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403</TotalTime>
  <Words>1031</Words>
  <Application>Microsoft Office PowerPoint</Application>
  <PresentationFormat>Widescreen</PresentationFormat>
  <Paragraphs>88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Arial Unicode MS</vt:lpstr>
      <vt:lpstr>Courier New</vt:lpstr>
      <vt:lpstr>JetBrains Mono</vt:lpstr>
      <vt:lpstr>Theme1</vt:lpstr>
      <vt:lpstr>Python Function 3</vt:lpstr>
      <vt:lpstr>Lambda Ֆունկցիաներ</vt:lpstr>
      <vt:lpstr>Lambda Ֆունկցիաներ</vt:lpstr>
      <vt:lpstr>map Ֆունկցիա </vt:lpstr>
      <vt:lpstr>filter() ֆունկցիա</vt:lpstr>
      <vt:lpstr>zip() Ֆունկցիա</vt:lpstr>
      <vt:lpstr>List Comprehension</vt:lpstr>
      <vt:lpstr>If Կրճատ գրելաձև</vt:lpstr>
      <vt:lpstr>List Comprehension կառուցվածք</vt:lpstr>
      <vt:lpstr>PowerPoint Presentation</vt:lpstr>
      <vt:lpstr>PowerPoint Presentation</vt:lpstr>
      <vt:lpstr>All</vt:lpstr>
      <vt:lpstr>Any</vt:lpstr>
      <vt:lpstr>Շնորհակալություն</vt:lpstr>
      <vt:lpstr>Քննարկում</vt:lpstr>
      <vt:lpstr>Քննարկում</vt:lpstr>
      <vt:lpstr>Քննարկում</vt:lpstr>
      <vt:lpstr>Քննարկում</vt:lpstr>
      <vt:lpstr>Քննարկում</vt:lpstr>
      <vt:lpstr>Քննարկում</vt:lpstr>
      <vt:lpstr>Քննարկում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Հովսեփյան Գոռ Արտակի</dc:creator>
  <cp:lastModifiedBy>Հովսեփյան Գոռ Արտակի</cp:lastModifiedBy>
  <cp:revision>7</cp:revision>
  <dcterms:created xsi:type="dcterms:W3CDTF">2025-03-24T20:07:07Z</dcterms:created>
  <dcterms:modified xsi:type="dcterms:W3CDTF">2025-11-18T14:40:09Z</dcterms:modified>
</cp:coreProperties>
</file>