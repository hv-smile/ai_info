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Lst>
  <p:sldSz cy="5143500" cx="9144000"/>
  <p:notesSz cx="6858000" cy="9144000"/>
  <p:embeddedFontLst>
    <p:embeddedFont>
      <p:font typeface="Lato"/>
      <p:regular r:id="rId150"/>
      <p:bold r:id="rId151"/>
      <p:italic r:id="rId152"/>
      <p:boldItalic r:id="rId153"/>
    </p:embeddedFont>
    <p:embeddedFont>
      <p:font typeface="Urbanist ExtraLight"/>
      <p:regular r:id="rId154"/>
      <p:bold r:id="rId155"/>
      <p:italic r:id="rId156"/>
      <p:boldItalic r:id="rId157"/>
    </p:embeddedFont>
    <p:embeddedFont>
      <p:font typeface="Urbanist Medium"/>
      <p:regular r:id="rId158"/>
      <p:bold r:id="rId159"/>
      <p:italic r:id="rId160"/>
      <p:boldItalic r:id="rId161"/>
    </p:embeddedFont>
    <p:embeddedFont>
      <p:font typeface="Urbanist SemiBold"/>
      <p:regular r:id="rId162"/>
      <p:bold r:id="rId163"/>
      <p:italic r:id="rId164"/>
      <p:boldItalic r:id="rId165"/>
    </p:embeddedFont>
    <p:embeddedFont>
      <p:font typeface="Urbanist"/>
      <p:regular r:id="rId166"/>
      <p:bold r:id="rId167"/>
      <p:italic r:id="rId168"/>
      <p:boldItalic r:id="rId169"/>
    </p:embeddedFont>
    <p:embeddedFont>
      <p:font typeface="Helvetica Neue"/>
      <p:regular r:id="rId170"/>
      <p:bold r:id="rId171"/>
      <p:italic r:id="rId172"/>
      <p:boldItalic r:id="rId173"/>
    </p:embeddedFont>
    <p:embeddedFont>
      <p:font typeface="Urbanist ExtraBold"/>
      <p:bold r:id="rId174"/>
      <p:boldItalic r:id="rId175"/>
    </p:embeddedFont>
    <p:embeddedFont>
      <p:font typeface="Helvetica Neue Light"/>
      <p:regular r:id="rId176"/>
      <p:bold r:id="rId177"/>
      <p:italic r:id="rId178"/>
      <p:boldItalic r:id="rId1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B8CB50-37E8-4FF0-90C8-70755F0B0C13}">
  <a:tblStyle styleId="{41B8CB50-37E8-4FF0-90C8-70755F0B0C13}"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176" Type="http://schemas.openxmlformats.org/officeDocument/2006/relationships/font" Target="fonts/HelveticaNeueLight-regular.fntdata"/><Relationship Id="rId36" Type="http://schemas.openxmlformats.org/officeDocument/2006/relationships/slide" Target="slides/slide30.xml"/><Relationship Id="rId175" Type="http://schemas.openxmlformats.org/officeDocument/2006/relationships/font" Target="fonts/UrbanistExtraBold-boldItalic.fntdata"/><Relationship Id="rId39" Type="http://schemas.openxmlformats.org/officeDocument/2006/relationships/slide" Target="slides/slide33.xml"/><Relationship Id="rId174" Type="http://schemas.openxmlformats.org/officeDocument/2006/relationships/font" Target="fonts/UrbanistExtraBold-bold.fntdata"/><Relationship Id="rId38" Type="http://schemas.openxmlformats.org/officeDocument/2006/relationships/slide" Target="slides/slide32.xml"/><Relationship Id="rId173" Type="http://schemas.openxmlformats.org/officeDocument/2006/relationships/font" Target="fonts/HelveticaNeue-boldItalic.fntdata"/><Relationship Id="rId179" Type="http://schemas.openxmlformats.org/officeDocument/2006/relationships/font" Target="fonts/HelveticaNeueLight-boldItalic.fntdata"/><Relationship Id="rId178" Type="http://schemas.openxmlformats.org/officeDocument/2006/relationships/font" Target="fonts/HelveticaNeueLight-italic.fntdata"/><Relationship Id="rId177" Type="http://schemas.openxmlformats.org/officeDocument/2006/relationships/font" Target="fonts/HelveticaNeueLight-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font" Target="fonts/Lato-regular.fntdata"/><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font" Target="fonts/HelveticaNeue-italic.fntdata"/><Relationship Id="rId65" Type="http://schemas.openxmlformats.org/officeDocument/2006/relationships/slide" Target="slides/slide59.xml"/><Relationship Id="rId171" Type="http://schemas.openxmlformats.org/officeDocument/2006/relationships/font" Target="fonts/HelveticaNeue-bold.fntdata"/><Relationship Id="rId68" Type="http://schemas.openxmlformats.org/officeDocument/2006/relationships/slide" Target="slides/slide62.xml"/><Relationship Id="rId170" Type="http://schemas.openxmlformats.org/officeDocument/2006/relationships/font" Target="fonts/HelveticaNeue-regular.fntdata"/><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font" Target="fonts/UrbanistSemiBold-boldItalic.fntdata"/><Relationship Id="rId69" Type="http://schemas.openxmlformats.org/officeDocument/2006/relationships/slide" Target="slides/slide63.xml"/><Relationship Id="rId164" Type="http://schemas.openxmlformats.org/officeDocument/2006/relationships/font" Target="fonts/UrbanistSemiBold-italic.fntdata"/><Relationship Id="rId163" Type="http://schemas.openxmlformats.org/officeDocument/2006/relationships/font" Target="fonts/UrbanistSemiBold-bold.fntdata"/><Relationship Id="rId162" Type="http://schemas.openxmlformats.org/officeDocument/2006/relationships/font" Target="fonts/UrbanistSemiBold-regular.fntdata"/><Relationship Id="rId169" Type="http://schemas.openxmlformats.org/officeDocument/2006/relationships/font" Target="fonts/Urbanist-boldItalic.fntdata"/><Relationship Id="rId168" Type="http://schemas.openxmlformats.org/officeDocument/2006/relationships/font" Target="fonts/Urbanist-italic.fntdata"/><Relationship Id="rId167" Type="http://schemas.openxmlformats.org/officeDocument/2006/relationships/font" Target="fonts/Urbanist-bold.fntdata"/><Relationship Id="rId166" Type="http://schemas.openxmlformats.org/officeDocument/2006/relationships/font" Target="fonts/Urbanist-regular.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font" Target="fonts/UrbanistMedium-boldItalic.fntdata"/><Relationship Id="rId54" Type="http://schemas.openxmlformats.org/officeDocument/2006/relationships/slide" Target="slides/slide48.xml"/><Relationship Id="rId160" Type="http://schemas.openxmlformats.org/officeDocument/2006/relationships/font" Target="fonts/UrbanistMedium-italic.fntdata"/><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font" Target="fonts/UrbanistMedium-bold.fntdata"/><Relationship Id="rId59" Type="http://schemas.openxmlformats.org/officeDocument/2006/relationships/slide" Target="slides/slide53.xml"/><Relationship Id="rId154" Type="http://schemas.openxmlformats.org/officeDocument/2006/relationships/font" Target="fonts/UrbanistExtraLight-regular.fntdata"/><Relationship Id="rId58" Type="http://schemas.openxmlformats.org/officeDocument/2006/relationships/slide" Target="slides/slide52.xml"/><Relationship Id="rId153" Type="http://schemas.openxmlformats.org/officeDocument/2006/relationships/font" Target="fonts/Lato-boldItalic.fntdata"/><Relationship Id="rId152" Type="http://schemas.openxmlformats.org/officeDocument/2006/relationships/font" Target="fonts/Lato-italic.fntdata"/><Relationship Id="rId151" Type="http://schemas.openxmlformats.org/officeDocument/2006/relationships/font" Target="fonts/Lato-bold.fntdata"/><Relationship Id="rId158" Type="http://schemas.openxmlformats.org/officeDocument/2006/relationships/font" Target="fonts/UrbanistMedium-regular.fntdata"/><Relationship Id="rId157" Type="http://schemas.openxmlformats.org/officeDocument/2006/relationships/font" Target="fonts/UrbanistExtraLight-boldItalic.fntdata"/><Relationship Id="rId156" Type="http://schemas.openxmlformats.org/officeDocument/2006/relationships/font" Target="fonts/UrbanistExtraLight-italic.fntdata"/><Relationship Id="rId155" Type="http://schemas.openxmlformats.org/officeDocument/2006/relationships/font" Target="fonts/UrbanistExtra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m.wikipedia.org/wiki/History_of_artificial_intelligence"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m.wikipedia.org/wiki/History_of_artificial_intelligence"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m.wikipedia.org/wiki/History_of_artificial_intelligence"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m.wikipedia.org/wiki/History_of_artificial_intelligence"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m.wikipedia.org/wiki/History_of_artificial_intelligence"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m.wikipedia.org/wiki/History_of_artificial_intelligence"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m.wikipedia.org/wiki/History_of_artificial_intelligence"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m.wikipedia.org/wiki/History_of_artificial_intelligence"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m.wikipedia.org/wiki/History_of_artificial_intelligence"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74406fb68e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2" name="Google Shape;62;g374406fb68e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74406fb68e_0_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9" name="Google Shape;69;g374406fb68e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74406fb68e_0_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8" name="Google Shape;78;g374406fb68e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74406fb68e_0_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5" name="Google Shape;85;g374406fb68e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76a54e07a5_1_40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1000"/>
              </a:spcAft>
              <a:buClr>
                <a:schemeClr val="dk1"/>
              </a:buClr>
              <a:buSzPts val="1100"/>
              <a:buFont typeface="Arial"/>
              <a:buNone/>
            </a:pPr>
            <a:r>
              <a:rPr lang="ru" sz="1200">
                <a:solidFill>
                  <a:schemeClr val="dk1"/>
                </a:solidFill>
              </a:rPr>
              <a:t>Աղբյուրը հանդիսանում է վիքիփեդիայի հետևյալ </a:t>
            </a:r>
            <a:r>
              <a:rPr lang="ru" sz="1200" u="sng">
                <a:solidFill>
                  <a:srgbClr val="1155CC"/>
                </a:solidFill>
                <a:hlinkClick r:id="rId2">
                  <a:extLst>
                    <a:ext uri="{A12FA001-AC4F-418D-AE19-62706E023703}">
                      <ahyp:hlinkClr val="tx"/>
                    </a:ext>
                  </a:extLst>
                </a:hlinkClick>
              </a:rPr>
              <a:t>հոդվածը</a:t>
            </a:r>
            <a:r>
              <a:rPr lang="ru" sz="1200">
                <a:solidFill>
                  <a:schemeClr val="dk1"/>
                </a:solidFill>
              </a:rPr>
              <a:t>։</a:t>
            </a:r>
            <a:endParaRPr/>
          </a:p>
        </p:txBody>
      </p:sp>
      <p:sp>
        <p:nvSpPr>
          <p:cNvPr id="92" name="Google Shape;92;g376a54e07a5_1_4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6a54e07a5_1_4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1000"/>
              </a:spcAft>
              <a:buSzPts val="1100"/>
              <a:buNone/>
            </a:pPr>
            <a:r>
              <a:rPr lang="ru" sz="1200">
                <a:solidFill>
                  <a:schemeClr val="dk1"/>
                </a:solidFill>
              </a:rPr>
              <a:t>Աղբյուրը հանդիսանում է վիքիփեդիայի հետևյալ </a:t>
            </a:r>
            <a:r>
              <a:rPr lang="ru" sz="1200" u="sng">
                <a:solidFill>
                  <a:srgbClr val="1155CC"/>
                </a:solidFill>
                <a:hlinkClick r:id="rId2">
                  <a:extLst>
                    <a:ext uri="{A12FA001-AC4F-418D-AE19-62706E023703}">
                      <ahyp:hlinkClr val="tx"/>
                    </a:ext>
                  </a:extLst>
                </a:hlinkClick>
              </a:rPr>
              <a:t>հոդվածը</a:t>
            </a:r>
            <a:r>
              <a:rPr lang="ru"/>
              <a:t>։</a:t>
            </a:r>
            <a:endParaRPr/>
          </a:p>
        </p:txBody>
      </p:sp>
      <p:sp>
        <p:nvSpPr>
          <p:cNvPr id="99" name="Google Shape;99;g376a54e07a5_1_4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6a54e07a5_1_4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1000"/>
              </a:spcAft>
              <a:buSzPts val="1100"/>
              <a:buNone/>
            </a:pPr>
            <a:r>
              <a:rPr lang="ru" sz="1200">
                <a:solidFill>
                  <a:schemeClr val="dk1"/>
                </a:solidFill>
              </a:rPr>
              <a:t>Աղբյուրը հանդիսանում է վիքիփեդիայի հետևյալ </a:t>
            </a:r>
            <a:r>
              <a:rPr lang="ru" sz="1200" u="sng">
                <a:solidFill>
                  <a:srgbClr val="1155CC"/>
                </a:solidFill>
                <a:hlinkClick r:id="rId2">
                  <a:extLst>
                    <a:ext uri="{A12FA001-AC4F-418D-AE19-62706E023703}">
                      <ahyp:hlinkClr val="tx"/>
                    </a:ext>
                  </a:extLst>
                </a:hlinkClick>
              </a:rPr>
              <a:t>հոդվածը</a:t>
            </a:r>
            <a:r>
              <a:rPr lang="ru">
                <a:solidFill>
                  <a:schemeClr val="dk1"/>
                </a:solidFill>
              </a:rPr>
              <a:t>։</a:t>
            </a:r>
            <a:endParaRPr/>
          </a:p>
        </p:txBody>
      </p:sp>
      <p:sp>
        <p:nvSpPr>
          <p:cNvPr id="106" name="Google Shape;106;g376a54e07a5_1_4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76a54e07a5_1_4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1000"/>
              </a:spcAft>
              <a:buSzPts val="1100"/>
              <a:buNone/>
            </a:pPr>
            <a:r>
              <a:rPr lang="ru" sz="1200">
                <a:solidFill>
                  <a:schemeClr val="dk1"/>
                </a:solidFill>
              </a:rPr>
              <a:t>Աղբյուրը հանդիսանում է վիքիփեդիայի հետևյալ </a:t>
            </a:r>
            <a:r>
              <a:rPr lang="ru" sz="1200" u="sng">
                <a:solidFill>
                  <a:srgbClr val="1155CC"/>
                </a:solidFill>
                <a:hlinkClick r:id="rId2">
                  <a:extLst>
                    <a:ext uri="{A12FA001-AC4F-418D-AE19-62706E023703}">
                      <ahyp:hlinkClr val="tx"/>
                    </a:ext>
                  </a:extLst>
                </a:hlinkClick>
              </a:rPr>
              <a:t>հոդվածը</a:t>
            </a:r>
            <a:r>
              <a:rPr lang="ru">
                <a:solidFill>
                  <a:schemeClr val="dk1"/>
                </a:solidFill>
              </a:rPr>
              <a:t>։</a:t>
            </a:r>
            <a:endParaRPr/>
          </a:p>
        </p:txBody>
      </p:sp>
      <p:sp>
        <p:nvSpPr>
          <p:cNvPr id="113" name="Google Shape;113;g376a54e07a5_1_4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6a54e07a5_1_4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100"/>
              <a:buFont typeface="Arial"/>
              <a:buNone/>
            </a:pPr>
            <a:r>
              <a:rPr lang="ru" sz="1200">
                <a:solidFill>
                  <a:schemeClr val="dk1"/>
                </a:solidFill>
              </a:rPr>
              <a:t>Աղբյուրը հանդիսանում է վիքիփեդիայի հետևյալ </a:t>
            </a:r>
            <a:r>
              <a:rPr lang="ru" sz="1200" u="sng">
                <a:solidFill>
                  <a:srgbClr val="1155CC"/>
                </a:solidFill>
                <a:hlinkClick r:id="rId2">
                  <a:extLst>
                    <a:ext uri="{A12FA001-AC4F-418D-AE19-62706E023703}">
                      <ahyp:hlinkClr val="tx"/>
                    </a:ext>
                  </a:extLst>
                </a:hlinkClick>
              </a:rPr>
              <a:t>հոդվածը</a:t>
            </a:r>
            <a:r>
              <a:rPr lang="ru">
                <a:solidFill>
                  <a:schemeClr val="dk1"/>
                </a:solidFill>
              </a:rPr>
              <a:t>։</a:t>
            </a:r>
            <a:endParaRPr>
              <a:solidFill>
                <a:schemeClr val="dk1"/>
              </a:solidFill>
            </a:endParaRPr>
          </a:p>
          <a:p>
            <a:pPr indent="0" lvl="0" marL="0" rtl="0" algn="l">
              <a:lnSpc>
                <a:spcPct val="117999"/>
              </a:lnSpc>
              <a:spcBef>
                <a:spcPts val="1000"/>
              </a:spcBef>
              <a:spcAft>
                <a:spcPts val="0"/>
              </a:spcAft>
              <a:buSzPts val="1400"/>
              <a:buNone/>
            </a:pPr>
            <a:r>
              <a:t/>
            </a:r>
            <a:endParaRPr/>
          </a:p>
        </p:txBody>
      </p:sp>
      <p:sp>
        <p:nvSpPr>
          <p:cNvPr id="120" name="Google Shape;120;g376a54e07a5_1_4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6a54e07a5_1_4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1000"/>
              </a:spcAft>
              <a:buSzPts val="1100"/>
              <a:buNone/>
            </a:pPr>
            <a:r>
              <a:rPr lang="ru" sz="1200">
                <a:solidFill>
                  <a:schemeClr val="dk1"/>
                </a:solidFill>
              </a:rPr>
              <a:t>Աղբյուրը հանդիսանում է վիքիփեդիայի հետևյալ </a:t>
            </a:r>
            <a:r>
              <a:rPr lang="ru" sz="1200" u="sng">
                <a:solidFill>
                  <a:srgbClr val="1155CC"/>
                </a:solidFill>
                <a:hlinkClick r:id="rId2">
                  <a:extLst>
                    <a:ext uri="{A12FA001-AC4F-418D-AE19-62706E023703}">
                      <ahyp:hlinkClr val="tx"/>
                    </a:ext>
                  </a:extLst>
                </a:hlinkClick>
              </a:rPr>
              <a:t>հոդվածը</a:t>
            </a:r>
            <a:r>
              <a:rPr lang="ru">
                <a:solidFill>
                  <a:schemeClr val="dk1"/>
                </a:solidFill>
              </a:rPr>
              <a:t>։</a:t>
            </a:r>
            <a:endParaRPr/>
          </a:p>
        </p:txBody>
      </p:sp>
      <p:sp>
        <p:nvSpPr>
          <p:cNvPr id="127" name="Google Shape;127;g376a54e07a5_1_4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6a54e07a5_1_4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1000"/>
              </a:spcAft>
              <a:buSzPts val="1100"/>
              <a:buNone/>
            </a:pPr>
            <a:r>
              <a:rPr lang="ru" sz="1200">
                <a:solidFill>
                  <a:schemeClr val="dk1"/>
                </a:solidFill>
              </a:rPr>
              <a:t>Աղբյուրը հանդիսանում է վիքիփեդիայի հետևյալ </a:t>
            </a:r>
            <a:r>
              <a:rPr lang="ru" sz="1200" u="sng">
                <a:solidFill>
                  <a:srgbClr val="1155CC"/>
                </a:solidFill>
                <a:hlinkClick r:id="rId2">
                  <a:extLst>
                    <a:ext uri="{A12FA001-AC4F-418D-AE19-62706E023703}">
                      <ahyp:hlinkClr val="tx"/>
                    </a:ext>
                  </a:extLst>
                </a:hlinkClick>
              </a:rPr>
              <a:t>հոդվածը</a:t>
            </a:r>
            <a:r>
              <a:rPr lang="ru">
                <a:solidFill>
                  <a:schemeClr val="dk1"/>
                </a:solidFill>
              </a:rPr>
              <a:t>։</a:t>
            </a:r>
            <a:endParaRPr/>
          </a:p>
        </p:txBody>
      </p:sp>
      <p:sp>
        <p:nvSpPr>
          <p:cNvPr id="134" name="Google Shape;134;g376a54e07a5_1_4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76a54e07a5_1_4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1000"/>
              </a:spcAft>
              <a:buSzPts val="1100"/>
              <a:buNone/>
            </a:pPr>
            <a:r>
              <a:rPr lang="ru" sz="1200">
                <a:solidFill>
                  <a:schemeClr val="dk1"/>
                </a:solidFill>
              </a:rPr>
              <a:t>Աղբյուրը հանդիսանում է վիքիփեդիայի հետևյալ </a:t>
            </a:r>
            <a:r>
              <a:rPr lang="ru" sz="1200" u="sng">
                <a:solidFill>
                  <a:srgbClr val="1155CC"/>
                </a:solidFill>
                <a:hlinkClick r:id="rId2">
                  <a:extLst>
                    <a:ext uri="{A12FA001-AC4F-418D-AE19-62706E023703}">
                      <ahyp:hlinkClr val="tx"/>
                    </a:ext>
                  </a:extLst>
                </a:hlinkClick>
              </a:rPr>
              <a:t>հոդվածը</a:t>
            </a:r>
            <a:r>
              <a:rPr lang="ru">
                <a:solidFill>
                  <a:schemeClr val="dk1"/>
                </a:solidFill>
              </a:rPr>
              <a:t>։</a:t>
            </a:r>
            <a:endParaRPr/>
          </a:p>
        </p:txBody>
      </p:sp>
      <p:sp>
        <p:nvSpPr>
          <p:cNvPr id="141" name="Google Shape;141;g376a54e07a5_1_4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6a54e07a5_1_4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1000"/>
              </a:spcAft>
              <a:buSzPts val="1100"/>
              <a:buNone/>
            </a:pPr>
            <a:r>
              <a:rPr lang="ru" sz="1200">
                <a:solidFill>
                  <a:schemeClr val="dk1"/>
                </a:solidFill>
              </a:rPr>
              <a:t>Աղբյուրը հանդիսանում է վիքիփեդիայի հետևյալ </a:t>
            </a:r>
            <a:r>
              <a:rPr lang="ru" sz="1200" u="sng">
                <a:solidFill>
                  <a:srgbClr val="1155CC"/>
                </a:solidFill>
                <a:hlinkClick r:id="rId2">
                  <a:extLst>
                    <a:ext uri="{A12FA001-AC4F-418D-AE19-62706E023703}">
                      <ahyp:hlinkClr val="tx"/>
                    </a:ext>
                  </a:extLst>
                </a:hlinkClick>
              </a:rPr>
              <a:t>հոդվածը</a:t>
            </a:r>
            <a:r>
              <a:rPr lang="ru">
                <a:solidFill>
                  <a:schemeClr val="dk1"/>
                </a:solidFill>
              </a:rPr>
              <a:t>։</a:t>
            </a:r>
            <a:endParaRPr/>
          </a:p>
        </p:txBody>
      </p:sp>
      <p:sp>
        <p:nvSpPr>
          <p:cNvPr id="148" name="Google Shape;148;g376a54e07a5_1_4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76a54e07a5_1_4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5" name="Google Shape;155;g376a54e07a5_1_4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76a54e07a5_1_47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2" name="Google Shape;162;g376a54e07a5_1_4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6a54e07a5_1_48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9" name="Google Shape;169;g376a54e07a5_1_4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76a54e07a5_1_49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6" name="Google Shape;176;g376a54e07a5_1_4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6a54e07a5_1_50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3" name="Google Shape;183;g376a54e07a5_1_5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76a54e07a5_1_5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0" name="Google Shape;190;g376a54e07a5_1_5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6a54e07a5_1_5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7" name="Google Shape;197;g376a54e07a5_1_5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747d8d95fa_0_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4" name="Google Shape;204;g3747d8d95fa_0_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47d8d95fa_0_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11" name="Google Shape;211;g3747d8d95fa_0_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47d8d95fa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747d8d95fa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747d8d95fa_0_2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24" name="Google Shape;224;g3747d8d95fa_0_2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7517578107_0_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1" name="Google Shape;231;g37517578107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747d8d95fa_0_2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ru"/>
              <a:t>նկարի աղբյուր՝ </a:t>
            </a:r>
            <a:r>
              <a:rPr lang="ru"/>
              <a:t>https://www.google.com/url?sa=i&amp;url=https%3A%2F%2Fmedium.com%2F%40TacticsFC%2Fanalyzing-football-data-with-python-7b4e89c7abd8&amp;psig=AOvVaw3At7hUYRUpbGYA8f5LJv-m&amp;ust=1755352986271000&amp;source=images&amp;cd=vfe&amp;opi=89978449&amp;ved=0CBcQjhxqFwoTCKDQ-eX9jI8DFQAAAAAdAAAAABAV</a:t>
            </a:r>
            <a:endParaRPr/>
          </a:p>
        </p:txBody>
      </p:sp>
      <p:sp>
        <p:nvSpPr>
          <p:cNvPr id="239" name="Google Shape;239;g3747d8d95fa_0_2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47d8d95fa_0_2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48" name="Google Shape;248;g3747d8d95fa_0_2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747d8d95fa_0_29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ru"/>
              <a:t>Նկարի աղբյուր՝ https://creativepro.com/wp-content/uploads/sites/default/files/story_images/20090212_fg09a.jpg</a:t>
            </a:r>
            <a:endParaRPr/>
          </a:p>
        </p:txBody>
      </p:sp>
      <p:sp>
        <p:nvSpPr>
          <p:cNvPr id="257" name="Google Shape;257;g3747d8d95fa_0_2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47d8d95fa_0_30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ru"/>
              <a:t>Նկարի աղբյուր՝ https://www.groupbuyseotools.org/wp-content/uploads/2022/01/QuillBot.jpg</a:t>
            </a:r>
            <a:endParaRPr/>
          </a:p>
        </p:txBody>
      </p:sp>
      <p:sp>
        <p:nvSpPr>
          <p:cNvPr id="266" name="Google Shape;266;g3747d8d95fa_0_3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747d8d95fa_0_30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ru"/>
              <a:t>Նկարի աղբյուր՝ https://play.google.com/store/apps/details?id=com.prometheusinteractive.voice_launcher</a:t>
            </a:r>
            <a:endParaRPr/>
          </a:p>
        </p:txBody>
      </p:sp>
      <p:sp>
        <p:nvSpPr>
          <p:cNvPr id="275" name="Google Shape;275;g3747d8d95fa_0_3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7528e84152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84" name="Google Shape;284;g37528e8415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7528e84152_0_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91" name="Google Shape;291;g37528e84152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7528e84152_0_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99" name="Google Shape;299;g37528e84152_0_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7528e84152_0_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06" name="Google Shape;306;g37528e84152_0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528e84152_0_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13" name="Google Shape;313;g37528e84152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7528e84152_0_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20" name="Google Shape;320;g37528e84152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7528e84152_0_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27" name="Google Shape;327;g37528e84152_0_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7528e84152_0_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34" name="Google Shape;334;g37528e84152_0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7528e84152_0_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41" name="Google Shape;341;g37528e84152_0_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7528e84152_0_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48" name="Google Shape;348;g37528e84152_0_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7528e84152_0_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55" name="Google Shape;355;g37528e84152_0_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7528e84152_0_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62" name="Google Shape;362;g37528e84152_0_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7528e84152_0_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69" name="Google Shape;369;g37528e84152_0_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7528e84152_0_10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76" name="Google Shape;376;g37528e84152_0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7528e84152_0_1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83" name="Google Shape;383;g37528e84152_0_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7528e84152_0_1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ru">
                <a:solidFill>
                  <a:schemeClr val="dk1"/>
                </a:solidFill>
              </a:rPr>
              <a:t>Նկարը գեներացված է ChatGPT -ով</a:t>
            </a:r>
            <a:endParaRPr/>
          </a:p>
        </p:txBody>
      </p:sp>
      <p:sp>
        <p:nvSpPr>
          <p:cNvPr id="390" name="Google Shape;390;g37528e84152_0_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7528e84152_0_1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ru"/>
              <a:t>Նկարը գեներացված է ChatGPT -ով</a:t>
            </a:r>
            <a:endParaRPr/>
          </a:p>
        </p:txBody>
      </p:sp>
      <p:sp>
        <p:nvSpPr>
          <p:cNvPr id="398" name="Google Shape;398;g37528e84152_0_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7528e84152_0_1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06" name="Google Shape;406;g37528e84152_0_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7528e84152_0_1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14" name="Google Shape;414;g37528e84152_0_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794aa0357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794aa0357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7528e84152_0_1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27" name="Google Shape;427;g37528e84152_0_1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7528e84152_0_1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34" name="Google Shape;434;g37528e84152_0_1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7528e84152_0_20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41" name="Google Shape;441;g37528e84152_0_2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7528e84152_0_2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48" name="Google Shape;448;g37528e84152_0_2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7528e84152_0_2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55" name="Google Shape;455;g37528e84152_0_2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7528e84152_0_2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62" name="Google Shape;462;g37528e84152_0_2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7528e84152_0_2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69" name="Google Shape;469;g37528e84152_0_2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7528e84152_0_2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76" name="Google Shape;476;g37528e84152_0_2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7528e84152_0_2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3" name="Google Shape;483;g37528e84152_0_2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7528e84152_0_2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90" name="Google Shape;490;g37528e84152_0_2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76934e69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76934e69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76934e69e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76934e69e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76934e69e0_0_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09" name="Google Shape;509;g376934e69e0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7528e84152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7528e84152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76934e69e0_0_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23" name="Google Shape;523;g376934e69e0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76934e69e0_0_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30" name="Google Shape;530;g376934e69e0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76934e69e0_0_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37" name="Google Shape;537;g376934e69e0_0_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794aa0357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794aa0357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794aa03571_0_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50" name="Google Shape;550;g3794aa03571_0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76934e69e0_0_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57" name="Google Shape;557;g376934e69e0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76934e69e0_0_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64" name="Google Shape;564;g376934e69e0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76934e69e0_0_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71" name="Google Shape;571;g376934e69e0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76934e69e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76934e69e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76934e69e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76934e69e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76934e69e0_0_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90" name="Google Shape;590;g376934e69e0_0_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76934e69e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76934e69e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76934e69e0_0_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04" name="Google Shape;604;g376934e69e0_0_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76a54e07a5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11" name="Google Shape;611;g376a54e07a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76a54e07a5_0_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18" name="Google Shape;618;g376a54e07a5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76a54e07a5_0_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25" name="Google Shape;625;g376a54e07a5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76a54e07a5_0_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32" name="Google Shape;632;g376a54e07a5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76a54e07a5_0_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39" name="Google Shape;639;g376a54e07a5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76a54e07a5_0_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46" name="Google Shape;646;g376a54e07a5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76a54e07a5_0_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53" name="Google Shape;653;g376a54e07a5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76a54e07a5_0_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60" name="Google Shape;660;g376a54e07a5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76a54e07a5_0_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67" name="Google Shape;667;g376a54e07a5_0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76a54e07a5_0_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74" name="Google Shape;674;g376a54e07a5_0_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76a54e07a5_0_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81" name="Google Shape;681;g376a54e07a5_0_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76a54e07a5_0_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88" name="Google Shape;688;g376a54e07a5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76a54e07a5_0_7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95" name="Google Shape;695;g376a54e07a5_0_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76a54e07a5_0_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02" name="Google Shape;702;g376a54e07a5_0_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76a54e07a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76a54e07a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76a54e07a5_0_10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15" name="Google Shape;715;g376a54e07a5_0_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76a54e07a5_0_1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22" name="Google Shape;722;g376a54e07a5_0_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76a54e07a5_0_1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30" name="Google Shape;730;g376a54e07a5_0_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76a54e07a5_0_1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38" name="Google Shape;738;g376a54e07a5_0_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76a54e07a5_0_1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46" name="Google Shape;746;g376a54e07a5_0_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76a54e07a5_0_1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54" name="Google Shape;754;g376a54e07a5_0_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76a54e07a5_0_1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62" name="Google Shape;762;g376a54e07a5_0_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76a54e07a5_0_1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69" name="Google Shape;769;g376a54e07a5_0_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76a54e07a5_0_17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80" name="Google Shape;780;g376a54e07a5_0_1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76a54e07a5_0_18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91" name="Google Shape;791;g376a54e07a5_0_1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76a54e07a5_0_19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98" name="Google Shape;798;g376a54e07a5_0_1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76a54e07a5_1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05" name="Google Shape;805;g376a54e07a5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76a54e07a5_1_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12" name="Google Shape;812;g376a54e07a5_1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76a54e07a5_1_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19" name="Google Shape;819;g376a54e07a5_1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76a54e07a5_1_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26" name="Google Shape;826;g376a54e07a5_1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76a54e07a5_1_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37" name="Google Shape;837;g376a54e07a5_1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76a54e07a5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76a54e07a5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76a54e07a5_1_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54" name="Google Shape;854;g376a54e07a5_1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76a54e07a5_1_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61" name="Google Shape;861;g376a54e07a5_1_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76a54e07a5_1_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68" name="Google Shape;868;g376a54e07a5_1_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76a54e07a5_1_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75" name="Google Shape;875;g376a54e07a5_1_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76a54e07a5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76a54e07a5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76a54e07a5_1_1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88" name="Google Shape;888;g376a54e07a5_1_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76a54e07a5_1_9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95" name="Google Shape;895;g376a54e07a5_1_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76a54e07a5_1_1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02" name="Google Shape;902;g376a54e07a5_1_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76a54e07a5_1_1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09" name="Google Shape;909;g376a54e07a5_1_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76a54e07a5_1_1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16" name="Google Shape;916;g376a54e07a5_1_1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76a54e07a5_1_1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23" name="Google Shape;923;g376a54e07a5_1_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76a54e07a5_1_1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35" name="Google Shape;935;g376a54e07a5_1_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76a54e07a5_1_1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42" name="Google Shape;942;g376a54e07a5_1_1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76a54e07a5_1_2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49" name="Google Shape;949;g376a54e07a5_1_2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76a54e07a5_1_19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56" name="Google Shape;956;g376a54e07a5_1_1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76a54e07a5_1_2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63" name="Google Shape;963;g376a54e07a5_1_2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76a54e07a5_1_2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70" name="Google Shape;970;g376a54e07a5_1_2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76a54e07a5_1_2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77" name="Google Shape;977;g376a54e07a5_1_2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76a54e07a5_1_2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84" name="Google Shape;984;g376a54e07a5_1_2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76a54e07a5_1_2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91" name="Google Shape;991;g376a54e07a5_1_2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76a54e07a5_1_2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98" name="Google Shape;998;g376a54e07a5_1_2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76a54e07a5_1_2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05" name="Google Shape;1005;g376a54e07a5_1_2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76a54e07a5_1_2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15" name="Google Shape;1015;g376a54e07a5_1_2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76a54e07a5_1_29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25" name="Google Shape;1025;g376a54e07a5_1_2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76a54e07a5_1_30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32" name="Google Shape;1032;g376a54e07a5_1_3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76a54e07a5_1_3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0" name="Google Shape;1040;g376a54e07a5_1_3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76a54e07a5_1_3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8" name="Google Shape;1048;g376a54e07a5_1_3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76a54e07a5_1_3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56" name="Google Shape;1056;g376a54e07a5_1_3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76a54e07a5_1_3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64" name="Google Shape;1064;g376a54e07a5_1_3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376a54e07a5_1_3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72" name="Google Shape;1072;g376a54e07a5_1_3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76a54e07a5_1_3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80" name="Google Shape;1080;g376a54e07a5_1_3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76a54e07a5_1_3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87" name="Google Shape;1087;g376a54e07a5_1_3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76a54e07a5_1_3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94" name="Google Shape;1094;g376a54e07a5_1_3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76a54e07a5_1_3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01" name="Google Shape;1101;g376a54e07a5_1_3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TITLE_AND_BODY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812749" y="228953"/>
            <a:ext cx="272400" cy="284700"/>
          </a:xfrm>
          <a:prstGeom prst="rect">
            <a:avLst/>
          </a:prstGeom>
          <a:noFill/>
          <a:ln>
            <a:noFill/>
          </a:ln>
        </p:spPr>
        <p:txBody>
          <a:bodyPr anchorCtr="0" anchor="t" bIns="34275" lIns="34275" spcFirstLastPara="1" rIns="34275" wrap="square" tIns="34275">
            <a:spAutoFit/>
          </a:bodyPr>
          <a:lstStyle>
            <a:lvl1pPr indent="0" lvl="0"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1pPr>
            <a:lvl2pPr indent="0" lvl="1"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2pPr>
            <a:lvl3pPr indent="0" lvl="2"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3pPr>
            <a:lvl4pPr indent="0" lvl="3"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4pPr>
            <a:lvl5pPr indent="0" lvl="4"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5pPr>
            <a:lvl6pPr indent="0" lvl="5"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6pPr>
            <a:lvl7pPr indent="0" lvl="6"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7pPr>
            <a:lvl8pPr indent="0" lvl="7"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8pPr>
            <a:lvl9pPr indent="0" lvl="8" marL="0" marR="0" algn="l">
              <a:lnSpc>
                <a:spcPct val="100000"/>
              </a:lnSpc>
              <a:spcBef>
                <a:spcPts val="0"/>
              </a:spcBef>
              <a:spcAft>
                <a:spcPts val="0"/>
              </a:spcAft>
              <a:buClr>
                <a:srgbClr val="737572"/>
              </a:buClr>
              <a:buSzPts val="1400"/>
              <a:buFont typeface="Lato"/>
              <a:buNone/>
              <a:defRPr b="0" i="0" sz="1400" u="none" cap="none" strike="noStrike">
                <a:solidFill>
                  <a:srgbClr val="73757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ru"/>
              <a:t>‹#›</a:t>
            </a:fld>
            <a:endParaRPr/>
          </a:p>
        </p:txBody>
      </p:sp>
      <p:sp>
        <p:nvSpPr>
          <p:cNvPr id="52" name="Google Shape;52;p13"/>
          <p:cNvSpPr/>
          <p:nvPr>
            <p:ph idx="2" type="pic"/>
          </p:nvPr>
        </p:nvSpPr>
        <p:spPr>
          <a:xfrm>
            <a:off x="-101360" y="-97971"/>
            <a:ext cx="9349200" cy="53394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Fill Image">
  <p:cSld name="3_Fill Image">
    <p:spTree>
      <p:nvGrpSpPr>
        <p:cNvPr id="53" name="Shape 53"/>
        <p:cNvGrpSpPr/>
        <p:nvPr/>
      </p:nvGrpSpPr>
      <p:grpSpPr>
        <a:xfrm>
          <a:off x="0" y="0"/>
          <a:ext cx="0" cy="0"/>
          <a:chOff x="0" y="0"/>
          <a:chExt cx="0" cy="0"/>
        </a:xfrm>
      </p:grpSpPr>
      <p:sp>
        <p:nvSpPr>
          <p:cNvPr id="54" name="Google Shape;54;p14"/>
          <p:cNvSpPr/>
          <p:nvPr>
            <p:ph idx="2" type="pic"/>
          </p:nvPr>
        </p:nvSpPr>
        <p:spPr>
          <a:xfrm>
            <a:off x="-114299" y="-107768"/>
            <a:ext cx="4687500" cy="5359200"/>
          </a:xfrm>
          <a:prstGeom prst="rect">
            <a:avLst/>
          </a:prstGeom>
          <a:noFill/>
          <a:ln>
            <a:noFill/>
          </a:ln>
        </p:spPr>
      </p:sp>
      <p:sp>
        <p:nvSpPr>
          <p:cNvPr id="55" name="Google Shape;55;p14"/>
          <p:cNvSpPr txBox="1"/>
          <p:nvPr>
            <p:ph idx="12" type="sldNum"/>
          </p:nvPr>
        </p:nvSpPr>
        <p:spPr>
          <a:xfrm>
            <a:off x="4419679" y="4556892"/>
            <a:ext cx="2132400" cy="157800"/>
          </a:xfrm>
          <a:prstGeom prst="rect">
            <a:avLst/>
          </a:prstGeom>
          <a:noFill/>
          <a:ln>
            <a:noFill/>
          </a:ln>
        </p:spPr>
        <p:txBody>
          <a:bodyPr anchorCtr="0" anchor="ctr" bIns="17150" lIns="17150" spcFirstLastPara="1" rIns="17150" wrap="square" tIns="17150">
            <a:spAutoFit/>
          </a:bodyPr>
          <a:lstStyle>
            <a:lvl1pPr indent="0" lvl="0"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1pPr>
            <a:lvl2pPr indent="0" lvl="1"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2pPr>
            <a:lvl3pPr indent="0" lvl="2"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3pPr>
            <a:lvl4pPr indent="0" lvl="3"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4pPr>
            <a:lvl5pPr indent="0" lvl="4"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5pPr>
            <a:lvl6pPr indent="0" lvl="5"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6pPr>
            <a:lvl7pPr indent="0" lvl="6"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7pPr>
            <a:lvl8pPr indent="0" lvl="7"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8pPr>
            <a:lvl9pPr indent="0" lvl="8" marL="0" marR="0" algn="r">
              <a:lnSpc>
                <a:spcPct val="100000"/>
              </a:lnSpc>
              <a:spcBef>
                <a:spcPts val="0"/>
              </a:spcBef>
              <a:spcAft>
                <a:spcPts val="0"/>
              </a:spcAft>
              <a:buClr>
                <a:srgbClr val="B9B9B9"/>
              </a:buClr>
              <a:buSzPts val="800"/>
              <a:buFont typeface="Calibri"/>
              <a:buNone/>
              <a:defRPr b="0" i="0" sz="800" u="none" cap="none" strike="noStrike">
                <a:solidFill>
                  <a:srgbClr val="B9B9B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56" name="Shape 56"/>
        <p:cNvGrpSpPr/>
        <p:nvPr/>
      </p:nvGrpSpPr>
      <p:grpSpPr>
        <a:xfrm>
          <a:off x="0" y="0"/>
          <a:ext cx="0" cy="0"/>
          <a:chOff x="0" y="0"/>
          <a:chExt cx="0" cy="0"/>
        </a:xfrm>
      </p:grpSpPr>
      <p:sp>
        <p:nvSpPr>
          <p:cNvPr id="57" name="Google Shape;57;p15"/>
          <p:cNvSpPr txBox="1"/>
          <p:nvPr>
            <p:ph type="title"/>
          </p:nvPr>
        </p:nvSpPr>
        <p:spPr>
          <a:xfrm>
            <a:off x="2376971" y="743396"/>
            <a:ext cx="4390200" cy="853800"/>
          </a:xfrm>
          <a:prstGeom prst="rect">
            <a:avLst/>
          </a:prstGeom>
          <a:noFill/>
          <a:ln>
            <a:noFill/>
          </a:ln>
        </p:spPr>
        <p:txBody>
          <a:bodyPr anchorCtr="0" anchor="ctr" bIns="20100" lIns="20100" spcFirstLastPara="1" rIns="20100" wrap="square" tIns="20100">
            <a:normAutofit/>
          </a:bodyPr>
          <a:lstStyle>
            <a:lvl1pPr lvl="0" algn="ctr">
              <a:lnSpc>
                <a:spcPct val="100000"/>
              </a:lnSpc>
              <a:spcBef>
                <a:spcPts val="0"/>
              </a:spcBef>
              <a:spcAft>
                <a:spcPts val="0"/>
              </a:spcAft>
              <a:buClr>
                <a:srgbClr val="000000"/>
              </a:buClr>
              <a:buSzPts val="4100"/>
              <a:buFont typeface="Helvetica Neue"/>
              <a:buNone/>
              <a:defRPr sz="4100">
                <a:solidFill>
                  <a:srgbClr val="000000"/>
                </a:solidFill>
                <a:latin typeface="Helvetica Neue"/>
                <a:ea typeface="Helvetica Neue"/>
                <a:cs typeface="Helvetica Neue"/>
                <a:sym typeface="Helvetica Neue"/>
              </a:defRPr>
            </a:lvl1pPr>
            <a:lvl2pPr lvl="1" algn="l">
              <a:lnSpc>
                <a:spcPct val="90000"/>
              </a:lnSpc>
              <a:spcBef>
                <a:spcPts val="0"/>
              </a:spcBef>
              <a:spcAft>
                <a:spcPts val="0"/>
              </a:spcAft>
              <a:buClr>
                <a:srgbClr val="989998"/>
              </a:buClr>
              <a:buSzPts val="700"/>
              <a:buNone/>
              <a:defRPr/>
            </a:lvl2pPr>
            <a:lvl3pPr lvl="2" algn="l">
              <a:lnSpc>
                <a:spcPct val="90000"/>
              </a:lnSpc>
              <a:spcBef>
                <a:spcPts val="0"/>
              </a:spcBef>
              <a:spcAft>
                <a:spcPts val="0"/>
              </a:spcAft>
              <a:buClr>
                <a:srgbClr val="989998"/>
              </a:buClr>
              <a:buSzPts val="700"/>
              <a:buNone/>
              <a:defRPr/>
            </a:lvl3pPr>
            <a:lvl4pPr lvl="3" algn="l">
              <a:lnSpc>
                <a:spcPct val="90000"/>
              </a:lnSpc>
              <a:spcBef>
                <a:spcPts val="0"/>
              </a:spcBef>
              <a:spcAft>
                <a:spcPts val="0"/>
              </a:spcAft>
              <a:buClr>
                <a:srgbClr val="989998"/>
              </a:buClr>
              <a:buSzPts val="700"/>
              <a:buNone/>
              <a:defRPr/>
            </a:lvl4pPr>
            <a:lvl5pPr lvl="4" algn="l">
              <a:lnSpc>
                <a:spcPct val="90000"/>
              </a:lnSpc>
              <a:spcBef>
                <a:spcPts val="0"/>
              </a:spcBef>
              <a:spcAft>
                <a:spcPts val="0"/>
              </a:spcAft>
              <a:buClr>
                <a:srgbClr val="989998"/>
              </a:buClr>
              <a:buSzPts val="700"/>
              <a:buNone/>
              <a:defRPr/>
            </a:lvl5pPr>
            <a:lvl6pPr lvl="5" algn="l">
              <a:lnSpc>
                <a:spcPct val="90000"/>
              </a:lnSpc>
              <a:spcBef>
                <a:spcPts val="0"/>
              </a:spcBef>
              <a:spcAft>
                <a:spcPts val="0"/>
              </a:spcAft>
              <a:buClr>
                <a:srgbClr val="989998"/>
              </a:buClr>
              <a:buSzPts val="700"/>
              <a:buNone/>
              <a:defRPr/>
            </a:lvl6pPr>
            <a:lvl7pPr lvl="6" algn="l">
              <a:lnSpc>
                <a:spcPct val="90000"/>
              </a:lnSpc>
              <a:spcBef>
                <a:spcPts val="0"/>
              </a:spcBef>
              <a:spcAft>
                <a:spcPts val="0"/>
              </a:spcAft>
              <a:buClr>
                <a:srgbClr val="989998"/>
              </a:buClr>
              <a:buSzPts val="700"/>
              <a:buNone/>
              <a:defRPr/>
            </a:lvl7pPr>
            <a:lvl8pPr lvl="7" algn="l">
              <a:lnSpc>
                <a:spcPct val="90000"/>
              </a:lnSpc>
              <a:spcBef>
                <a:spcPts val="0"/>
              </a:spcBef>
              <a:spcAft>
                <a:spcPts val="0"/>
              </a:spcAft>
              <a:buClr>
                <a:srgbClr val="989998"/>
              </a:buClr>
              <a:buSzPts val="700"/>
              <a:buNone/>
              <a:defRPr/>
            </a:lvl8pPr>
            <a:lvl9pPr lvl="8" algn="l">
              <a:lnSpc>
                <a:spcPct val="90000"/>
              </a:lnSpc>
              <a:spcBef>
                <a:spcPts val="0"/>
              </a:spcBef>
              <a:spcAft>
                <a:spcPts val="0"/>
              </a:spcAft>
              <a:buClr>
                <a:srgbClr val="989998"/>
              </a:buClr>
              <a:buSzPts val="700"/>
              <a:buNone/>
              <a:defRPr/>
            </a:lvl9pPr>
          </a:lstStyle>
          <a:p/>
        </p:txBody>
      </p:sp>
      <p:sp>
        <p:nvSpPr>
          <p:cNvPr id="58" name="Google Shape;58;p15"/>
          <p:cNvSpPr txBox="1"/>
          <p:nvPr>
            <p:ph idx="1" type="body"/>
          </p:nvPr>
        </p:nvSpPr>
        <p:spPr>
          <a:xfrm>
            <a:off x="2376971" y="1667619"/>
            <a:ext cx="4390200" cy="2486400"/>
          </a:xfrm>
          <a:prstGeom prst="rect">
            <a:avLst/>
          </a:prstGeom>
          <a:noFill/>
          <a:ln>
            <a:noFill/>
          </a:ln>
        </p:spPr>
        <p:txBody>
          <a:bodyPr anchorCtr="0" anchor="ctr" bIns="20100" lIns="20100" spcFirstLastPara="1" rIns="20100" wrap="square" tIns="20100">
            <a:normAutofit/>
          </a:bodyPr>
          <a:lstStyle>
            <a:lvl1pPr indent="-374650" lvl="0" marL="4572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1pPr>
            <a:lvl2pPr indent="-374650" lvl="1" marL="9144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2pPr>
            <a:lvl3pPr indent="-374650" lvl="2" marL="13716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3pPr>
            <a:lvl4pPr indent="-374650" lvl="3" marL="18288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4pPr>
            <a:lvl5pPr indent="-374650" lvl="4" marL="2286000" algn="l">
              <a:lnSpc>
                <a:spcPct val="100000"/>
              </a:lnSpc>
              <a:spcBef>
                <a:spcPts val="2200"/>
              </a:spcBef>
              <a:spcAft>
                <a:spcPts val="0"/>
              </a:spcAft>
              <a:buClr>
                <a:srgbClr val="000000"/>
              </a:buClr>
              <a:buSzPts val="2300"/>
              <a:buFont typeface="Helvetica Neue"/>
              <a:buChar char="•"/>
              <a:defRPr sz="1600">
                <a:solidFill>
                  <a:srgbClr val="000000"/>
                </a:solidFill>
                <a:latin typeface="Helvetica Neue"/>
                <a:ea typeface="Helvetica Neue"/>
                <a:cs typeface="Helvetica Neue"/>
                <a:sym typeface="Helvetica Neue"/>
              </a:defRPr>
            </a:lvl5pPr>
            <a:lvl6pPr indent="-228600" lvl="5" marL="2743200" algn="l">
              <a:lnSpc>
                <a:spcPct val="90000"/>
              </a:lnSpc>
              <a:spcBef>
                <a:spcPts val="800"/>
              </a:spcBef>
              <a:spcAft>
                <a:spcPts val="0"/>
              </a:spcAft>
              <a:buClr>
                <a:srgbClr val="989998"/>
              </a:buClr>
              <a:buSzPts val="700"/>
              <a:buNone/>
              <a:defRPr/>
            </a:lvl6pPr>
            <a:lvl7pPr indent="-228600" lvl="6" marL="3200400" algn="l">
              <a:lnSpc>
                <a:spcPct val="90000"/>
              </a:lnSpc>
              <a:spcBef>
                <a:spcPts val="800"/>
              </a:spcBef>
              <a:spcAft>
                <a:spcPts val="0"/>
              </a:spcAft>
              <a:buClr>
                <a:srgbClr val="989998"/>
              </a:buClr>
              <a:buSzPts val="700"/>
              <a:buNone/>
              <a:defRPr/>
            </a:lvl7pPr>
            <a:lvl8pPr indent="-228600" lvl="7" marL="3657600" algn="l">
              <a:lnSpc>
                <a:spcPct val="90000"/>
              </a:lnSpc>
              <a:spcBef>
                <a:spcPts val="800"/>
              </a:spcBef>
              <a:spcAft>
                <a:spcPts val="0"/>
              </a:spcAft>
              <a:buClr>
                <a:srgbClr val="989998"/>
              </a:buClr>
              <a:buSzPts val="700"/>
              <a:buNone/>
              <a:defRPr/>
            </a:lvl8pPr>
            <a:lvl9pPr indent="-228600" lvl="8" marL="4114800" algn="l">
              <a:lnSpc>
                <a:spcPct val="90000"/>
              </a:lnSpc>
              <a:spcBef>
                <a:spcPts val="800"/>
              </a:spcBef>
              <a:spcAft>
                <a:spcPts val="0"/>
              </a:spcAft>
              <a:buClr>
                <a:srgbClr val="989998"/>
              </a:buClr>
              <a:buSzPts val="700"/>
              <a:buNone/>
              <a:defRPr/>
            </a:lvl9pPr>
          </a:lstStyle>
          <a:p/>
        </p:txBody>
      </p:sp>
      <p:sp>
        <p:nvSpPr>
          <p:cNvPr id="59" name="Google Shape;59;p15"/>
          <p:cNvSpPr txBox="1"/>
          <p:nvPr>
            <p:ph idx="12" type="sldNum"/>
          </p:nvPr>
        </p:nvSpPr>
        <p:spPr>
          <a:xfrm>
            <a:off x="4500524" y="4319736"/>
            <a:ext cx="140400" cy="148200"/>
          </a:xfrm>
          <a:prstGeom prst="rect">
            <a:avLst/>
          </a:prstGeom>
          <a:noFill/>
          <a:ln>
            <a:noFill/>
          </a:ln>
        </p:spPr>
        <p:txBody>
          <a:bodyPr anchorCtr="0" anchor="t" bIns="20100" lIns="20100" spcFirstLastPara="1" rIns="20100" wrap="square" tIns="20100">
            <a:spAutoFit/>
          </a:bodyPr>
          <a:lstStyle>
            <a:lvl1pPr indent="0" lvl="0"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700"/>
              <a:buFont typeface="Helvetica Neue Light"/>
              <a:buNone/>
              <a:defRPr b="0" i="0" sz="7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hyperlink" Target="https://docs.google.com/document/d/1iHbsV_RkIx0xGzV91Y87C4b5XxIntjNO9kuHQ5iYqIY/edit?tab=t.0" TargetMode="External"/><Relationship Id="rId5" Type="http://schemas.openxmlformats.org/officeDocument/2006/relationships/hyperlink" Target="https://docs.google.com/document/d/13M-XwE9e_pNCdWZqfRAMF-HX0eHfHD6RXnQj078IObs/edit?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hyperlink" Target="http://www.youtube.com/watch?v=1UufaK3pQMg" TargetMode="External"/><Relationship Id="rId5"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hyperlink" Target="http://www.youtube.com/watch?v=aJ4T4pausic" TargetMode="External"/><Relationship Id="rId5" Type="http://schemas.openxmlformats.org/officeDocument/2006/relationships/image" Target="../media/image2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hyperlink" Target="https://artsandculture.google.com/experiment/fabricius/gwHX41Sm0N7-Dw" TargetMode="External"/><Relationship Id="rId5"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hyperlink" Target="http://www.youtube.com/watch?v=gWmRkYsLzB4" TargetMode="External"/><Relationship Id="rId5" Type="http://schemas.openxmlformats.org/officeDocument/2006/relationships/image" Target="../media/image2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1.png"/><Relationship Id="rId4" Type="http://schemas.openxmlformats.org/officeDocument/2006/relationships/hyperlink" Target="https://docs.google.com/document/d/1tzOPt5l3NVJJ1ja22NTOdbwWoEuAVPnLMoj_VrCUWfo/edit?tab=t.0"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hyperlink" Target="http://www.youtube.com/watch?v=yf2-Wmi3m9Y" TargetMode="External"/><Relationship Id="rId5" Type="http://schemas.openxmlformats.org/officeDocument/2006/relationships/image" Target="../media/image3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image" Target="../media/image4.png"/><Relationship Id="rId4" Type="http://schemas.openxmlformats.org/officeDocument/2006/relationships/image" Target="../media/image1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4.png"/><Relationship Id="rId4" Type="http://schemas.openxmlformats.org/officeDocument/2006/relationships/image" Target="../media/image2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4.png"/><Relationship Id="rId4" Type="http://schemas.openxmlformats.org/officeDocument/2006/relationships/image" Target="../media/image1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image" Target="../media/image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11.png"/><Relationship Id="rId4" Type="http://schemas.openxmlformats.org/officeDocument/2006/relationships/hyperlink" Target="https://www.youtube.com/watch?v=JMLsHI8aV0g" TargetMode="External"/><Relationship Id="rId5" Type="http://schemas.openxmlformats.org/officeDocument/2006/relationships/hyperlink" Target="https://docs.google.com/document/d/19EDe3x4lF9RZc6rXHsFyhomXaaT3CUbMhhR8BNHCYOc/edit?tab=t.0"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hyperlink" Target="http://www.youtube.com/watch?v=JMLsHI8aV0g" TargetMode="External"/><Relationship Id="rId4" Type="http://schemas.openxmlformats.org/officeDocument/2006/relationships/image" Target="../media/image21.jpg"/><Relationship Id="rId5"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 Id="rId3"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 Id="rId3"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 Id="rId3" Type="http://schemas.openxmlformats.org/officeDocument/2006/relationships/image" Target="../media/image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 Id="rId3" Type="http://schemas.openxmlformats.org/officeDocument/2006/relationships/image" Target="../media/image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 Id="rId3" Type="http://schemas.openxmlformats.org/officeDocument/2006/relationships/image" Target="../media/image11.png"/><Relationship Id="rId4" Type="http://schemas.openxmlformats.org/officeDocument/2006/relationships/hyperlink" Target="https://docs.google.com/document/d/1tqysJayPyWdbmPH-88EX2xDPz90Ye_k5nCXloTJU8bc/edit?usp=sharing"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 Id="rId3" Type="http://schemas.openxmlformats.org/officeDocument/2006/relationships/image" Target="../media/image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 Id="rId3" Type="http://schemas.openxmlformats.org/officeDocument/2006/relationships/image" Target="../media/image11.png"/><Relationship Id="rId4" Type="http://schemas.openxmlformats.org/officeDocument/2006/relationships/hyperlink" Target="https://docs.google.com/document/d/1vloKxFVi6WaxW8qmKDi74Ws6c8zrfar-nUqxChsy_Vk/edit?usp=sharing"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hyperlink" Target="http://www.youtube.com/watch?v=a2DgdsE86ts" TargetMode="External"/><Relationship Id="rId4" Type="http://schemas.openxmlformats.org/officeDocument/2006/relationships/image" Target="../media/image23.jpg"/><Relationship Id="rId5" Type="http://schemas.openxmlformats.org/officeDocument/2006/relationships/image" Target="../media/image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 Id="rId3" Type="http://schemas.openxmlformats.org/officeDocument/2006/relationships/image" Target="../media/image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 Id="rId3" Type="http://schemas.openxmlformats.org/officeDocument/2006/relationships/image" Target="../media/image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 Id="rId3" Type="http://schemas.openxmlformats.org/officeDocument/2006/relationships/image" Target="../media/image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 Id="rId3" Type="http://schemas.openxmlformats.org/officeDocument/2006/relationships/image" Target="../media/image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 Id="rId3" Type="http://schemas.openxmlformats.org/officeDocument/2006/relationships/image" Target="../media/image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 Id="rId3" Type="http://schemas.openxmlformats.org/officeDocument/2006/relationships/image" Target="../media/image11.png"/><Relationship Id="rId4" Type="http://schemas.openxmlformats.org/officeDocument/2006/relationships/hyperlink" Target="https://docs.google.com/document/d/1yF5sO_MrW9Pw9WIbk6u1O40iabD8n8uuNQl_8Ys2Al4/edit?usp=sharing"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 Id="rId3" Type="http://schemas.openxmlformats.org/officeDocument/2006/relationships/image" Target="../media/image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 Id="rId3" Type="http://schemas.openxmlformats.org/officeDocument/2006/relationships/image" Target="../media/image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 Id="rId3" Type="http://schemas.openxmlformats.org/officeDocument/2006/relationships/image" Target="../media/image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 Id="rId3"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 Id="rId3" Type="http://schemas.openxmlformats.org/officeDocument/2006/relationships/image" Target="../media/image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 Id="rId3" Type="http://schemas.openxmlformats.org/officeDocument/2006/relationships/image" Target="../media/image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 Id="rId3" Type="http://schemas.openxmlformats.org/officeDocument/2006/relationships/image" Target="../media/image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 Id="rId3" Type="http://schemas.openxmlformats.org/officeDocument/2006/relationships/image" Target="../media/image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 Id="rId3" Type="http://schemas.openxmlformats.org/officeDocument/2006/relationships/image" Target="../media/image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 Id="rId3" Type="http://schemas.openxmlformats.org/officeDocument/2006/relationships/image" Target="../media/image4.png"/><Relationship Id="rId4" Type="http://schemas.openxmlformats.org/officeDocument/2006/relationships/image" Target="../media/image1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Relationship Id="rId3" Type="http://schemas.openxmlformats.org/officeDocument/2006/relationships/image" Target="../media/image4.png"/><Relationship Id="rId4" Type="http://schemas.openxmlformats.org/officeDocument/2006/relationships/image" Target="../media/image2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5.xml"/><Relationship Id="rId3" Type="http://schemas.openxmlformats.org/officeDocument/2006/relationships/image" Target="../media/image4.png"/><Relationship Id="rId4" Type="http://schemas.openxmlformats.org/officeDocument/2006/relationships/image" Target="../media/image4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6.xml"/><Relationship Id="rId3" Type="http://schemas.openxmlformats.org/officeDocument/2006/relationships/image" Target="../media/image4.png"/><Relationship Id="rId4" Type="http://schemas.openxmlformats.org/officeDocument/2006/relationships/image" Target="../media/image1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7.xml"/><Relationship Id="rId3" Type="http://schemas.openxmlformats.org/officeDocument/2006/relationships/image" Target="../media/image4.png"/><Relationship Id="rId4" Type="http://schemas.openxmlformats.org/officeDocument/2006/relationships/image" Target="../media/image2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 Id="rId3" Type="http://schemas.openxmlformats.org/officeDocument/2006/relationships/image" Target="../media/image4.png"/><Relationship Id="rId4" Type="http://schemas.openxmlformats.org/officeDocument/2006/relationships/image" Target="../media/image3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9.xml"/><Relationship Id="rId3" Type="http://schemas.openxmlformats.org/officeDocument/2006/relationships/image" Target="../media/image11.png"/><Relationship Id="rId4" Type="http://schemas.openxmlformats.org/officeDocument/2006/relationships/hyperlink" Target="https://ai4ga.org/careers/"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0.xml"/><Relationship Id="rId3" Type="http://schemas.openxmlformats.org/officeDocument/2006/relationships/image" Target="../media/image4.png"/><Relationship Id="rId4" Type="http://schemas.openxmlformats.org/officeDocument/2006/relationships/image" Target="../media/image2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1.xml"/><Relationship Id="rId3" Type="http://schemas.openxmlformats.org/officeDocument/2006/relationships/image" Target="../media/image4.png"/><Relationship Id="rId4" Type="http://schemas.openxmlformats.org/officeDocument/2006/relationships/image" Target="../media/image3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2.xml"/><Relationship Id="rId3" Type="http://schemas.openxmlformats.org/officeDocument/2006/relationships/image" Target="../media/image4.png"/><Relationship Id="rId4" Type="http://schemas.openxmlformats.org/officeDocument/2006/relationships/hyperlink" Target="https://teachablemachine.withgoogle.com/train/image"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3.xml"/><Relationship Id="rId3" Type="http://schemas.openxmlformats.org/officeDocument/2006/relationships/image" Target="../media/image4.png"/><Relationship Id="rId4" Type="http://schemas.openxmlformats.org/officeDocument/2006/relationships/hyperlink" Target="http://www.youtube.com/watch?v=DFBbSTvtpy4" TargetMode="External"/><Relationship Id="rId5" Type="http://schemas.openxmlformats.org/officeDocument/2006/relationships/image" Target="../media/image32.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4.xml"/><Relationship Id="rId3" Type="http://schemas.openxmlformats.org/officeDocument/2006/relationships/image" Target="../media/image4.png"/><Relationship Id="rId4" Type="http://schemas.openxmlformats.org/officeDocument/2006/relationships/hyperlink" Target="http://www.youtube.com/watch?v=CO67EQ0ZWgA" TargetMode="External"/><Relationship Id="rId5" Type="http://schemas.openxmlformats.org/officeDocument/2006/relationships/image" Target="../media/image43.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5.xml"/><Relationship Id="rId3" Type="http://schemas.openxmlformats.org/officeDocument/2006/relationships/image" Target="../media/image4.png"/><Relationship Id="rId4" Type="http://schemas.openxmlformats.org/officeDocument/2006/relationships/hyperlink" Target="http://www.youtube.com/watch?v=n-zeeRLBgd0" TargetMode="External"/><Relationship Id="rId5" Type="http://schemas.openxmlformats.org/officeDocument/2006/relationships/image" Target="../media/image39.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6.xml"/><Relationship Id="rId3" Type="http://schemas.openxmlformats.org/officeDocument/2006/relationships/image" Target="../media/image11.png"/><Relationship Id="rId4" Type="http://schemas.openxmlformats.org/officeDocument/2006/relationships/hyperlink" Target="https://ai4ga.org/careers/"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7.xml"/><Relationship Id="rId3" Type="http://schemas.openxmlformats.org/officeDocument/2006/relationships/image" Target="../media/image4.png"/><Relationship Id="rId4" Type="http://schemas.openxmlformats.org/officeDocument/2006/relationships/image" Target="../media/image5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8.xml"/><Relationship Id="rId3" Type="http://schemas.openxmlformats.org/officeDocument/2006/relationships/image" Target="../media/image4.png"/><Relationship Id="rId4" Type="http://schemas.openxmlformats.org/officeDocument/2006/relationships/image" Target="../media/image4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0.xml"/><Relationship Id="rId3" Type="http://schemas.openxmlformats.org/officeDocument/2006/relationships/image" Target="../media/image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1.xml"/><Relationship Id="rId3" Type="http://schemas.openxmlformats.org/officeDocument/2006/relationships/image" Target="../media/image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2.xml"/><Relationship Id="rId3" Type="http://schemas.openxmlformats.org/officeDocument/2006/relationships/image" Target="../media/image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3.xml"/><Relationship Id="rId3" Type="http://schemas.openxmlformats.org/officeDocument/2006/relationships/image" Target="../media/image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5.xml"/><Relationship Id="rId3" Type="http://schemas.openxmlformats.org/officeDocument/2006/relationships/image" Target="../media/image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6.xml"/><Relationship Id="rId3" Type="http://schemas.openxmlformats.org/officeDocument/2006/relationships/image" Target="../media/image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7.xml"/><Relationship Id="rId3" Type="http://schemas.openxmlformats.org/officeDocument/2006/relationships/image" Target="../media/image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8.xml"/><Relationship Id="rId3" Type="http://schemas.openxmlformats.org/officeDocument/2006/relationships/image" Target="../media/image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9.xml"/><Relationship Id="rId3" Type="http://schemas.openxmlformats.org/officeDocument/2006/relationships/image" Target="../media/image11.png"/><Relationship Id="rId4" Type="http://schemas.openxmlformats.org/officeDocument/2006/relationships/hyperlink" Target="https://ai4ga.org/careers/"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0.xml"/><Relationship Id="rId3" Type="http://schemas.openxmlformats.org/officeDocument/2006/relationships/image" Target="../media/image4.png"/><Relationship Id="rId4" Type="http://schemas.openxmlformats.org/officeDocument/2006/relationships/image" Target="../media/image47.png"/><Relationship Id="rId5" Type="http://schemas.openxmlformats.org/officeDocument/2006/relationships/image" Target="../media/image38.png"/><Relationship Id="rId6" Type="http://schemas.openxmlformats.org/officeDocument/2006/relationships/image" Target="../media/image33.png"/><Relationship Id="rId7" Type="http://schemas.openxmlformats.org/officeDocument/2006/relationships/image" Target="../media/image4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1.xml"/><Relationship Id="rId3" Type="http://schemas.openxmlformats.org/officeDocument/2006/relationships/image" Target="../media/image4.png"/><Relationship Id="rId4" Type="http://schemas.openxmlformats.org/officeDocument/2006/relationships/hyperlink" Target="http://www.youtube.com/watch?v=-xwMZMbZOzc" TargetMode="External"/><Relationship Id="rId5" Type="http://schemas.openxmlformats.org/officeDocument/2006/relationships/image" Target="../media/image48.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2.xml"/><Relationship Id="rId3" Type="http://schemas.openxmlformats.org/officeDocument/2006/relationships/image" Target="../media/image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3.xml"/><Relationship Id="rId3" Type="http://schemas.openxmlformats.org/officeDocument/2006/relationships/image" Target="../media/image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4.xml"/><Relationship Id="rId3" Type="http://schemas.openxmlformats.org/officeDocument/2006/relationships/image" Target="../media/image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5.xml"/><Relationship Id="rId3" Type="http://schemas.openxmlformats.org/officeDocument/2006/relationships/image" Target="../media/image4.png"/><Relationship Id="rId4" Type="http://schemas.openxmlformats.org/officeDocument/2006/relationships/image" Target="../media/image3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6.xml"/><Relationship Id="rId3" Type="http://schemas.openxmlformats.org/officeDocument/2006/relationships/image" Target="../media/image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7.xml"/><Relationship Id="rId3" Type="http://schemas.openxmlformats.org/officeDocument/2006/relationships/image" Target="../media/image4.png"/><Relationship Id="rId4" Type="http://schemas.openxmlformats.org/officeDocument/2006/relationships/image" Target="../media/image5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8.xml"/><Relationship Id="rId3" Type="http://schemas.openxmlformats.org/officeDocument/2006/relationships/image" Target="../media/image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9.xml"/><Relationship Id="rId3" Type="http://schemas.openxmlformats.org/officeDocument/2006/relationships/image" Target="../media/image4.png"/><Relationship Id="rId4" Type="http://schemas.openxmlformats.org/officeDocument/2006/relationships/image" Target="../media/image3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0.xml"/><Relationship Id="rId3" Type="http://schemas.openxmlformats.org/officeDocument/2006/relationships/image" Target="../media/image11.png"/><Relationship Id="rId4" Type="http://schemas.openxmlformats.org/officeDocument/2006/relationships/hyperlink" Target="https://ai4ga.org/careers/"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1.xml"/><Relationship Id="rId3" Type="http://schemas.openxmlformats.org/officeDocument/2006/relationships/image" Target="../media/image4.png"/><Relationship Id="rId4" Type="http://schemas.openxmlformats.org/officeDocument/2006/relationships/image" Target="../media/image4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2.xml"/><Relationship Id="rId3" Type="http://schemas.openxmlformats.org/officeDocument/2006/relationships/image" Target="../media/image4.png"/><Relationship Id="rId4" Type="http://schemas.openxmlformats.org/officeDocument/2006/relationships/image" Target="../media/image45.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3.xml"/><Relationship Id="rId3" Type="http://schemas.openxmlformats.org/officeDocument/2006/relationships/image" Target="../media/image11.png"/><Relationship Id="rId4" Type="http://schemas.openxmlformats.org/officeDocument/2006/relationships/hyperlink" Target="https://docs.google.com/document/d/1gGiLZSNS0R0U2m_oWyg8p7CkIRvt64NbZCTTFKZvjqo/edit?tab=t.0"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4.xml"/><Relationship Id="rId3" Type="http://schemas.openxmlformats.org/officeDocument/2006/relationships/image" Target="../media/image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5.xml"/><Relationship Id="rId3" Type="http://schemas.openxmlformats.org/officeDocument/2006/relationships/image" Target="../media/image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6.xml"/><Relationship Id="rId3" Type="http://schemas.openxmlformats.org/officeDocument/2006/relationships/image" Target="../media/image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7.xml"/><Relationship Id="rId3" Type="http://schemas.openxmlformats.org/officeDocument/2006/relationships/image" Target="../media/image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8.xml"/><Relationship Id="rId3" Type="http://schemas.openxmlformats.org/officeDocument/2006/relationships/image" Target="../media/image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9.xml"/><Relationship Id="rId3"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0.xml"/><Relationship Id="rId3" Type="http://schemas.openxmlformats.org/officeDocument/2006/relationships/image" Target="../media/image4.png"/><Relationship Id="rId4" Type="http://schemas.openxmlformats.org/officeDocument/2006/relationships/hyperlink" Target="http://www.youtube.com/watch?v=FqsvgFTQv8w" TargetMode="External"/><Relationship Id="rId5" Type="http://schemas.openxmlformats.org/officeDocument/2006/relationships/image" Target="../media/image41.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1.xml"/><Relationship Id="rId3" Type="http://schemas.openxmlformats.org/officeDocument/2006/relationships/image" Target="../media/image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2.xml"/><Relationship Id="rId3" Type="http://schemas.openxmlformats.org/officeDocument/2006/relationships/image" Target="../media/image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3.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shutterstock_1408390922.jpg" id="64" name="Google Shape;64;p16"/>
          <p:cNvPicPr preferRelativeResize="0"/>
          <p:nvPr/>
        </p:nvPicPr>
        <p:blipFill rotWithShape="1">
          <a:blip r:embed="rId3">
            <a:alphaModFix/>
          </a:blip>
          <a:srcRect b="11471" l="68" r="13835" t="15551"/>
          <a:stretch/>
        </p:blipFill>
        <p:spPr>
          <a:xfrm>
            <a:off x="-9391" y="-6350"/>
            <a:ext cx="9162781" cy="5194300"/>
          </a:xfrm>
          <a:prstGeom prst="rect">
            <a:avLst/>
          </a:prstGeom>
          <a:noFill/>
          <a:ln>
            <a:noFill/>
          </a:ln>
        </p:spPr>
      </p:pic>
      <p:sp>
        <p:nvSpPr>
          <p:cNvPr id="65" name="Google Shape;65;p16"/>
          <p:cNvSpPr/>
          <p:nvPr/>
        </p:nvSpPr>
        <p:spPr>
          <a:xfrm>
            <a:off x="-9391" y="-6351"/>
            <a:ext cx="9162900" cy="5194500"/>
          </a:xfrm>
          <a:prstGeom prst="rect">
            <a:avLst/>
          </a:prstGeom>
          <a:solidFill>
            <a:srgbClr val="002633">
              <a:alpha val="85100"/>
            </a:srgbClr>
          </a:solidFill>
          <a:ln>
            <a:noFill/>
          </a:ln>
        </p:spPr>
        <p:txBody>
          <a:bodyPr anchorCtr="0" anchor="ctr" bIns="17150" lIns="17150" spcFirstLastPara="1" rIns="17150" wrap="square" tIns="17150">
            <a:noAutofit/>
          </a:bodyPr>
          <a:lstStyle/>
          <a:p>
            <a:pPr indent="0" lvl="0" marL="0" marR="0" rtl="0" algn="ctr">
              <a:lnSpc>
                <a:spcPct val="100000"/>
              </a:lnSpc>
              <a:spcBef>
                <a:spcPts val="0"/>
              </a:spcBef>
              <a:spcAft>
                <a:spcPts val="0"/>
              </a:spcAft>
              <a:buClr>
                <a:srgbClr val="FFFFFF"/>
              </a:buClr>
              <a:buSzPts val="1100"/>
              <a:buFont typeface="Lato"/>
              <a:buNone/>
            </a:pPr>
            <a:r>
              <a:t/>
            </a:r>
            <a:endParaRPr b="1" i="0" sz="1100" u="none" cap="none" strike="noStrike">
              <a:solidFill>
                <a:srgbClr val="000000"/>
              </a:solidFill>
              <a:latin typeface="Helvetica Neue"/>
              <a:ea typeface="Helvetica Neue"/>
              <a:cs typeface="Helvetica Neue"/>
              <a:sym typeface="Helvetica Neue"/>
            </a:endParaRPr>
          </a:p>
        </p:txBody>
      </p:sp>
      <p:pic>
        <p:nvPicPr>
          <p:cNvPr descr="Image" id="66" name="Google Shape;66;p16"/>
          <p:cNvPicPr preferRelativeResize="0"/>
          <p:nvPr/>
        </p:nvPicPr>
        <p:blipFill rotWithShape="1">
          <a:blip r:embed="rId4">
            <a:alphaModFix/>
          </a:blip>
          <a:srcRect b="0" l="0" r="0" t="0"/>
          <a:stretch/>
        </p:blipFill>
        <p:spPr>
          <a:xfrm>
            <a:off x="2603042" y="1236895"/>
            <a:ext cx="3937917" cy="237343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descr="shutterstock_1408390922.jpg" id="71" name="Google Shape;71;p17"/>
          <p:cNvPicPr preferRelativeResize="0"/>
          <p:nvPr/>
        </p:nvPicPr>
        <p:blipFill rotWithShape="1">
          <a:blip r:embed="rId3">
            <a:alphaModFix/>
          </a:blip>
          <a:srcRect b="11471" l="68" r="13835" t="15551"/>
          <a:stretch/>
        </p:blipFill>
        <p:spPr>
          <a:xfrm>
            <a:off x="-9391" y="-6350"/>
            <a:ext cx="9162781" cy="5194300"/>
          </a:xfrm>
          <a:prstGeom prst="rect">
            <a:avLst/>
          </a:prstGeom>
          <a:noFill/>
          <a:ln>
            <a:noFill/>
          </a:ln>
        </p:spPr>
      </p:pic>
      <p:sp>
        <p:nvSpPr>
          <p:cNvPr id="72" name="Google Shape;72;p17"/>
          <p:cNvSpPr/>
          <p:nvPr/>
        </p:nvSpPr>
        <p:spPr>
          <a:xfrm>
            <a:off x="-9391" y="-6351"/>
            <a:ext cx="9162900" cy="5194500"/>
          </a:xfrm>
          <a:prstGeom prst="rect">
            <a:avLst/>
          </a:prstGeom>
          <a:solidFill>
            <a:srgbClr val="002633">
              <a:alpha val="85100"/>
            </a:srgbClr>
          </a:solidFill>
          <a:ln>
            <a:noFill/>
          </a:ln>
        </p:spPr>
        <p:txBody>
          <a:bodyPr anchorCtr="0" anchor="ctr" bIns="17150" lIns="17150" spcFirstLastPara="1" rIns="17150" wrap="square" tIns="17150">
            <a:noAutofit/>
          </a:bodyPr>
          <a:lstStyle/>
          <a:p>
            <a:pPr indent="0" lvl="0" marL="0" marR="0" rtl="0" algn="ctr">
              <a:lnSpc>
                <a:spcPct val="100000"/>
              </a:lnSpc>
              <a:spcBef>
                <a:spcPts val="0"/>
              </a:spcBef>
              <a:spcAft>
                <a:spcPts val="0"/>
              </a:spcAft>
              <a:buClr>
                <a:srgbClr val="FFFFFF"/>
              </a:buClr>
              <a:buSzPts val="1100"/>
              <a:buFont typeface="Lato"/>
              <a:buNone/>
            </a:pPr>
            <a:r>
              <a:t/>
            </a:r>
            <a:endParaRPr b="1" i="0" sz="1100" u="none" cap="none" strike="noStrike">
              <a:solidFill>
                <a:srgbClr val="000000"/>
              </a:solidFill>
              <a:latin typeface="Helvetica Neue"/>
              <a:ea typeface="Helvetica Neue"/>
              <a:cs typeface="Helvetica Neue"/>
              <a:sym typeface="Helvetica Neue"/>
            </a:endParaRPr>
          </a:p>
        </p:txBody>
      </p:sp>
      <p:sp>
        <p:nvSpPr>
          <p:cNvPr id="73" name="Google Shape;73;p17"/>
          <p:cNvSpPr txBox="1"/>
          <p:nvPr/>
        </p:nvSpPr>
        <p:spPr>
          <a:xfrm>
            <a:off x="1418900" y="4269275"/>
            <a:ext cx="7477500" cy="9582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a:buNone/>
            </a:pPr>
            <a:r>
              <a:rPr b="1" lang="ru" sz="3000">
                <a:solidFill>
                  <a:srgbClr val="FFFFFF"/>
                </a:solidFill>
                <a:latin typeface="Urbanist"/>
                <a:ea typeface="Urbanist"/>
                <a:cs typeface="Urbanist"/>
                <a:sym typeface="Urbanist"/>
              </a:rPr>
              <a:t>ԳԼՈՒԽ 3․ ԱԲ ԿԱՐԻԵՐԱ ԵՎ ԱՊԱԳԱՅԻ ՈԼՈՐՏՆԵՐ</a:t>
            </a:r>
            <a:endParaRPr b="0" i="0" sz="500" u="none" cap="none" strike="noStrike">
              <a:solidFill>
                <a:srgbClr val="000000"/>
              </a:solidFill>
              <a:latin typeface="Arial"/>
              <a:ea typeface="Arial"/>
              <a:cs typeface="Arial"/>
              <a:sym typeface="Arial"/>
            </a:endParaRPr>
          </a:p>
        </p:txBody>
      </p:sp>
      <p:pic>
        <p:nvPicPr>
          <p:cNvPr descr="Image" id="74" name="Google Shape;74;p17"/>
          <p:cNvPicPr preferRelativeResize="0"/>
          <p:nvPr/>
        </p:nvPicPr>
        <p:blipFill rotWithShape="1">
          <a:blip r:embed="rId4">
            <a:alphaModFix/>
          </a:blip>
          <a:srcRect b="0" l="0" r="0" t="0"/>
          <a:stretch/>
        </p:blipFill>
        <p:spPr>
          <a:xfrm>
            <a:off x="600296" y="1236895"/>
            <a:ext cx="3937917" cy="2373434"/>
          </a:xfrm>
          <a:prstGeom prst="rect">
            <a:avLst/>
          </a:prstGeom>
          <a:noFill/>
          <a:ln>
            <a:noFill/>
          </a:ln>
        </p:spPr>
      </p:pic>
      <p:sp>
        <p:nvSpPr>
          <p:cNvPr id="75" name="Google Shape;75;p17"/>
          <p:cNvSpPr/>
          <p:nvPr/>
        </p:nvSpPr>
        <p:spPr>
          <a:xfrm>
            <a:off x="9016415" y="-9828"/>
            <a:ext cx="138300" cy="4675200"/>
          </a:xfrm>
          <a:prstGeom prst="rect">
            <a:avLst/>
          </a:prstGeom>
          <a:solidFill>
            <a:srgbClr val="F2BC4F"/>
          </a:solidFill>
          <a:ln>
            <a:noFill/>
          </a:ln>
        </p:spPr>
        <p:txBody>
          <a:bodyPr anchorCtr="0" anchor="ctr" bIns="20100" lIns="20100" spcFirstLastPara="1" rIns="20100" wrap="square" tIns="20100">
            <a:noAutofit/>
          </a:bodyPr>
          <a:lstStyle/>
          <a:p>
            <a:pPr indent="0" lvl="0" marL="0" marR="0" rtl="0" algn="ctr">
              <a:lnSpc>
                <a:spcPct val="100000"/>
              </a:lnSpc>
              <a:spcBef>
                <a:spcPts val="0"/>
              </a:spcBef>
              <a:spcAft>
                <a:spcPts val="0"/>
              </a:spcAft>
              <a:buClr>
                <a:schemeClr val="accent3"/>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Image" id="80" name="Google Shape;80;p1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1" name="Google Shape;81;p18"/>
          <p:cNvSpPr txBox="1"/>
          <p:nvPr/>
        </p:nvSpPr>
        <p:spPr>
          <a:xfrm>
            <a:off x="476246" y="282675"/>
            <a:ext cx="8162400" cy="9582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ԳԼՈՒԽ 3. ԱԲ ԿԱՐԻԵՐԱ ԵՎ ԱՊԱԳԱՅԻ ՈԼՈՐՏՆԵՐ</a:t>
            </a:r>
            <a:endParaRPr b="0" i="0" sz="500" u="none" cap="none" strike="noStrike">
              <a:solidFill>
                <a:srgbClr val="000000"/>
              </a:solidFill>
              <a:latin typeface="Arial"/>
              <a:ea typeface="Arial"/>
              <a:cs typeface="Arial"/>
              <a:sym typeface="Arial"/>
            </a:endParaRPr>
          </a:p>
        </p:txBody>
      </p:sp>
      <p:sp>
        <p:nvSpPr>
          <p:cNvPr id="82" name="Google Shape;82;p18"/>
          <p:cNvSpPr txBox="1"/>
          <p:nvPr/>
        </p:nvSpPr>
        <p:spPr>
          <a:xfrm>
            <a:off x="417325" y="1374225"/>
            <a:ext cx="8659500" cy="39117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None/>
            </a:pPr>
            <a:r>
              <a:rPr lang="ru" sz="1500">
                <a:solidFill>
                  <a:schemeClr val="dk1"/>
                </a:solidFill>
                <a:latin typeface="Urbanist Medium"/>
                <a:ea typeface="Urbanist Medium"/>
                <a:cs typeface="Urbanist Medium"/>
                <a:sym typeface="Urbanist Medium"/>
              </a:rPr>
              <a:t>Դասերի ընդհանուր քանակ՝ 7 (4 գործնական դաս, 3 տեսական դաս)</a:t>
            </a:r>
            <a:endParaRPr sz="1500">
              <a:solidFill>
                <a:schemeClr val="dk1"/>
              </a:solidFill>
              <a:latin typeface="Urbanist Medium"/>
              <a:ea typeface="Urbanist Medium"/>
              <a:cs typeface="Urbanist Medium"/>
              <a:sym typeface="Urbanist Medium"/>
            </a:endParaRPr>
          </a:p>
          <a:p>
            <a:pPr indent="0" lvl="0" marL="0" marR="0" rtl="0" algn="l">
              <a:lnSpc>
                <a:spcPct val="115000"/>
              </a:lnSpc>
              <a:spcBef>
                <a:spcPts val="200"/>
              </a:spcBef>
              <a:spcAft>
                <a:spcPts val="0"/>
              </a:spcAft>
              <a:buNone/>
            </a:pPr>
            <a:r>
              <a:rPr lang="ru" sz="1500">
                <a:solidFill>
                  <a:srgbClr val="2F5496"/>
                </a:solidFill>
                <a:latin typeface="Urbanist Medium"/>
                <a:ea typeface="Urbanist Medium"/>
                <a:cs typeface="Urbanist Medium"/>
                <a:sym typeface="Urbanist Medium"/>
              </a:rPr>
              <a:t>Դասաժամերը․</a:t>
            </a:r>
            <a:endParaRPr sz="1500">
              <a:solidFill>
                <a:srgbClr val="2F5496"/>
              </a:solidFill>
              <a:latin typeface="Urbanist Medium"/>
              <a:ea typeface="Urbanist Medium"/>
              <a:cs typeface="Urbanist Medium"/>
              <a:sym typeface="Urbanist Medium"/>
            </a:endParaRPr>
          </a:p>
          <a:p>
            <a:pPr indent="-330200" lvl="0" marL="457200" marR="0" rtl="0" algn="l">
              <a:lnSpc>
                <a:spcPct val="115000"/>
              </a:lnSpc>
              <a:spcBef>
                <a:spcPts val="1000"/>
              </a:spcBef>
              <a:spcAft>
                <a:spcPts val="0"/>
              </a:spcAft>
              <a:buSzPts val="1600"/>
              <a:buFont typeface="Urbanist"/>
              <a:buChar char="-"/>
            </a:pPr>
            <a:r>
              <a:rPr lang="ru" sz="1600">
                <a:solidFill>
                  <a:schemeClr val="dk1"/>
                </a:solidFill>
                <a:latin typeface="Urbanist"/>
                <a:ea typeface="Urbanist"/>
                <a:cs typeface="Urbanist"/>
                <a:sym typeface="Urbanist"/>
              </a:rPr>
              <a:t>Դաս 1. </a:t>
            </a:r>
            <a:r>
              <a:rPr lang="ru" sz="1600">
                <a:solidFill>
                  <a:srgbClr val="1C1C1C"/>
                </a:solidFill>
                <a:latin typeface="Urbanist"/>
                <a:ea typeface="Urbanist"/>
                <a:cs typeface="Urbanist"/>
                <a:sym typeface="Urbanist"/>
              </a:rPr>
              <a:t>ԱԲ մասնագիտությունները և զարգացումները</a:t>
            </a:r>
            <a:endParaRPr sz="1600">
              <a:solidFill>
                <a:schemeClr val="dk1"/>
              </a:solidFill>
              <a:latin typeface="Urbanist"/>
              <a:ea typeface="Urbanist"/>
              <a:cs typeface="Urbanist"/>
              <a:sym typeface="Urbanist"/>
            </a:endParaRPr>
          </a:p>
          <a:p>
            <a:pPr indent="-330200" lvl="0" marL="457200" marR="0" rtl="0" algn="l">
              <a:lnSpc>
                <a:spcPct val="115000"/>
              </a:lnSpc>
              <a:spcBef>
                <a:spcPts val="0"/>
              </a:spcBef>
              <a:spcAft>
                <a:spcPts val="0"/>
              </a:spcAft>
              <a:buClr>
                <a:schemeClr val="dk1"/>
              </a:buClr>
              <a:buSzPts val="1600"/>
              <a:buFont typeface="Urbanist"/>
              <a:buChar char="-"/>
            </a:pPr>
            <a:r>
              <a:rPr lang="ru" sz="1600">
                <a:solidFill>
                  <a:schemeClr val="dk1"/>
                </a:solidFill>
                <a:latin typeface="Urbanist"/>
                <a:ea typeface="Urbanist"/>
                <a:cs typeface="Urbanist"/>
                <a:sym typeface="Urbanist"/>
              </a:rPr>
              <a:t>Դաս 2. </a:t>
            </a:r>
            <a:r>
              <a:rPr lang="ru" sz="1600">
                <a:solidFill>
                  <a:srgbClr val="1C1C1C"/>
                </a:solidFill>
                <a:latin typeface="Urbanist"/>
                <a:ea typeface="Urbanist"/>
                <a:cs typeface="Urbanist"/>
                <a:sym typeface="Urbanist"/>
              </a:rPr>
              <a:t>ԱԲ-ի կիրառումը տարբեր ոլորտներում․ ապագա մասնագիտություններ</a:t>
            </a:r>
            <a:endParaRPr sz="1600">
              <a:solidFill>
                <a:schemeClr val="dk1"/>
              </a:solidFill>
              <a:latin typeface="Urbanist"/>
              <a:ea typeface="Urbanist"/>
              <a:cs typeface="Urbanist"/>
              <a:sym typeface="Urbanist"/>
            </a:endParaRPr>
          </a:p>
          <a:p>
            <a:pPr indent="-330200" lvl="0" marL="457200" marR="0" rtl="0" algn="l">
              <a:lnSpc>
                <a:spcPct val="115000"/>
              </a:lnSpc>
              <a:spcBef>
                <a:spcPts val="0"/>
              </a:spcBef>
              <a:spcAft>
                <a:spcPts val="0"/>
              </a:spcAft>
              <a:buClr>
                <a:schemeClr val="dk1"/>
              </a:buClr>
              <a:buSzPts val="1600"/>
              <a:buFont typeface="Urbanist"/>
              <a:buChar char="-"/>
            </a:pPr>
            <a:r>
              <a:rPr lang="ru" sz="1600">
                <a:solidFill>
                  <a:schemeClr val="dk1"/>
                </a:solidFill>
                <a:latin typeface="Urbanist"/>
                <a:ea typeface="Urbanist"/>
                <a:cs typeface="Urbanist"/>
                <a:sym typeface="Urbanist"/>
              </a:rPr>
              <a:t>Դաս 3. </a:t>
            </a:r>
            <a:r>
              <a:rPr lang="ru" sz="1600">
                <a:solidFill>
                  <a:srgbClr val="1C1C1C"/>
                </a:solidFill>
                <a:latin typeface="Urbanist"/>
                <a:ea typeface="Urbanist"/>
                <a:cs typeface="Urbanist"/>
                <a:sym typeface="Urbanist"/>
              </a:rPr>
              <a:t>Մասնագիտությունների համապատասխանեցում ըստ ԱԲ գործիքների (քարտերով խաղ-վարժություն)</a:t>
            </a:r>
            <a:endParaRPr sz="1600">
              <a:solidFill>
                <a:srgbClr val="1C1C1C"/>
              </a:solidFill>
              <a:latin typeface="Urbanist"/>
              <a:ea typeface="Urbanist"/>
              <a:cs typeface="Urbanist"/>
              <a:sym typeface="Urbanist"/>
            </a:endParaRPr>
          </a:p>
          <a:p>
            <a:pPr indent="-330200" lvl="0" marL="457200" marR="0" rtl="0" algn="l">
              <a:lnSpc>
                <a:spcPct val="115000"/>
              </a:lnSpc>
              <a:spcBef>
                <a:spcPts val="0"/>
              </a:spcBef>
              <a:spcAft>
                <a:spcPts val="0"/>
              </a:spcAft>
              <a:buClr>
                <a:srgbClr val="1C1C1C"/>
              </a:buClr>
              <a:buSzPts val="1600"/>
              <a:buFont typeface="Urbanist"/>
              <a:buChar char="-"/>
            </a:pPr>
            <a:r>
              <a:rPr lang="ru" sz="1600">
                <a:solidFill>
                  <a:srgbClr val="1C1C1C"/>
                </a:solidFill>
                <a:latin typeface="Urbanist"/>
                <a:ea typeface="Urbanist"/>
                <a:cs typeface="Urbanist"/>
                <a:sym typeface="Urbanist"/>
              </a:rPr>
              <a:t>Դաս 4. ԱԲ-ի հնարավորությունները տեղական և միջազգային մակարդակներում - Մաս 1</a:t>
            </a:r>
            <a:endParaRPr sz="1600">
              <a:solidFill>
                <a:srgbClr val="1C1C1C"/>
              </a:solidFill>
              <a:latin typeface="Urbanist"/>
              <a:ea typeface="Urbanist"/>
              <a:cs typeface="Urbanist"/>
              <a:sym typeface="Urbanist"/>
            </a:endParaRPr>
          </a:p>
          <a:p>
            <a:pPr indent="-330200" lvl="0" marL="457200" marR="0" rtl="0" algn="l">
              <a:lnSpc>
                <a:spcPct val="115000"/>
              </a:lnSpc>
              <a:spcBef>
                <a:spcPts val="200"/>
              </a:spcBef>
              <a:spcAft>
                <a:spcPts val="0"/>
              </a:spcAft>
              <a:buClr>
                <a:srgbClr val="1C1C1C"/>
              </a:buClr>
              <a:buSzPts val="1600"/>
              <a:buFont typeface="Urbanist"/>
              <a:buChar char="-"/>
            </a:pPr>
            <a:r>
              <a:rPr lang="ru" sz="1600">
                <a:solidFill>
                  <a:srgbClr val="1C1C1C"/>
                </a:solidFill>
                <a:latin typeface="Urbanist"/>
                <a:ea typeface="Urbanist"/>
                <a:cs typeface="Urbanist"/>
                <a:sym typeface="Urbanist"/>
              </a:rPr>
              <a:t>Դաս 5. ԱԲ-ի հնարավորությունները տեղական և միջազգային մակարդակներում</a:t>
            </a:r>
            <a:r>
              <a:rPr lang="ru" sz="1600">
                <a:solidFill>
                  <a:srgbClr val="1C1C1C"/>
                </a:solidFill>
                <a:latin typeface="Urbanist"/>
                <a:ea typeface="Urbanist"/>
                <a:cs typeface="Urbanist"/>
                <a:sym typeface="Urbanist"/>
              </a:rPr>
              <a:t> - Մաս 2</a:t>
            </a:r>
            <a:endParaRPr sz="1600">
              <a:solidFill>
                <a:srgbClr val="1C1C1C"/>
              </a:solidFill>
              <a:latin typeface="Urbanist"/>
              <a:ea typeface="Urbanist"/>
              <a:cs typeface="Urbanist"/>
              <a:sym typeface="Urbanist"/>
            </a:endParaRPr>
          </a:p>
          <a:p>
            <a:pPr indent="-330200" lvl="0" marL="457200" marR="0" rtl="0" algn="l">
              <a:lnSpc>
                <a:spcPct val="115000"/>
              </a:lnSpc>
              <a:spcBef>
                <a:spcPts val="200"/>
              </a:spcBef>
              <a:spcAft>
                <a:spcPts val="0"/>
              </a:spcAft>
              <a:buClr>
                <a:srgbClr val="1C1C1C"/>
              </a:buClr>
              <a:buSzPts val="1600"/>
              <a:buChar char="-"/>
            </a:pPr>
            <a:r>
              <a:rPr lang="ru" sz="1600">
                <a:solidFill>
                  <a:srgbClr val="1C1C1C"/>
                </a:solidFill>
                <a:latin typeface="Urbanist"/>
                <a:ea typeface="Urbanist"/>
                <a:cs typeface="Urbanist"/>
                <a:sym typeface="Urbanist"/>
              </a:rPr>
              <a:t>Դաս 6. «Իմ ԱԲ ուղին» պաստառի ստեղծման և նախագծման վարժություն - Մաս 1</a:t>
            </a:r>
            <a:endParaRPr sz="1600">
              <a:solidFill>
                <a:srgbClr val="1C1C1C"/>
              </a:solidFill>
              <a:latin typeface="Urbanist"/>
              <a:ea typeface="Urbanist"/>
              <a:cs typeface="Urbanist"/>
              <a:sym typeface="Urbanist"/>
            </a:endParaRPr>
          </a:p>
          <a:p>
            <a:pPr indent="-330200" lvl="0" marL="457200" marR="0" rtl="0" algn="l">
              <a:lnSpc>
                <a:spcPct val="115000"/>
              </a:lnSpc>
              <a:spcBef>
                <a:spcPts val="200"/>
              </a:spcBef>
              <a:spcAft>
                <a:spcPts val="0"/>
              </a:spcAft>
              <a:buClr>
                <a:srgbClr val="1C1C1C"/>
              </a:buClr>
              <a:buSzPts val="1600"/>
              <a:buChar char="-"/>
            </a:pPr>
            <a:r>
              <a:rPr lang="ru" sz="1600">
                <a:solidFill>
                  <a:srgbClr val="1C1C1C"/>
                </a:solidFill>
                <a:latin typeface="Urbanist"/>
                <a:ea typeface="Urbanist"/>
                <a:cs typeface="Urbanist"/>
                <a:sym typeface="Urbanist"/>
              </a:rPr>
              <a:t>Դաս 7. «Իմ ԱԲ ուղին» պաստառի ստեղծման և նախագծման վարժություն - Մաս 2</a:t>
            </a:r>
            <a:endParaRPr sz="2000">
              <a:solidFill>
                <a:schemeClr val="dk1"/>
              </a:solidFill>
              <a:latin typeface="Urbanist"/>
              <a:ea typeface="Urbanist"/>
              <a:cs typeface="Urbanist"/>
              <a:sym typeface="Urbanist"/>
            </a:endParaRPr>
          </a:p>
          <a:p>
            <a:pPr indent="0" lvl="0" marL="0" marR="0" rtl="0" algn="l">
              <a:lnSpc>
                <a:spcPct val="115000"/>
              </a:lnSpc>
              <a:spcBef>
                <a:spcPts val="200"/>
              </a:spcBef>
              <a:spcAft>
                <a:spcPts val="1000"/>
              </a:spcAft>
              <a:buNone/>
            </a:pPr>
            <a:r>
              <a:rPr lang="ru" sz="1600">
                <a:solidFill>
                  <a:srgbClr val="2F5496"/>
                </a:solidFill>
                <a:latin typeface="Urbanist Medium"/>
                <a:ea typeface="Urbanist Medium"/>
                <a:cs typeface="Urbanist Medium"/>
                <a:sym typeface="Urbanist Medium"/>
              </a:rPr>
              <a:t>Հասկացություններ՝ </a:t>
            </a:r>
            <a:r>
              <a:rPr lang="ru" sz="1600" u="sng">
                <a:solidFill>
                  <a:schemeClr val="hlink"/>
                </a:solidFill>
                <a:latin typeface="Urbanist Medium"/>
                <a:ea typeface="Urbanist Medium"/>
                <a:cs typeface="Urbanist Medium"/>
                <a:sym typeface="Urbanist Medium"/>
                <a:hlinkClick r:id="rId4"/>
              </a:rPr>
              <a:t>հղում</a:t>
            </a:r>
            <a:r>
              <a:rPr lang="ru" sz="1600">
                <a:solidFill>
                  <a:srgbClr val="3A475A"/>
                </a:solidFill>
                <a:latin typeface="Urbanist Medium"/>
                <a:ea typeface="Urbanist Medium"/>
                <a:cs typeface="Urbanist Medium"/>
                <a:sym typeface="Urbanist Medium"/>
              </a:rPr>
              <a:t>, ԱԲ գործիքներ և նկարագրություն՝ </a:t>
            </a:r>
            <a:r>
              <a:rPr lang="ru" sz="1600" u="sng">
                <a:solidFill>
                  <a:schemeClr val="hlink"/>
                </a:solidFill>
                <a:latin typeface="Urbanist Medium"/>
                <a:ea typeface="Urbanist Medium"/>
                <a:cs typeface="Urbanist Medium"/>
                <a:sym typeface="Urbanist Medium"/>
                <a:hlinkClick r:id="rId5"/>
              </a:rPr>
              <a:t>հղում</a:t>
            </a:r>
            <a:endParaRPr sz="1600">
              <a:solidFill>
                <a:srgbClr val="3A475A"/>
              </a:solidFill>
              <a:latin typeface="Urbanist Medium"/>
              <a:ea typeface="Urbanist Medium"/>
              <a:cs typeface="Urbanist Medium"/>
              <a:sym typeface="Urbanis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Image" id="87" name="Google Shape;87;p1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8" name="Google Shape;88;p19"/>
          <p:cNvSpPr txBox="1"/>
          <p:nvPr/>
        </p:nvSpPr>
        <p:spPr>
          <a:xfrm>
            <a:off x="476246" y="282675"/>
            <a:ext cx="8162400" cy="9582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Թեմա 1. ԱԲ մասնագիտությունները և զարգացումները</a:t>
            </a:r>
            <a:endParaRPr b="0" i="0" sz="500" u="none" cap="none" strike="noStrike">
              <a:solidFill>
                <a:srgbClr val="000000"/>
              </a:solidFill>
              <a:latin typeface="Arial"/>
              <a:ea typeface="Arial"/>
              <a:cs typeface="Arial"/>
              <a:sym typeface="Arial"/>
            </a:endParaRPr>
          </a:p>
        </p:txBody>
      </p:sp>
      <p:sp>
        <p:nvSpPr>
          <p:cNvPr id="89" name="Google Shape;89;p19"/>
          <p:cNvSpPr txBox="1"/>
          <p:nvPr/>
        </p:nvSpPr>
        <p:spPr>
          <a:xfrm>
            <a:off x="642925" y="1831425"/>
            <a:ext cx="8162400" cy="27006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30200" lvl="0" marL="457200" rtl="0" algn="l">
              <a:lnSpc>
                <a:spcPct val="115000"/>
              </a:lnSpc>
              <a:spcBef>
                <a:spcPts val="1200"/>
              </a:spcBef>
              <a:spcAft>
                <a:spcPts val="0"/>
              </a:spcAft>
              <a:buClr>
                <a:srgbClr val="FDC672"/>
              </a:buClr>
              <a:buSzPts val="1600"/>
              <a:buFont typeface="Urbanist ExtraLight"/>
              <a:buChar char="●"/>
            </a:pPr>
            <a:r>
              <a:rPr lang="ru" sz="1600">
                <a:solidFill>
                  <a:schemeClr val="dk1"/>
                </a:solidFill>
                <a:latin typeface="Urbanist ExtraLight"/>
                <a:ea typeface="Urbanist ExtraLight"/>
                <a:cs typeface="Urbanist ExtraLight"/>
                <a:sym typeface="Urbanist ExtraLight"/>
              </a:rPr>
              <a:t>Նկարագրել արհեստական բանականության ծագումը որպես գիտական դաշտ։</a:t>
            </a:r>
            <a:endParaRPr sz="1600">
              <a:solidFill>
                <a:schemeClr val="dk1"/>
              </a:solidFill>
              <a:latin typeface="Urbanist ExtraLight"/>
              <a:ea typeface="Urbanist ExtraLight"/>
              <a:cs typeface="Urbanist ExtraLight"/>
              <a:sym typeface="Urbanist ExtraLight"/>
            </a:endParaRPr>
          </a:p>
          <a:p>
            <a:pPr indent="-330200" lvl="0" marL="457200" rtl="0" algn="l">
              <a:lnSpc>
                <a:spcPct val="115000"/>
              </a:lnSpc>
              <a:spcBef>
                <a:spcPts val="0"/>
              </a:spcBef>
              <a:spcAft>
                <a:spcPts val="0"/>
              </a:spcAft>
              <a:buClr>
                <a:srgbClr val="FDC672"/>
              </a:buClr>
              <a:buSzPts val="1600"/>
              <a:buFont typeface="Urbanist ExtraLight"/>
              <a:buChar char="●"/>
            </a:pPr>
            <a:r>
              <a:rPr lang="ru" sz="1600">
                <a:solidFill>
                  <a:schemeClr val="dk1"/>
                </a:solidFill>
                <a:latin typeface="Urbanist ExtraLight"/>
                <a:ea typeface="Urbanist ExtraLight"/>
                <a:cs typeface="Urbanist ExtraLight"/>
                <a:sym typeface="Urbanist ExtraLight"/>
              </a:rPr>
              <a:t>Նշել պատմական առանցքային փուլերը, որոնք նպաստել են արհեստական բանականության ձևավորմանն ու ճանաչմանը որպես ինքնուրույն գիտական և տեխնոլոգիական ոլորտ։</a:t>
            </a:r>
            <a:endParaRPr sz="1600">
              <a:solidFill>
                <a:schemeClr val="dk1"/>
              </a:solidFill>
              <a:latin typeface="Urbanist ExtraLight"/>
              <a:ea typeface="Urbanist ExtraLight"/>
              <a:cs typeface="Urbanist ExtraLight"/>
              <a:sym typeface="Urbanist ExtraLight"/>
            </a:endParaRPr>
          </a:p>
          <a:p>
            <a:pPr indent="-330200" lvl="0" marL="457200" rtl="0" algn="l">
              <a:lnSpc>
                <a:spcPct val="115000"/>
              </a:lnSpc>
              <a:spcBef>
                <a:spcPts val="0"/>
              </a:spcBef>
              <a:spcAft>
                <a:spcPts val="0"/>
              </a:spcAft>
              <a:buClr>
                <a:srgbClr val="FDC672"/>
              </a:buClr>
              <a:buSzPts val="1600"/>
              <a:buFont typeface="Urbanist ExtraLight"/>
              <a:buChar char="●"/>
            </a:pPr>
            <a:r>
              <a:rPr lang="ru" sz="1600">
                <a:solidFill>
                  <a:schemeClr val="dk1"/>
                </a:solidFill>
                <a:latin typeface="Urbanist ExtraLight"/>
                <a:ea typeface="Urbanist ExtraLight"/>
                <a:cs typeface="Urbanist ExtraLight"/>
                <a:sym typeface="Urbanist ExtraLight"/>
              </a:rPr>
              <a:t>Վերլուծել, թե ինչպես են հասարակական, տնտեսական և տեխնոլոգիական փոփոխությունները ազդել ԱԲ զարգացմանը։</a:t>
            </a:r>
            <a:endParaRPr sz="1600">
              <a:solidFill>
                <a:schemeClr val="dk1"/>
              </a:solidFill>
              <a:latin typeface="Urbanist ExtraLight"/>
              <a:ea typeface="Urbanist ExtraLight"/>
              <a:cs typeface="Urbanist ExtraLight"/>
              <a:sym typeface="Urbanist ExtraLight"/>
            </a:endParaRPr>
          </a:p>
          <a:p>
            <a:pPr indent="-330200" lvl="0" marL="457200" rtl="0" algn="l">
              <a:lnSpc>
                <a:spcPct val="115000"/>
              </a:lnSpc>
              <a:spcBef>
                <a:spcPts val="0"/>
              </a:spcBef>
              <a:spcAft>
                <a:spcPts val="0"/>
              </a:spcAft>
              <a:buClr>
                <a:srgbClr val="FDC672"/>
              </a:buClr>
              <a:buSzPts val="1600"/>
              <a:buFont typeface="Urbanist ExtraLight"/>
              <a:buChar char="●"/>
            </a:pPr>
            <a:r>
              <a:rPr lang="ru" sz="1600">
                <a:solidFill>
                  <a:schemeClr val="dk1"/>
                </a:solidFill>
                <a:latin typeface="Urbanist ExtraLight"/>
                <a:ea typeface="Urbanist ExtraLight"/>
                <a:cs typeface="Urbanist ExtraLight"/>
                <a:sym typeface="Urbanist ExtraLight"/>
              </a:rPr>
              <a:t>Դիտարկել ներկայիս կանխատեսումները ապագայի հետ կապված և տալ գնահատականներ։ </a:t>
            </a:r>
            <a:endParaRPr sz="16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Image" id="94" name="Google Shape;94;p2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5" name="Google Shape;95;p2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ԱԲ-ն՝ հնագույն ժամանակներ</a:t>
            </a:r>
            <a:endParaRPr b="0" i="0" sz="500" u="none" cap="none" strike="noStrike">
              <a:solidFill>
                <a:srgbClr val="000000"/>
              </a:solidFill>
              <a:latin typeface="Arial"/>
              <a:ea typeface="Arial"/>
              <a:cs typeface="Arial"/>
              <a:sym typeface="Arial"/>
            </a:endParaRPr>
          </a:p>
        </p:txBody>
      </p:sp>
      <p:sp>
        <p:nvSpPr>
          <p:cNvPr id="96" name="Google Shape;96;p20"/>
          <p:cNvSpPr txBox="1"/>
          <p:nvPr/>
        </p:nvSpPr>
        <p:spPr>
          <a:xfrm>
            <a:off x="642925" y="1831425"/>
            <a:ext cx="8162400" cy="8475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solidFill>
                  <a:schemeClr val="dk1"/>
                </a:solidFill>
                <a:latin typeface="Urbanist"/>
                <a:ea typeface="Urbanist"/>
                <a:cs typeface="Urbanist"/>
                <a:sym typeface="Urbanist"/>
              </a:rPr>
              <a:t>Արհեստական բանականության (ԱԲ) պատմությունը սկսվում է հնագույն ժամանակներից՝ </a:t>
            </a:r>
            <a:r>
              <a:rPr b="1" i="1" lang="ru" sz="1600">
                <a:solidFill>
                  <a:schemeClr val="dk1"/>
                </a:solidFill>
                <a:latin typeface="Urbanist"/>
                <a:ea typeface="Urbanist"/>
                <a:cs typeface="Urbanist"/>
                <a:sym typeface="Urbanist"/>
              </a:rPr>
              <a:t>արհեստական էակների մասին առասպելներով</a:t>
            </a:r>
            <a:r>
              <a:rPr lang="ru" sz="1600">
                <a:solidFill>
                  <a:schemeClr val="dk1"/>
                </a:solidFill>
                <a:latin typeface="Urbanist"/>
                <a:ea typeface="Urbanist"/>
                <a:cs typeface="Urbanist"/>
                <a:sym typeface="Urbanist"/>
              </a:rPr>
              <a:t>, </a:t>
            </a:r>
            <a:r>
              <a:rPr b="1" i="1" lang="ru" sz="1600">
                <a:solidFill>
                  <a:schemeClr val="dk1"/>
                </a:solidFill>
                <a:latin typeface="Urbanist"/>
                <a:ea typeface="Urbanist"/>
                <a:cs typeface="Urbanist"/>
                <a:sym typeface="Urbanist"/>
              </a:rPr>
              <a:t>պատմություններով </a:t>
            </a:r>
            <a:r>
              <a:rPr lang="ru" sz="1600">
                <a:solidFill>
                  <a:schemeClr val="dk1"/>
                </a:solidFill>
                <a:latin typeface="Urbanist"/>
                <a:ea typeface="Urbanist"/>
                <a:cs typeface="Urbanist"/>
                <a:sym typeface="Urbanist"/>
              </a:rPr>
              <a:t>և </a:t>
            </a:r>
            <a:r>
              <a:rPr b="1" i="1" lang="ru" sz="1600">
                <a:solidFill>
                  <a:schemeClr val="dk1"/>
                </a:solidFill>
                <a:latin typeface="Urbanist"/>
                <a:ea typeface="Urbanist"/>
                <a:cs typeface="Urbanist"/>
                <a:sym typeface="Urbanist"/>
              </a:rPr>
              <a:t>լուրերով</a:t>
            </a:r>
            <a:r>
              <a:rPr lang="ru" sz="1600">
                <a:solidFill>
                  <a:schemeClr val="dk1"/>
                </a:solidFill>
                <a:latin typeface="Urbanist"/>
                <a:ea typeface="Urbanist"/>
                <a:cs typeface="Urbanist"/>
                <a:sym typeface="Urbanist"/>
              </a:rPr>
              <a:t>, որոնք օժտված էին բանականությամբ կամ գիտակցությամբ՝ տրված հմուտ վարպետների կողմից։ </a:t>
            </a:r>
            <a:endParaRPr sz="1600">
              <a:solidFill>
                <a:schemeClr val="dk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Image" id="101" name="Google Shape;101;p2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2" name="Google Shape;102;p2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ԱԲ-ն՝ 1940-ականներին</a:t>
            </a:r>
            <a:endParaRPr b="0" i="0" sz="500" u="none" cap="none" strike="noStrike">
              <a:solidFill>
                <a:srgbClr val="000000"/>
              </a:solidFill>
              <a:latin typeface="Arial"/>
              <a:ea typeface="Arial"/>
              <a:cs typeface="Arial"/>
              <a:sym typeface="Arial"/>
            </a:endParaRPr>
          </a:p>
        </p:txBody>
      </p:sp>
      <p:sp>
        <p:nvSpPr>
          <p:cNvPr id="103" name="Google Shape;103;p21"/>
          <p:cNvSpPr txBox="1"/>
          <p:nvPr/>
        </p:nvSpPr>
        <p:spPr>
          <a:xfrm>
            <a:off x="642925" y="1831425"/>
            <a:ext cx="8162400" cy="14139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Տրամաբանության և ֆորմալ մտածողության ուսումնասիրությունը՝ հնուց մինչև մեր օրերը, ուղղակիորեն հանգեցրեց 1940-ականներին </a:t>
            </a:r>
            <a:r>
              <a:rPr b="1" i="1" lang="ru" sz="1600">
                <a:solidFill>
                  <a:schemeClr val="dk1"/>
                </a:solidFill>
                <a:latin typeface="Urbanist"/>
                <a:ea typeface="Urbanist"/>
                <a:cs typeface="Urbanist"/>
                <a:sym typeface="Urbanist"/>
              </a:rPr>
              <a:t>ծրագրավորվող թվային համակարգչի ստեղծմանը</a:t>
            </a:r>
            <a:r>
              <a:rPr lang="ru" sz="1600">
                <a:solidFill>
                  <a:schemeClr val="dk1"/>
                </a:solidFill>
                <a:latin typeface="Urbanist"/>
                <a:ea typeface="Urbanist"/>
                <a:cs typeface="Urbanist"/>
                <a:sym typeface="Urbanist"/>
              </a:rPr>
              <a:t>․ մեքենա, որը հիմնված էր աբստրակտ մաթեմատիկական մտածողության վրա։ Այս սարքը և դրա հիմքում ընկած գաղափարները ոգեշնչեցին գիտնականներին քննարկելու </a:t>
            </a:r>
            <a:r>
              <a:rPr b="1" i="1" lang="ru" sz="1600">
                <a:solidFill>
                  <a:schemeClr val="dk1"/>
                </a:solidFill>
                <a:latin typeface="Urbanist"/>
                <a:ea typeface="Urbanist"/>
                <a:cs typeface="Urbanist"/>
                <a:sym typeface="Urbanist"/>
              </a:rPr>
              <a:t>էլեկտրոնային ուղեղ</a:t>
            </a:r>
            <a:r>
              <a:rPr lang="ru" sz="1600">
                <a:solidFill>
                  <a:schemeClr val="dk1"/>
                </a:solidFill>
                <a:latin typeface="Urbanist"/>
                <a:ea typeface="Urbanist"/>
                <a:cs typeface="Urbanist"/>
                <a:sym typeface="Urbanist"/>
              </a:rPr>
              <a:t> կառուցելու հնարավորությունը։ </a:t>
            </a:r>
            <a:endParaRPr sz="1600">
              <a:solidFill>
                <a:schemeClr val="dk1"/>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Image" id="108" name="Google Shape;108;p2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9" name="Google Shape;109;p2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ԱԲ-ն՝ 1956 թվականին</a:t>
            </a:r>
            <a:endParaRPr b="0" i="0" sz="500" u="none" cap="none" strike="noStrike">
              <a:solidFill>
                <a:srgbClr val="000000"/>
              </a:solidFill>
              <a:latin typeface="Arial"/>
              <a:ea typeface="Arial"/>
              <a:cs typeface="Arial"/>
              <a:sym typeface="Arial"/>
            </a:endParaRPr>
          </a:p>
        </p:txBody>
      </p:sp>
      <p:sp>
        <p:nvSpPr>
          <p:cNvPr id="110" name="Google Shape;110;p22"/>
          <p:cNvSpPr txBox="1"/>
          <p:nvPr/>
        </p:nvSpPr>
        <p:spPr>
          <a:xfrm>
            <a:off x="642925" y="1831425"/>
            <a:ext cx="8162400" cy="16971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Արհեստական բանականության հետազոտության ոլորտը հիմնադրվեց 1956 թվականին </a:t>
            </a:r>
            <a:r>
              <a:rPr b="1" i="1" lang="ru" sz="1600">
                <a:solidFill>
                  <a:schemeClr val="dk1"/>
                </a:solidFill>
                <a:latin typeface="Urbanist"/>
                <a:ea typeface="Urbanist"/>
                <a:cs typeface="Urbanist"/>
                <a:sym typeface="Urbanist"/>
              </a:rPr>
              <a:t>Դարտմուտի քոլեջի</a:t>
            </a:r>
            <a:r>
              <a:rPr lang="ru" sz="1600">
                <a:solidFill>
                  <a:schemeClr val="dk1"/>
                </a:solidFill>
                <a:latin typeface="Urbanist"/>
                <a:ea typeface="Urbanist"/>
                <a:cs typeface="Urbanist"/>
                <a:sym typeface="Urbanist"/>
              </a:rPr>
              <a:t> տարածքում կազմակերպված սեմինարի ընթացքում։ Սեմինարի մասնակիցները դարձան ԱԲ հետազոտությունների առաջնորդները տասնամյակների ընթացքում։ Նրանցից շատերը կանխատեսում էին, որ մեկ սերնդի ընթացքում կհայտնվեն մարդու պես խելացի մեքենաներ։ </a:t>
            </a:r>
            <a:r>
              <a:rPr b="1" i="1" lang="ru" sz="1600">
                <a:solidFill>
                  <a:schemeClr val="dk1"/>
                </a:solidFill>
                <a:latin typeface="Urbanist"/>
                <a:ea typeface="Urbanist"/>
                <a:cs typeface="Urbanist"/>
                <a:sym typeface="Urbanist"/>
              </a:rPr>
              <a:t>ԱՄՆ </a:t>
            </a:r>
            <a:r>
              <a:rPr lang="ru" sz="1600">
                <a:solidFill>
                  <a:schemeClr val="dk1"/>
                </a:solidFill>
                <a:latin typeface="Urbanist"/>
                <a:ea typeface="Urbanist"/>
                <a:cs typeface="Urbanist"/>
                <a:sym typeface="Urbanist"/>
              </a:rPr>
              <a:t>կառավարությունը տրամադրեց միլիոնավոր դոլարներ՝ այս տեսլականը իրականություն դարձնելու հույսով։ </a:t>
            </a:r>
            <a:endParaRPr sz="1600">
              <a:solidFill>
                <a:schemeClr val="dk1"/>
              </a:solidFill>
              <a:latin typeface="Urbanist"/>
              <a:ea typeface="Urbanist"/>
              <a:cs typeface="Urbanist"/>
              <a:sym typeface="Urbanis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Image" id="115" name="Google Shape;115;p2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16" name="Google Shape;116;p2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AI Winter (ԱԲ սառցե շրջան)</a:t>
            </a:r>
            <a:endParaRPr b="0" i="0" sz="500" u="none" cap="none" strike="noStrike">
              <a:solidFill>
                <a:srgbClr val="000000"/>
              </a:solidFill>
              <a:latin typeface="Arial"/>
              <a:ea typeface="Arial"/>
              <a:cs typeface="Arial"/>
              <a:sym typeface="Arial"/>
            </a:endParaRPr>
          </a:p>
        </p:txBody>
      </p:sp>
      <p:sp>
        <p:nvSpPr>
          <p:cNvPr id="117" name="Google Shape;117;p23"/>
          <p:cNvSpPr txBox="1"/>
          <p:nvPr/>
        </p:nvSpPr>
        <p:spPr>
          <a:xfrm>
            <a:off x="642925" y="1831425"/>
            <a:ext cx="8162400" cy="14139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Վերջնականապես պարզ դարձավ, որ հետազոտողները չափազանց թերագնահատել էին այս նվաճման բարդությունը։ 1974 թվականին Ջեյմս Լայթհիլի քննադատությունը և ԱՄՆ Կոնգրեսի ճնշումները հանգեցրին այն բանին, որ </a:t>
            </a:r>
            <a:r>
              <a:rPr b="1" i="1" lang="ru" sz="1600">
                <a:solidFill>
                  <a:schemeClr val="dk1"/>
                </a:solidFill>
                <a:latin typeface="Urbanist"/>
                <a:ea typeface="Urbanist"/>
                <a:cs typeface="Urbanist"/>
                <a:sym typeface="Urbanist"/>
              </a:rPr>
              <a:t>ԱՄՆ</a:t>
            </a:r>
            <a:r>
              <a:rPr lang="ru" sz="1600">
                <a:solidFill>
                  <a:schemeClr val="dk1"/>
                </a:solidFill>
                <a:latin typeface="Urbanist"/>
                <a:ea typeface="Urbanist"/>
                <a:cs typeface="Urbanist"/>
                <a:sym typeface="Urbanist"/>
              </a:rPr>
              <a:t>-ն ու </a:t>
            </a:r>
            <a:r>
              <a:rPr b="1" i="1" lang="ru" sz="1600">
                <a:solidFill>
                  <a:schemeClr val="dk1"/>
                </a:solidFill>
                <a:latin typeface="Urbanist"/>
                <a:ea typeface="Urbanist"/>
                <a:cs typeface="Urbanist"/>
                <a:sym typeface="Urbanist"/>
              </a:rPr>
              <a:t>Մեծ Բրիտանիան դադարեցրին արհեստական բանականության որևէ ուղղություն չհետապնդող հետազոտությունների ֆինանսավորումը</a:t>
            </a:r>
            <a:r>
              <a:rPr lang="ru" sz="1600">
                <a:solidFill>
                  <a:schemeClr val="dk1"/>
                </a:solidFill>
                <a:latin typeface="Urbanist"/>
                <a:ea typeface="Urbanist"/>
                <a:cs typeface="Urbanist"/>
                <a:sym typeface="Urbanist"/>
              </a:rPr>
              <a:t>։</a:t>
            </a:r>
            <a:endParaRPr sz="1600">
              <a:solidFill>
                <a:schemeClr val="dk1"/>
              </a:solidFill>
              <a:latin typeface="Urbanist"/>
              <a:ea typeface="Urbanist"/>
              <a:cs typeface="Urbanist"/>
              <a:sym typeface="Urbanis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Image" id="122" name="Google Shape;122;p2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23" name="Google Shape;123;p2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վերելք</a:t>
            </a:r>
            <a:endParaRPr b="0" i="0" sz="500" u="none" cap="none" strike="noStrike">
              <a:solidFill>
                <a:srgbClr val="000000"/>
              </a:solidFill>
              <a:latin typeface="Arial"/>
              <a:ea typeface="Arial"/>
              <a:cs typeface="Arial"/>
              <a:sym typeface="Arial"/>
            </a:endParaRPr>
          </a:p>
        </p:txBody>
      </p:sp>
      <p:sp>
        <p:nvSpPr>
          <p:cNvPr id="124" name="Google Shape;124;p24"/>
          <p:cNvSpPr txBox="1"/>
          <p:nvPr/>
        </p:nvSpPr>
        <p:spPr>
          <a:xfrm>
            <a:off x="642925" y="1831425"/>
            <a:ext cx="8162400" cy="1130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Յոթ տարի անց </a:t>
            </a:r>
            <a:r>
              <a:rPr b="1" i="1" lang="ru" sz="1600">
                <a:solidFill>
                  <a:schemeClr val="dk1"/>
                </a:solidFill>
                <a:latin typeface="Urbanist"/>
                <a:ea typeface="Urbanist"/>
                <a:cs typeface="Urbanist"/>
                <a:sym typeface="Urbanist"/>
              </a:rPr>
              <a:t>Ճապոնիայի</a:t>
            </a:r>
            <a:r>
              <a:rPr lang="ru" sz="1600">
                <a:solidFill>
                  <a:schemeClr val="dk1"/>
                </a:solidFill>
                <a:latin typeface="Urbanist"/>
                <a:ea typeface="Urbanist"/>
                <a:cs typeface="Urbanist"/>
                <a:sym typeface="Urbanist"/>
              </a:rPr>
              <a:t> կառավարության հեռատես նախաձեռնությունը և փորձագետ համակարգերի հաջողությունը նորից աշխուժացրին ներդրումները ԱԲ-ում, և 1980-ականների վերջում արդյունաբերությունը վերածվեց միլիարդավոր դոլարանոց ոլորտի։ </a:t>
            </a:r>
            <a:endParaRPr sz="1600">
              <a:solidFill>
                <a:schemeClr val="dk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descr="Image" id="129" name="Google Shape;129;p2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30" name="Google Shape;130;p25"/>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երկրորդ սառցե շրջան</a:t>
            </a:r>
            <a:endParaRPr b="0" i="0" sz="500" u="none" cap="none" strike="noStrike">
              <a:solidFill>
                <a:srgbClr val="000000"/>
              </a:solidFill>
              <a:latin typeface="Arial"/>
              <a:ea typeface="Arial"/>
              <a:cs typeface="Arial"/>
              <a:sym typeface="Arial"/>
            </a:endParaRPr>
          </a:p>
        </p:txBody>
      </p:sp>
      <p:sp>
        <p:nvSpPr>
          <p:cNvPr id="131" name="Google Shape;131;p25"/>
          <p:cNvSpPr txBox="1"/>
          <p:nvPr/>
        </p:nvSpPr>
        <p:spPr>
          <a:xfrm>
            <a:off x="642925" y="1831425"/>
            <a:ext cx="8162400" cy="1130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Սակայն 1990-ականներին ներդրողների ոգևորությունը նվազեց, ոլորտը սկսեց քննադատվել մամուլում և անտեսվել արդյունաբերության կողմից (այս շրջանը հայտնի է որպես «ԱԲ սառցե շրջան»)։ Այնուամենայնիվ, հետազոտությունները և ֆինանսավորումը շարունակեցին աճել՝ այլ անուններով։ </a:t>
            </a:r>
            <a:endParaRPr sz="1600">
              <a:solidFill>
                <a:schemeClr val="dk1"/>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Image" id="136" name="Google Shape;136;p2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37" name="Google Shape;137;p2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2000 -ականներ</a:t>
            </a:r>
            <a:endParaRPr b="0" i="0" sz="500" u="none" cap="none" strike="noStrike">
              <a:solidFill>
                <a:srgbClr val="000000"/>
              </a:solidFill>
              <a:latin typeface="Arial"/>
              <a:ea typeface="Arial"/>
              <a:cs typeface="Arial"/>
              <a:sym typeface="Arial"/>
            </a:endParaRPr>
          </a:p>
        </p:txBody>
      </p:sp>
      <p:sp>
        <p:nvSpPr>
          <p:cNvPr id="138" name="Google Shape;138;p26"/>
          <p:cNvSpPr txBox="1"/>
          <p:nvPr/>
        </p:nvSpPr>
        <p:spPr>
          <a:xfrm>
            <a:off x="642925" y="1831425"/>
            <a:ext cx="8162400" cy="14139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2000-ականների սկզբին մեքենայական ուսուցումը </a:t>
            </a:r>
            <a:r>
              <a:rPr b="1" i="1" lang="ru" sz="1600">
                <a:solidFill>
                  <a:schemeClr val="dk1"/>
                </a:solidFill>
                <a:latin typeface="Urbanist"/>
                <a:ea typeface="Urbanist"/>
                <a:cs typeface="Urbanist"/>
                <a:sym typeface="Urbanist"/>
              </a:rPr>
              <a:t>կիրառվեց խնդիրների լայն շրջանակում՝ թե՛ ակադեմիական ոլորտում, թե՛ արդյունաբերությունում</a:t>
            </a:r>
            <a:r>
              <a:rPr lang="ru" sz="1600">
                <a:solidFill>
                  <a:schemeClr val="dk1"/>
                </a:solidFill>
                <a:latin typeface="Urbanist"/>
                <a:ea typeface="Urbanist"/>
                <a:cs typeface="Urbanist"/>
                <a:sym typeface="Urbanist"/>
              </a:rPr>
              <a:t>։ Հաջողությունը պայմանավորված էր հզոր համակարգչային սարքավորումների հասանելիությամբ, հսկայական տվյալների հավաքագրումով և ամուր մաթեմատիկական մեթոդների կիրառմամբ։</a:t>
            </a:r>
            <a:endParaRPr sz="1600">
              <a:solidFill>
                <a:schemeClr val="dk1"/>
              </a:solidFill>
              <a:latin typeface="Urbanist"/>
              <a:ea typeface="Urbanist"/>
              <a:cs typeface="Urbanist"/>
              <a:sym typeface="Urbanis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Image" id="143" name="Google Shape;143;p2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44" name="Google Shape;144;p2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2010 -ականներ</a:t>
            </a:r>
            <a:endParaRPr b="0" i="0" sz="500" u="none" cap="none" strike="noStrike">
              <a:solidFill>
                <a:srgbClr val="000000"/>
              </a:solidFill>
              <a:latin typeface="Arial"/>
              <a:ea typeface="Arial"/>
              <a:cs typeface="Arial"/>
              <a:sym typeface="Arial"/>
            </a:endParaRPr>
          </a:p>
        </p:txBody>
      </p:sp>
      <p:sp>
        <p:nvSpPr>
          <p:cNvPr id="145" name="Google Shape;145;p27"/>
          <p:cNvSpPr txBox="1"/>
          <p:nvPr/>
        </p:nvSpPr>
        <p:spPr>
          <a:xfrm>
            <a:off x="642925" y="1831425"/>
            <a:ext cx="8162400" cy="1130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Շուտով խորը ուսուցումը ապացուցեց, որ այն հեղափոխական տեխնոլոգիա է՝ ստվերելով բոլոր մյուս մեթոդները։ 2017 թվականին ներկայացվեց տրանսֆորմեր ճարտարապետությունը, որը կիրառվեց տպավորիչ </a:t>
            </a:r>
            <a:r>
              <a:rPr b="1" i="1" lang="ru" sz="1600">
                <a:solidFill>
                  <a:schemeClr val="dk1"/>
                </a:solidFill>
                <a:latin typeface="Urbanist"/>
                <a:ea typeface="Urbanist"/>
                <a:cs typeface="Urbanist"/>
                <a:sym typeface="Urbanist"/>
              </a:rPr>
              <a:t>գեներացնող ԱԲ լուծումներ ստեղծելու համար, և ոչ միայն</a:t>
            </a:r>
            <a:r>
              <a:rPr lang="ru" sz="1600">
                <a:solidFill>
                  <a:schemeClr val="dk1"/>
                </a:solidFill>
                <a:latin typeface="Urbanist"/>
                <a:ea typeface="Urbanist"/>
                <a:cs typeface="Urbanist"/>
                <a:sym typeface="Urbanist"/>
              </a:rPr>
              <a:t>։ </a:t>
            </a:r>
            <a:endParaRPr sz="1600">
              <a:solidFill>
                <a:schemeClr val="dk1"/>
              </a:solidFill>
              <a:latin typeface="Urbanist"/>
              <a:ea typeface="Urbanist"/>
              <a:cs typeface="Urbanist"/>
              <a:sym typeface="Urbanis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descr="Image" id="150" name="Google Shape;150;p2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51" name="Google Shape;151;p2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2020 -ականներ</a:t>
            </a:r>
            <a:endParaRPr b="0" i="0" sz="500" u="none" cap="none" strike="noStrike">
              <a:solidFill>
                <a:srgbClr val="000000"/>
              </a:solidFill>
              <a:latin typeface="Arial"/>
              <a:ea typeface="Arial"/>
              <a:cs typeface="Arial"/>
              <a:sym typeface="Arial"/>
            </a:endParaRPr>
          </a:p>
        </p:txBody>
      </p:sp>
      <p:sp>
        <p:nvSpPr>
          <p:cNvPr id="152" name="Google Shape;152;p28"/>
          <p:cNvSpPr txBox="1"/>
          <p:nvPr/>
        </p:nvSpPr>
        <p:spPr>
          <a:xfrm>
            <a:off x="642925" y="1831425"/>
            <a:ext cx="8162400" cy="26751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solidFill>
                  <a:schemeClr val="dk1"/>
                </a:solidFill>
                <a:latin typeface="Urbanist"/>
                <a:ea typeface="Urbanist"/>
                <a:cs typeface="Urbanist"/>
                <a:sym typeface="Urbanist"/>
              </a:rPr>
              <a:t>2020-ականներին ԱԲ-ի ներդրումները կտրուկ աճեցին։ Վերջին վերելքներից մեկը, որը սկիզբ առավ տրանսֆորմեր ճարտարապետության զարգացման արդյունքում, հանգեցրեց մեծ լեզվային մոդելների (</a:t>
            </a:r>
            <a:r>
              <a:rPr b="1" i="1" lang="ru" sz="1600">
                <a:solidFill>
                  <a:schemeClr val="dk1"/>
                </a:solidFill>
                <a:latin typeface="Urbanist"/>
                <a:ea typeface="Urbanist"/>
                <a:cs typeface="Urbanist"/>
                <a:sym typeface="Urbanist"/>
              </a:rPr>
              <a:t>LLM</a:t>
            </a:r>
            <a:r>
              <a:rPr lang="ru" sz="1600">
                <a:solidFill>
                  <a:schemeClr val="dk1"/>
                </a:solidFill>
                <a:latin typeface="Urbanist"/>
                <a:ea typeface="Urbanist"/>
                <a:cs typeface="Urbanist"/>
                <a:sym typeface="Urbanist"/>
              </a:rPr>
              <a:t>, ինչպիսիք են </a:t>
            </a:r>
            <a:r>
              <a:rPr b="1" i="1" lang="ru" sz="1600">
                <a:solidFill>
                  <a:schemeClr val="dk1"/>
                </a:solidFill>
                <a:latin typeface="Urbanist"/>
                <a:ea typeface="Urbanist"/>
                <a:cs typeface="Urbanist"/>
                <a:sym typeface="Urbanist"/>
              </a:rPr>
              <a:t>ChatGPT</a:t>
            </a:r>
            <a:r>
              <a:rPr lang="ru" sz="1600">
                <a:solidFill>
                  <a:schemeClr val="dk1"/>
                </a:solidFill>
                <a:latin typeface="Urbanist"/>
                <a:ea typeface="Urbanist"/>
                <a:cs typeface="Urbanist"/>
                <a:sym typeface="Urbanist"/>
              </a:rPr>
              <a:t>-ն), արագ ընդլայնմանը և հանրային հասանելիությանը։ Այս մոդելները ցուցաբերում են մարդու կարողություննեիր նման հատկանիշներ՝ գիտելիք, ուշադրություն և ստեղծագործականություն, և ինտեգրվել են տարբեր ոլորտներում՝ </a:t>
            </a:r>
            <a:r>
              <a:rPr b="1" i="1" lang="ru" sz="1600">
                <a:solidFill>
                  <a:schemeClr val="dk1"/>
                </a:solidFill>
                <a:latin typeface="Urbanist"/>
                <a:ea typeface="Urbanist"/>
                <a:cs typeface="Urbanist"/>
                <a:sym typeface="Urbanist"/>
              </a:rPr>
              <a:t>խթանելով ԱԲ-ի ներդրումների էքսպոնենցիալ աճ</a:t>
            </a:r>
            <a:r>
              <a:rPr lang="ru" sz="1600">
                <a:solidFill>
                  <a:schemeClr val="dk1"/>
                </a:solidFill>
                <a:latin typeface="Urbanist"/>
                <a:ea typeface="Urbanist"/>
                <a:cs typeface="Urbanist"/>
                <a:sym typeface="Urbanist"/>
              </a:rPr>
              <a:t>։</a:t>
            </a:r>
            <a:endParaRPr sz="1600">
              <a:solidFill>
                <a:schemeClr val="dk1"/>
              </a:solidFill>
              <a:latin typeface="Urbanist"/>
              <a:ea typeface="Urbanist"/>
              <a:cs typeface="Urbanist"/>
              <a:sym typeface="Urbanist"/>
            </a:endParaRPr>
          </a:p>
          <a:p>
            <a:pPr indent="0" lvl="0" marL="0" rtl="0" algn="l">
              <a:lnSpc>
                <a:spcPct val="115000"/>
              </a:lnSpc>
              <a:spcBef>
                <a:spcPts val="1000"/>
              </a:spcBef>
              <a:spcAft>
                <a:spcPts val="0"/>
              </a:spcAft>
              <a:buNone/>
            </a:pPr>
            <a:r>
              <a:rPr lang="ru" sz="1600">
                <a:solidFill>
                  <a:schemeClr val="dk1"/>
                </a:solidFill>
                <a:latin typeface="Urbanist"/>
                <a:ea typeface="Urbanist"/>
                <a:cs typeface="Urbanist"/>
                <a:sym typeface="Urbanist"/>
              </a:rPr>
              <a:t>Այնուամենայնիվ, ի հայտ եկան մտահոգություններ զարգացած ԱԲ-ի հնարավոր ռիսկերի և էթիկական հետևանքների վերաբերյալ, ինչը առաջացրեց բանավեճեր ԱԲ-ի ապագայի և դրա՝ հասարակության վրա ունեցած ազդեցության շուրջ։ </a:t>
            </a:r>
            <a:endParaRPr sz="1600">
              <a:solidFill>
                <a:schemeClr val="dk1"/>
              </a:solidFill>
              <a:latin typeface="Urbanist"/>
              <a:ea typeface="Urbanist"/>
              <a:cs typeface="Urbanist"/>
              <a:sym typeface="Urbanis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Image" id="157" name="Google Shape;157;p2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58" name="Google Shape;158;p2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Հարցեր</a:t>
            </a:r>
            <a:endParaRPr b="0" i="0" sz="500" u="none" cap="none" strike="noStrike">
              <a:solidFill>
                <a:srgbClr val="000000"/>
              </a:solidFill>
              <a:latin typeface="Arial"/>
              <a:ea typeface="Arial"/>
              <a:cs typeface="Arial"/>
              <a:sym typeface="Arial"/>
            </a:endParaRPr>
          </a:p>
        </p:txBody>
      </p:sp>
      <p:sp>
        <p:nvSpPr>
          <p:cNvPr id="159" name="Google Shape;159;p29"/>
          <p:cNvSpPr txBox="1"/>
          <p:nvPr/>
        </p:nvSpPr>
        <p:spPr>
          <a:xfrm>
            <a:off x="642925" y="1831425"/>
            <a:ext cx="8162400" cy="2931600"/>
          </a:xfrm>
          <a:prstGeom prst="rect">
            <a:avLst/>
          </a:prstGeom>
          <a:noFill/>
          <a:ln>
            <a:noFill/>
          </a:ln>
        </p:spPr>
        <p:txBody>
          <a:bodyPr anchorCtr="0" anchor="t" bIns="17150" lIns="17150" spcFirstLastPara="1" rIns="17150" wrap="square" tIns="17150">
            <a:spAutoFit/>
          </a:bodyPr>
          <a:lstStyle/>
          <a:p>
            <a:pPr indent="-330200" lvl="0" marL="179999" rtl="0" algn="l">
              <a:lnSpc>
                <a:spcPct val="115000"/>
              </a:lnSpc>
              <a:spcBef>
                <a:spcPts val="0"/>
              </a:spcBef>
              <a:spcAft>
                <a:spcPts val="0"/>
              </a:spcAft>
              <a:buSzPts val="1600"/>
              <a:buFont typeface="Urbanist"/>
              <a:buAutoNum type="arabicPeriod"/>
            </a:pPr>
            <a:r>
              <a:rPr lang="ru" sz="1600">
                <a:latin typeface="Urbanist"/>
                <a:ea typeface="Urbanist"/>
                <a:cs typeface="Urbanist"/>
                <a:sym typeface="Urbanist"/>
              </a:rPr>
              <a:t>Ձեր կարծիքով, ո՞ր ժամանակաշրջանն է լավագույնս նպաստել ԱԲ ֊ի որպես գիտական ոլորտ ճանաչմանը։ Ինչո՞ւ։</a:t>
            </a:r>
            <a:endParaRPr sz="1600">
              <a:latin typeface="Urbanist"/>
              <a:ea typeface="Urbanist"/>
              <a:cs typeface="Urbanist"/>
              <a:sym typeface="Urbanist"/>
            </a:endParaRPr>
          </a:p>
          <a:p>
            <a:pPr indent="-330200" lvl="0" marL="179999"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Ինչո՞ւ էին առաջին հետազոտողները կարծում, որ շուտով հնարավոր կլինի ստեղծել մարդու կարողություններին հավասար ԱԲ։</a:t>
            </a:r>
            <a:endParaRPr sz="1600">
              <a:latin typeface="Urbanist"/>
              <a:ea typeface="Urbanist"/>
              <a:cs typeface="Urbanist"/>
              <a:sym typeface="Urbanist"/>
            </a:endParaRPr>
          </a:p>
          <a:p>
            <a:pPr indent="-330200" lvl="0" marL="179999"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Ի՞նչ նմանություններ կարելի է նկատել անցյալի ԱԲ սառցե շրջանների և ներկայիս ԱԲ-ի ոգևորության ալիքի միջև, հատկապես սպասումների, ներդրումների, հասարակական վստահության և մեդիայի ուշադրության առումով։</a:t>
            </a:r>
            <a:endParaRPr sz="1600">
              <a:latin typeface="Urbanist"/>
              <a:ea typeface="Urbanist"/>
              <a:cs typeface="Urbanist"/>
              <a:sym typeface="Urbanist"/>
            </a:endParaRPr>
          </a:p>
          <a:p>
            <a:pPr indent="-330200" lvl="0" marL="179999" rtl="0" algn="l">
              <a:lnSpc>
                <a:spcPct val="115000"/>
              </a:lnSpc>
              <a:spcBef>
                <a:spcPts val="1000"/>
              </a:spcBef>
              <a:spcAft>
                <a:spcPts val="1000"/>
              </a:spcAft>
              <a:buSzPts val="1600"/>
              <a:buFont typeface="Urbanist"/>
              <a:buAutoNum type="arabicPeriod"/>
            </a:pPr>
            <a:r>
              <a:rPr lang="ru" sz="1600">
                <a:latin typeface="Urbanist"/>
                <a:ea typeface="Urbanist"/>
                <a:cs typeface="Urbanist"/>
                <a:sym typeface="Urbanist"/>
              </a:rPr>
              <a:t>Ի՞նչ եք կարծում, ներկայիս ԱԲ զարգացումները տանում են ավելի մեծ հնարավորությունների, թե՞ ռիսկերի։</a:t>
            </a:r>
            <a:endParaRPr sz="1600">
              <a:latin typeface="Urbanist"/>
              <a:ea typeface="Urbanist"/>
              <a:cs typeface="Urbanist"/>
              <a:sym typeface="Urbanis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descr="Image" id="164" name="Google Shape;164;p3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65" name="Google Shape;165;p3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1</a:t>
            </a:r>
            <a:endParaRPr b="0" i="0" sz="500" u="none" cap="none" strike="noStrike">
              <a:solidFill>
                <a:srgbClr val="000000"/>
              </a:solidFill>
              <a:latin typeface="Arial"/>
              <a:ea typeface="Arial"/>
              <a:cs typeface="Arial"/>
              <a:sym typeface="Arial"/>
            </a:endParaRPr>
          </a:p>
        </p:txBody>
      </p:sp>
      <p:sp>
        <p:nvSpPr>
          <p:cNvPr id="166" name="Google Shape;166;p30"/>
          <p:cNvSpPr txBox="1"/>
          <p:nvPr/>
        </p:nvSpPr>
        <p:spPr>
          <a:xfrm>
            <a:off x="642925" y="1831425"/>
            <a:ext cx="8162400" cy="12846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0"/>
              </a:spcAft>
              <a:buClr>
                <a:schemeClr val="dk1"/>
              </a:buClr>
              <a:buSzPts val="1100"/>
              <a:buFont typeface="Arial"/>
              <a:buNone/>
            </a:pPr>
            <a:r>
              <a:rPr lang="ru" sz="1600">
                <a:solidFill>
                  <a:schemeClr val="dk2"/>
                </a:solidFill>
                <a:latin typeface="Urbanist SemiBold"/>
                <a:ea typeface="Urbanist SemiBold"/>
                <a:cs typeface="Urbanist SemiBold"/>
                <a:sym typeface="Urbanist SemiBold"/>
              </a:rPr>
              <a:t>Ո՞ր ժամանակաշրջանը նպաստեց ԱԲ-ի ճանաչմանը որպես գիտական ոլորտ:</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1956 թ․ Դարտմուտի համաժողովը, քանի որ հենց այստեղ ձևավորվեց ԱԲ-ն որպես առանձին գիտական ոլորտ, և հետագա տասնամյակների առաջատար գիտնականները հանդես եկան միասին։</a:t>
            </a:r>
            <a:endParaRPr sz="1600">
              <a:solidFill>
                <a:schemeClr val="dk1"/>
              </a:solidFill>
              <a:latin typeface="Urbanist"/>
              <a:ea typeface="Urbanist"/>
              <a:cs typeface="Urbanist"/>
              <a:sym typeface="Urbanis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Image" id="171" name="Google Shape;171;p3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72" name="Google Shape;172;p3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2</a:t>
            </a:r>
            <a:endParaRPr b="0" i="0" sz="500" u="none" cap="none" strike="noStrike">
              <a:solidFill>
                <a:srgbClr val="000000"/>
              </a:solidFill>
              <a:latin typeface="Arial"/>
              <a:ea typeface="Arial"/>
              <a:cs typeface="Arial"/>
              <a:sym typeface="Arial"/>
            </a:endParaRPr>
          </a:p>
        </p:txBody>
      </p:sp>
      <p:sp>
        <p:nvSpPr>
          <p:cNvPr id="173" name="Google Shape;173;p31"/>
          <p:cNvSpPr txBox="1"/>
          <p:nvPr/>
        </p:nvSpPr>
        <p:spPr>
          <a:xfrm>
            <a:off x="642925" y="1831425"/>
            <a:ext cx="8162400" cy="12846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0"/>
              </a:spcAft>
              <a:buClr>
                <a:schemeClr val="dk1"/>
              </a:buClr>
              <a:buSzPts val="1100"/>
              <a:buFont typeface="Arial"/>
              <a:buNone/>
            </a:pPr>
            <a:r>
              <a:rPr lang="ru" sz="1600">
                <a:solidFill>
                  <a:schemeClr val="dk2"/>
                </a:solidFill>
                <a:latin typeface="Urbanist SemiBold"/>
                <a:ea typeface="Urbanist SemiBold"/>
                <a:cs typeface="Urbanist SemiBold"/>
                <a:sym typeface="Urbanist SemiBold"/>
              </a:rPr>
              <a:t>Ինչո՞ւ էին առաջին հետազոտողները կարծում, որ շուտով հնարավոր կլինի ստեղծել մարդու կարողություններին հավասար ԱԲ։</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Նրանք նկատել էին համակարգիչների արագ զարգացումը և կարծում էին, որ մարդկային մտածողությունը կարելի է հեշտությամբ մոդելավորել ալգորիթմներով։ </a:t>
            </a:r>
            <a:endParaRPr sz="1600">
              <a:solidFill>
                <a:schemeClr val="dk1"/>
              </a:solidFill>
              <a:latin typeface="Urbanist"/>
              <a:ea typeface="Urbanist"/>
              <a:cs typeface="Urbanist"/>
              <a:sym typeface="Urbanis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Image" id="178" name="Google Shape;178;p3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79" name="Google Shape;179;p3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3</a:t>
            </a:r>
            <a:endParaRPr b="0" i="0" sz="500" u="none" cap="none" strike="noStrike">
              <a:solidFill>
                <a:srgbClr val="000000"/>
              </a:solidFill>
              <a:latin typeface="Arial"/>
              <a:ea typeface="Arial"/>
              <a:cs typeface="Arial"/>
              <a:sym typeface="Arial"/>
            </a:endParaRPr>
          </a:p>
        </p:txBody>
      </p:sp>
      <p:sp>
        <p:nvSpPr>
          <p:cNvPr id="180" name="Google Shape;180;p32"/>
          <p:cNvSpPr txBox="1"/>
          <p:nvPr/>
        </p:nvSpPr>
        <p:spPr>
          <a:xfrm>
            <a:off x="642925" y="1831425"/>
            <a:ext cx="8162400" cy="18510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Նմանություններ ԱԲ սառցե շրջանների և ներկայիս ԱԲ-ի ոգևորության ալիքի միջև, հատկապես սպասումների, ներդրումների, հասարակական վստահության և մեդիայի ուշադրության առումով։ </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Երկու դեպքում էլ կար և կա մեծ ակնկալիքներ, մեծ ներդրումներ, մեդիայի մեծ ուշադրություն, բայց նաև՝ վտանգ, որ չափազանցված խոստումները կարող են հիասթափություն բերել։</a:t>
            </a:r>
            <a:endParaRPr sz="1600">
              <a:solidFill>
                <a:schemeClr val="dk1"/>
              </a:solidFill>
              <a:latin typeface="Urbanist"/>
              <a:ea typeface="Urbanist"/>
              <a:cs typeface="Urbanist"/>
              <a:sym typeface="Urbanis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Image" id="185" name="Google Shape;185;p3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86" name="Google Shape;186;p3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3</a:t>
            </a:r>
            <a:endParaRPr b="0" i="0" sz="500" u="none" cap="none" strike="noStrike">
              <a:solidFill>
                <a:srgbClr val="000000"/>
              </a:solidFill>
              <a:latin typeface="Arial"/>
              <a:ea typeface="Arial"/>
              <a:cs typeface="Arial"/>
              <a:sym typeface="Arial"/>
            </a:endParaRPr>
          </a:p>
        </p:txBody>
      </p:sp>
      <p:sp>
        <p:nvSpPr>
          <p:cNvPr id="187" name="Google Shape;187;p33"/>
          <p:cNvSpPr txBox="1"/>
          <p:nvPr/>
        </p:nvSpPr>
        <p:spPr>
          <a:xfrm>
            <a:off x="642925" y="1831425"/>
            <a:ext cx="8162400" cy="15678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0"/>
              </a:spcAft>
              <a:buClr>
                <a:schemeClr val="dk1"/>
              </a:buClr>
              <a:buSzPts val="1100"/>
              <a:buFont typeface="Arial"/>
              <a:buNone/>
            </a:pPr>
            <a:r>
              <a:rPr lang="ru" sz="1600">
                <a:solidFill>
                  <a:schemeClr val="dk2"/>
                </a:solidFill>
                <a:latin typeface="Urbanist SemiBold"/>
                <a:ea typeface="Urbanist SemiBold"/>
                <a:cs typeface="Urbanist SemiBold"/>
                <a:sym typeface="Urbanist SemiBold"/>
              </a:rPr>
              <a:t>Արդյոք ներկայիս զարգացումները տանում են ավելի մեծ հնարավորությունների, թե՞ ռիսկերի:</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Երկուսն էլ․ կան մեծ հնարավորություններ առողջապահության, կրթության և արդյունաբերության ոլորտներում, բայց նաև ռիսկեր՝ կապված աշխատատեղերի նվազման, էթիկայի և անվտանգության հետ։ </a:t>
            </a:r>
            <a:endParaRPr sz="1600">
              <a:solidFill>
                <a:schemeClr val="dk1"/>
              </a:solidFill>
              <a:latin typeface="Urbanist"/>
              <a:ea typeface="Urbanist"/>
              <a:cs typeface="Urbanist"/>
              <a:sym typeface="Urbanis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Image" id="192" name="Google Shape;192;p3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93" name="Google Shape;193;p3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ներկայիս կանխատեսումներ</a:t>
            </a:r>
            <a:endParaRPr b="0" i="0" sz="500" u="none" cap="none" strike="noStrike">
              <a:solidFill>
                <a:srgbClr val="000000"/>
              </a:solidFill>
              <a:latin typeface="Arial"/>
              <a:ea typeface="Arial"/>
              <a:cs typeface="Arial"/>
              <a:sym typeface="Arial"/>
            </a:endParaRPr>
          </a:p>
        </p:txBody>
      </p:sp>
      <p:pic>
        <p:nvPicPr>
          <p:cNvPr descr="A research paper predicting that artificial intelligence will go rogue in 2027 and lead to humanity’s extinction within a decade is making waves in the tech world. &#10;&#10;Click here to subscribe to our channel 👉🏽 https://bbc.in/3VyyriM&#10;&#10;The detailed scenario, called AI2027, was published by a group of influential AI experts in the spring and has since spurred many viral videos as people debate its likelihood. The BBC has recreated scenes from the scenario using mainstream generative AI tools to illustrate the stark prediction and spoken to experts about the impact the paper is having. &#10;&#10;00:00 The AI2027 scenario&#10;00:35 OpenBrain reaches AGI in 2027&#10;02:30 Superintelligence is reached in late 2027&#10;03:51 Mass job losses begin in 2028&#10;04:40 Peace deal averts war in 2029&#10;04:58 Humanity is wiped out in 2035&#10;05:39 Gary Marcus criticises AI2027&#10;06:53 Thomas Larsen on the alternative ending&#10;&#10;----------------&#10;This is the official BBC World Service YouTube channel. &#10;If you like what we do, you can also find us here:&#10;Instagram 👉🏽 https://www.instagram.com/bbcworldservice&#10;Twitter 👉🏽 https://twitter.com/bbcworldservice&#10;Facebook 👉🏽 https://facebook.com/bbcworldservice&#10;BBC World Service website 👉🏽 https://www.bbc.co.uk/worldserviceradio&#10;&#10;Thanks for watching and subscribing!&#10;#BBCWorldService #WorldService #ai #artificialintelligence" id="194" name="Google Shape;194;p34" title="AI2027: Is this how AI might destroy humanity? - BBC World Service">
            <a:hlinkClick r:id="rId4"/>
          </p:cNvPr>
          <p:cNvPicPr preferRelativeResize="0"/>
          <p:nvPr/>
        </p:nvPicPr>
        <p:blipFill>
          <a:blip r:embed="rId5">
            <a:alphaModFix/>
          </a:blip>
          <a:stretch>
            <a:fillRect/>
          </a:stretch>
        </p:blipFill>
        <p:spPr>
          <a:xfrm>
            <a:off x="1168788" y="1146774"/>
            <a:ext cx="6806425" cy="3828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descr="Image" id="199" name="Google Shape;199;p3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00" name="Google Shape;200;p35"/>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Հարցեր</a:t>
            </a:r>
            <a:endParaRPr b="0" i="0" sz="500" u="none" cap="none" strike="noStrike">
              <a:solidFill>
                <a:srgbClr val="000000"/>
              </a:solidFill>
              <a:latin typeface="Arial"/>
              <a:ea typeface="Arial"/>
              <a:cs typeface="Arial"/>
              <a:sym typeface="Arial"/>
            </a:endParaRPr>
          </a:p>
        </p:txBody>
      </p:sp>
      <p:sp>
        <p:nvSpPr>
          <p:cNvPr id="201" name="Google Shape;201;p35"/>
          <p:cNvSpPr txBox="1"/>
          <p:nvPr/>
        </p:nvSpPr>
        <p:spPr>
          <a:xfrm>
            <a:off x="642925" y="1831425"/>
            <a:ext cx="8162400" cy="2519100"/>
          </a:xfrm>
          <a:prstGeom prst="rect">
            <a:avLst/>
          </a:prstGeom>
          <a:noFill/>
          <a:ln>
            <a:noFill/>
          </a:ln>
        </p:spPr>
        <p:txBody>
          <a:bodyPr anchorCtr="0" anchor="t" bIns="17150" lIns="17150" spcFirstLastPara="1" rIns="17150" wrap="square" tIns="17150">
            <a:spAutoFit/>
          </a:bodyPr>
          <a:lstStyle/>
          <a:p>
            <a:pPr indent="-330200" lvl="0" marL="179999" rtl="0" algn="l">
              <a:lnSpc>
                <a:spcPct val="115000"/>
              </a:lnSpc>
              <a:spcBef>
                <a:spcPts val="1200"/>
              </a:spcBef>
              <a:spcAft>
                <a:spcPts val="0"/>
              </a:spcAft>
              <a:buSzPts val="1600"/>
              <a:buFont typeface="Urbanist"/>
              <a:buAutoNum type="arabicPeriod"/>
            </a:pPr>
            <a:r>
              <a:rPr lang="ru" sz="1600">
                <a:latin typeface="Urbanist"/>
                <a:ea typeface="Urbanist"/>
                <a:cs typeface="Urbanist"/>
                <a:sym typeface="Urbanist"/>
              </a:rPr>
              <a:t>Ըստ տեսանյութի՝ ի՞նչ գործընթացներ կարող են նպաստել ԱԲ-ի արագ զարգացմանը։</a:t>
            </a:r>
            <a:endParaRPr sz="1600">
              <a:latin typeface="Urbanist"/>
              <a:ea typeface="Urbanist"/>
              <a:cs typeface="Urbanist"/>
              <a:sym typeface="Urbanist"/>
            </a:endParaRPr>
          </a:p>
          <a:p>
            <a:pPr indent="-330200" lvl="0" marL="179999"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Ի՞նչ անհանգստություններ են ներկայացված տեսանյութում։</a:t>
            </a:r>
            <a:endParaRPr sz="1600">
              <a:latin typeface="Urbanist"/>
              <a:ea typeface="Urbanist"/>
              <a:cs typeface="Urbanist"/>
              <a:sym typeface="Urbanist"/>
            </a:endParaRPr>
          </a:p>
          <a:p>
            <a:pPr indent="-330200" lvl="0" marL="179999"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Ի՞նչ եք կարծում՝ արդյոք դրանք կարող են իրականանալ, թե՞ չափազանցված են։ Ի՞նչ կարծիքի է Գարի Մարկուսը AI2027 -ի վերաբերյալ։</a:t>
            </a:r>
            <a:endParaRPr sz="1600">
              <a:latin typeface="Urbanist"/>
              <a:ea typeface="Urbanist"/>
              <a:cs typeface="Urbanist"/>
              <a:sym typeface="Urbanist"/>
            </a:endParaRPr>
          </a:p>
          <a:p>
            <a:pPr indent="-330200" lvl="0" marL="179999"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Ի՞նչ անցյալի կանխատեսումներ են ներկայացված տեսանյութում, որոնք սպասվում էր, որ արդեն պետք է իրականացած լինեն, սակայն դեռ չեն կատարվել։</a:t>
            </a:r>
            <a:endParaRPr sz="1600">
              <a:latin typeface="Urbanist"/>
              <a:ea typeface="Urbanist"/>
              <a:cs typeface="Urbanist"/>
              <a:sym typeface="Urbanist"/>
            </a:endParaRPr>
          </a:p>
          <a:p>
            <a:pPr indent="-330200" lvl="0" marL="179999" rtl="0" algn="l">
              <a:lnSpc>
                <a:spcPct val="115000"/>
              </a:lnSpc>
              <a:spcBef>
                <a:spcPts val="1200"/>
              </a:spcBef>
              <a:spcAft>
                <a:spcPts val="1000"/>
              </a:spcAft>
              <a:buSzPts val="1600"/>
              <a:buFont typeface="Urbanist"/>
              <a:buAutoNum type="arabicPeriod"/>
            </a:pPr>
            <a:r>
              <a:rPr lang="ru" sz="1600">
                <a:latin typeface="Urbanist"/>
                <a:ea typeface="Urbanist"/>
                <a:cs typeface="Urbanist"/>
                <a:sym typeface="Urbanist"/>
              </a:rPr>
              <a:t>Ի՞նչ կարծիքի է Սեմ Ալթմանը՝ ԱԲ հնարավոր զարգացումների հետ կապված։ </a:t>
            </a:r>
            <a:endParaRPr sz="1600">
              <a:latin typeface="Urbanist"/>
              <a:ea typeface="Urbanist"/>
              <a:cs typeface="Urbanist"/>
              <a:sym typeface="Urbanis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205" name="Shape 205"/>
        <p:cNvGrpSpPr/>
        <p:nvPr/>
      </p:nvGrpSpPr>
      <p:grpSpPr>
        <a:xfrm>
          <a:off x="0" y="0"/>
          <a:ext cx="0" cy="0"/>
          <a:chOff x="0" y="0"/>
          <a:chExt cx="0" cy="0"/>
        </a:xfrm>
      </p:grpSpPr>
      <p:pic>
        <p:nvPicPr>
          <p:cNvPr descr="Image" id="206" name="Google Shape;206;p36"/>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207" name="Google Shape;207;p36"/>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208" name="Google Shape;208;p36"/>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Image" id="213" name="Google Shape;213;p3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14" name="Google Shape;214;p37"/>
          <p:cNvSpPr txBox="1"/>
          <p:nvPr/>
        </p:nvSpPr>
        <p:spPr>
          <a:xfrm>
            <a:off x="476246" y="282675"/>
            <a:ext cx="8162400" cy="9273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Թեմա 2. ԱԲ -ի կիրառումը տարբեր ոլորտներում․ ապագա մասնագիտություններ</a:t>
            </a:r>
            <a:endParaRPr b="0" i="0" sz="400" u="none" cap="none" strike="noStrike">
              <a:solidFill>
                <a:srgbClr val="000000"/>
              </a:solidFill>
              <a:latin typeface="Arial"/>
              <a:ea typeface="Arial"/>
              <a:cs typeface="Arial"/>
              <a:sym typeface="Arial"/>
            </a:endParaRPr>
          </a:p>
        </p:txBody>
      </p:sp>
      <p:sp>
        <p:nvSpPr>
          <p:cNvPr id="215" name="Google Shape;215;p37"/>
          <p:cNvSpPr txBox="1"/>
          <p:nvPr/>
        </p:nvSpPr>
        <p:spPr>
          <a:xfrm>
            <a:off x="490525" y="1383600"/>
            <a:ext cx="8162400" cy="36795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30200" lvl="0" marL="457200" marR="0" rtl="0" algn="l">
              <a:lnSpc>
                <a:spcPct val="115000"/>
              </a:lnSpc>
              <a:spcBef>
                <a:spcPts val="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Բացահայտել ԱԲ-ի կիրառությունը իրական կյանքում</a:t>
            </a:r>
            <a:endParaRPr sz="1600">
              <a:solidFill>
                <a:schemeClr val="dk1"/>
              </a:solidFill>
              <a:latin typeface="Urbanist"/>
              <a:ea typeface="Urbanist"/>
              <a:cs typeface="Urbanist"/>
              <a:sym typeface="Urbanist"/>
            </a:endParaRPr>
          </a:p>
          <a:p>
            <a:pPr indent="-330200" lvl="0" marL="457200" marR="0" rtl="0" algn="l">
              <a:lnSpc>
                <a:spcPct val="115000"/>
              </a:lnSpc>
              <a:spcBef>
                <a:spcPts val="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Բացահայտել, թե ինչպես է արհեստական բանականությունը ձևավորում ապագայի մասնագիտությունները</a:t>
            </a:r>
            <a:endParaRPr sz="1600">
              <a:solidFill>
                <a:schemeClr val="dk1"/>
              </a:solidFill>
              <a:latin typeface="Urbanist"/>
              <a:ea typeface="Urbanist"/>
              <a:cs typeface="Urbanist"/>
              <a:sym typeface="Urbanist"/>
            </a:endParaRPr>
          </a:p>
          <a:p>
            <a:pPr indent="-330200" lvl="0" marL="457200" marR="0" rtl="0" algn="l">
              <a:lnSpc>
                <a:spcPct val="115000"/>
              </a:lnSpc>
              <a:spcBef>
                <a:spcPts val="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Նկարագրել այն իրավիճակներն ու առաջադրանքները, որտեղ ԱԲ-ի կիրառությունը դարձել է անխուսափելի</a:t>
            </a:r>
            <a:endParaRPr sz="1600">
              <a:solidFill>
                <a:schemeClr val="dk1"/>
              </a:solidFill>
              <a:latin typeface="Urbanist"/>
              <a:ea typeface="Urbanist"/>
              <a:cs typeface="Urbanist"/>
              <a:sym typeface="Urbanist"/>
            </a:endParaRPr>
          </a:p>
          <a:p>
            <a:pPr indent="-330200" lvl="0" marL="457200" marR="0" rtl="0" algn="l">
              <a:lnSpc>
                <a:spcPct val="115000"/>
              </a:lnSpc>
              <a:spcBef>
                <a:spcPts val="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Վերլուծել մարդու աշխատանքի հիմնական առավելությունները՝ համեմատած արհեստական բանականության հետ</a:t>
            </a:r>
            <a:endParaRPr sz="1600">
              <a:solidFill>
                <a:schemeClr val="dk1"/>
              </a:solidFill>
              <a:latin typeface="Urbanist"/>
              <a:ea typeface="Urbanist"/>
              <a:cs typeface="Urbanist"/>
              <a:sym typeface="Urbanist"/>
            </a:endParaRPr>
          </a:p>
          <a:p>
            <a:pPr indent="-330200" lvl="0" marL="457200" marR="0" rtl="0" algn="l">
              <a:lnSpc>
                <a:spcPct val="115000"/>
              </a:lnSpc>
              <a:spcBef>
                <a:spcPts val="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Բացահայտել ԱԲ-ին զուգահեռ զարգացող մասնագիտությունները</a:t>
            </a:r>
            <a:endParaRPr sz="1600">
              <a:solidFill>
                <a:schemeClr val="dk1"/>
              </a:solidFill>
              <a:latin typeface="Urbanist"/>
              <a:ea typeface="Urbanist"/>
              <a:cs typeface="Urbanist"/>
              <a:sym typeface="Urbanist"/>
            </a:endParaRPr>
          </a:p>
          <a:p>
            <a:pPr indent="-330200" lvl="0" marL="457200" marR="0" rtl="0" algn="l">
              <a:lnSpc>
                <a:spcPct val="115000"/>
              </a:lnSpc>
              <a:spcBef>
                <a:spcPts val="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Նույնականացնել այն գործընթացները, որոնք կարող են ամբողջությամբ ավտոմատացվել և փոխարինվել ԱԲ-ով</a:t>
            </a:r>
            <a:endParaRPr sz="1600">
              <a:solidFill>
                <a:schemeClr val="dk1"/>
              </a:solidFill>
              <a:latin typeface="Urbanist"/>
              <a:ea typeface="Urbanist"/>
              <a:cs typeface="Urbanist"/>
              <a:sym typeface="Urbanist"/>
            </a:endParaRPr>
          </a:p>
          <a:p>
            <a:pPr indent="-330200" lvl="0" marL="457200" marR="0" rtl="0" algn="l">
              <a:lnSpc>
                <a:spcPct val="115000"/>
              </a:lnSpc>
              <a:spcBef>
                <a:spcPts val="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Վերլուծել և ձևակերպել, թե ինչպես կարող է անձնական կարիերայի ուղին փոխկապակցվել ԱԲ-ի հնարավորությունների հետ</a:t>
            </a:r>
            <a:endParaRPr sz="16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Image" id="220" name="Google Shape;220;p38"/>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221" name="Google Shape;221;p38"/>
          <p:cNvSpPr txBox="1"/>
          <p:nvPr/>
        </p:nvSpPr>
        <p:spPr>
          <a:xfrm>
            <a:off x="337675" y="1923600"/>
            <a:ext cx="6725400" cy="958200"/>
          </a:xfrm>
          <a:prstGeom prst="rect">
            <a:avLst/>
          </a:prstGeom>
          <a:noFill/>
          <a:ln>
            <a:noFill/>
          </a:ln>
        </p:spPr>
        <p:txBody>
          <a:bodyPr anchorCtr="0" anchor="t" bIns="17150" lIns="17150" spcFirstLastPara="1" rIns="17150" wrap="square" tIns="17150">
            <a:spAutoFit/>
          </a:bodyPr>
          <a:lstStyle/>
          <a:p>
            <a:pPr indent="0" lvl="0" marL="0" marR="381000" rtl="0" algn="ctr">
              <a:spcBef>
                <a:spcPts val="0"/>
              </a:spcBef>
              <a:spcAft>
                <a:spcPts val="0"/>
              </a:spcAft>
              <a:buClr>
                <a:schemeClr val="dk1"/>
              </a:buClr>
              <a:buSzPts val="1100"/>
              <a:buFont typeface="Arial"/>
              <a:buNone/>
            </a:pPr>
            <a:r>
              <a:rPr i="1" lang="ru" sz="3000">
                <a:solidFill>
                  <a:schemeClr val="dk2"/>
                </a:solidFill>
                <a:latin typeface="Urbanist ExtraBold"/>
                <a:ea typeface="Urbanist ExtraBold"/>
                <a:cs typeface="Urbanist ExtraBold"/>
                <a:sym typeface="Urbanist ExtraBold"/>
              </a:rPr>
              <a:t>Ի՞նչ ԱԲ գործիքներ եք օգտագործել վերջին մեկ շաբաթվա ընթացքում։</a:t>
            </a:r>
            <a:endParaRPr i="1" sz="3000">
              <a:solidFill>
                <a:schemeClr val="dk2"/>
              </a:solidFill>
              <a:latin typeface="Urbanist ExtraBold"/>
              <a:ea typeface="Urbanist ExtraBold"/>
              <a:cs typeface="Urbanist ExtraBold"/>
              <a:sym typeface="Urbanist ExtraBo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descr="Image" id="226" name="Google Shape;226;p3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27" name="Google Shape;227;p3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ԱԲ-ն՝ մեր շուրջը</a:t>
            </a:r>
            <a:endParaRPr b="0" i="0" sz="500" u="none" cap="none" strike="noStrike">
              <a:solidFill>
                <a:srgbClr val="000000"/>
              </a:solidFill>
              <a:latin typeface="Arial"/>
              <a:ea typeface="Arial"/>
              <a:cs typeface="Arial"/>
              <a:sym typeface="Arial"/>
            </a:endParaRPr>
          </a:p>
        </p:txBody>
      </p:sp>
      <p:sp>
        <p:nvSpPr>
          <p:cNvPr id="228" name="Google Shape;228;p39"/>
          <p:cNvSpPr txBox="1"/>
          <p:nvPr/>
        </p:nvSpPr>
        <p:spPr>
          <a:xfrm>
            <a:off x="642925" y="1831425"/>
            <a:ext cx="8162400" cy="24933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b="1" lang="ru" sz="1600">
                <a:solidFill>
                  <a:schemeClr val="dk2"/>
                </a:solidFill>
                <a:latin typeface="Urbanist"/>
                <a:ea typeface="Urbanist"/>
                <a:cs typeface="Urbanist"/>
                <a:sym typeface="Urbanist"/>
              </a:rPr>
              <a:t>Հաջորդող օրինակներից յուրաքանչյուրի դեպքում նշեք, </a:t>
            </a:r>
            <a:endParaRPr b="1" sz="1600">
              <a:solidFill>
                <a:schemeClr val="dk2"/>
              </a:solidFill>
              <a:latin typeface="Urbanist"/>
              <a:ea typeface="Urbanist"/>
              <a:cs typeface="Urbanist"/>
              <a:sym typeface="Urbanist"/>
            </a:endParaRPr>
          </a:p>
          <a:p>
            <a:pPr indent="-330200" lvl="0" marL="457200" rtl="0" algn="l">
              <a:lnSpc>
                <a:spcPct val="115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Կիրառել եք, թե՞ ոչ։</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Ինչպե՞ս են դրանք օգտակար եղել առօրյայում կամ դասերի ժամանակ։</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Ի՞նչ դրական և բացասական կողմեր նկատեցիք այդ գործիքների օգտագործման ընթացքում, և ըստ ձեզ՝ ինչպես կարելի է լուծել այդ թերությունները կամ կատարելագործել գործիքը։</a:t>
            </a:r>
            <a:endParaRPr sz="1600">
              <a:solidFill>
                <a:schemeClr val="dk1"/>
              </a:solidFill>
              <a:latin typeface="Urbanist ExtraLight"/>
              <a:ea typeface="Urbanist ExtraLight"/>
              <a:cs typeface="Urbanist ExtraLight"/>
              <a:sym typeface="Urbanist ExtraLight"/>
            </a:endParaRPr>
          </a:p>
          <a:p>
            <a:pPr indent="0" lvl="0" marL="0" marR="0" rtl="0" algn="l">
              <a:lnSpc>
                <a:spcPct val="115000"/>
              </a:lnSpc>
              <a:spcBef>
                <a:spcPts val="1000"/>
              </a:spcBef>
              <a:spcAft>
                <a:spcPts val="1000"/>
              </a:spcAft>
              <a:buNone/>
            </a:pPr>
            <a:r>
              <a:t/>
            </a:r>
            <a:endParaRPr sz="16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Image" id="233" name="Google Shape;233;p4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34" name="Google Shape;234;p4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Թարգմանիչներ (Translators)</a:t>
            </a:r>
            <a:endParaRPr b="0" i="0" sz="500" u="none" cap="none" strike="noStrike">
              <a:solidFill>
                <a:srgbClr val="000000"/>
              </a:solidFill>
              <a:latin typeface="Arial"/>
              <a:ea typeface="Arial"/>
              <a:cs typeface="Arial"/>
              <a:sym typeface="Arial"/>
            </a:endParaRPr>
          </a:p>
        </p:txBody>
      </p:sp>
      <p:sp>
        <p:nvSpPr>
          <p:cNvPr id="235" name="Google Shape;235;p40"/>
          <p:cNvSpPr txBox="1"/>
          <p:nvPr/>
        </p:nvSpPr>
        <p:spPr>
          <a:xfrm>
            <a:off x="642925" y="1526625"/>
            <a:ext cx="8162400" cy="12588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chemeClr val="dk1"/>
                </a:solidFill>
                <a:latin typeface="Urbanist"/>
                <a:ea typeface="Urbanist"/>
                <a:cs typeface="Urbanist"/>
                <a:sym typeface="Urbanist"/>
              </a:rPr>
              <a:t>Google Translate, DeepL - Օտար լեզվի դասերին բառերի կամ արտահայտությունների թարգմանության համար, ինչպես նաև՝ ֆիլմեր դիտելիս անծանոթ բառերը հասկանալու նպատակով։</a:t>
            </a:r>
            <a:endParaRPr sz="1600">
              <a:solidFill>
                <a:schemeClr val="dk1"/>
              </a:solidFill>
              <a:latin typeface="Urbanist"/>
              <a:ea typeface="Urbanist"/>
              <a:cs typeface="Urbanist"/>
              <a:sym typeface="Urbanist"/>
            </a:endParaRPr>
          </a:p>
          <a:p>
            <a:pPr indent="0" lvl="0" marL="0" marR="0" rtl="0" algn="l">
              <a:lnSpc>
                <a:spcPct val="115000"/>
              </a:lnSpc>
              <a:spcBef>
                <a:spcPts val="1000"/>
              </a:spcBef>
              <a:spcAft>
                <a:spcPts val="1000"/>
              </a:spcAft>
              <a:buNone/>
            </a:pPr>
            <a:r>
              <a:t/>
            </a:r>
            <a:endParaRPr b="1" sz="1600">
              <a:solidFill>
                <a:schemeClr val="dk2"/>
              </a:solidFill>
              <a:latin typeface="Urbanist"/>
              <a:ea typeface="Urbanist"/>
              <a:cs typeface="Urbanist"/>
              <a:sym typeface="Urbanist"/>
            </a:endParaRPr>
          </a:p>
        </p:txBody>
      </p:sp>
      <p:pic>
        <p:nvPicPr>
          <p:cNvPr id="236" name="Google Shape;236;p40"/>
          <p:cNvPicPr preferRelativeResize="0"/>
          <p:nvPr/>
        </p:nvPicPr>
        <p:blipFill>
          <a:blip r:embed="rId4">
            <a:alphaModFix/>
          </a:blip>
          <a:stretch>
            <a:fillRect/>
          </a:stretch>
        </p:blipFill>
        <p:spPr>
          <a:xfrm>
            <a:off x="1260938" y="2406699"/>
            <a:ext cx="6622126" cy="2551050"/>
          </a:xfrm>
          <a:prstGeom prst="rect">
            <a:avLst/>
          </a:prstGeom>
          <a:noFill/>
          <a:ln cap="flat" cmpd="sng" w="9525">
            <a:solidFill>
              <a:srgbClr val="FDC672"/>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descr="Image" id="241" name="Google Shape;241;p41"/>
          <p:cNvPicPr preferRelativeResize="0"/>
          <p:nvPr>
            <p:ph idx="2" type="pic"/>
          </p:nvPr>
        </p:nvPicPr>
        <p:blipFill rotWithShape="1">
          <a:blip r:embed="rId3">
            <a:alphaModFix/>
          </a:blip>
          <a:srcRect b="0" l="0" r="0" t="0"/>
          <a:stretch/>
        </p:blipFill>
        <p:spPr>
          <a:xfrm>
            <a:off x="-7152" y="-2975"/>
            <a:ext cx="3345725" cy="5149450"/>
          </a:xfrm>
          <a:prstGeom prst="rect">
            <a:avLst/>
          </a:prstGeom>
          <a:noFill/>
          <a:ln>
            <a:noFill/>
          </a:ln>
        </p:spPr>
      </p:pic>
      <p:sp>
        <p:nvSpPr>
          <p:cNvPr id="242" name="Google Shape;242;p41"/>
          <p:cNvSpPr txBox="1"/>
          <p:nvPr/>
        </p:nvSpPr>
        <p:spPr>
          <a:xfrm>
            <a:off x="3928749" y="2688800"/>
            <a:ext cx="4618800" cy="1130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latin typeface="Urbanist"/>
                <a:ea typeface="Urbanist"/>
                <a:cs typeface="Urbanist"/>
                <a:sym typeface="Urbanist"/>
              </a:rPr>
              <a:t>AI-ով աշխատող խաղեր – Օրինակ՝ FIFA, Minecraft, Chess apps (որտեղ համակարգիչը գործում է որպես «մրցակից» կամ առաջարկում է ռազմավարություն)։</a:t>
            </a:r>
            <a:endParaRPr sz="1600">
              <a:latin typeface="Urbanist"/>
              <a:ea typeface="Urbanist"/>
              <a:cs typeface="Urbanist"/>
              <a:sym typeface="Urbanist"/>
            </a:endParaRPr>
          </a:p>
        </p:txBody>
      </p:sp>
      <p:sp>
        <p:nvSpPr>
          <p:cNvPr id="243" name="Google Shape;243;p41"/>
          <p:cNvSpPr txBox="1"/>
          <p:nvPr/>
        </p:nvSpPr>
        <p:spPr>
          <a:xfrm>
            <a:off x="3928750" y="1633850"/>
            <a:ext cx="4374000" cy="4041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Խաղեր (Games)</a:t>
            </a:r>
            <a:endParaRPr sz="2400">
              <a:solidFill>
                <a:srgbClr val="3A475A"/>
              </a:solidFill>
              <a:latin typeface="Urbanist ExtraBold"/>
              <a:ea typeface="Urbanist ExtraBold"/>
              <a:cs typeface="Urbanist ExtraBold"/>
              <a:sym typeface="Urbanist ExtraBold"/>
            </a:endParaRPr>
          </a:p>
        </p:txBody>
      </p:sp>
      <p:pic>
        <p:nvPicPr>
          <p:cNvPr descr="Image" id="244" name="Google Shape;244;p41"/>
          <p:cNvPicPr preferRelativeResize="0"/>
          <p:nvPr/>
        </p:nvPicPr>
        <p:blipFill rotWithShape="1">
          <a:blip r:embed="rId4">
            <a:alphaModFix amt="83550"/>
          </a:blip>
          <a:srcRect b="0" l="25700" r="0" t="26367"/>
          <a:stretch/>
        </p:blipFill>
        <p:spPr>
          <a:xfrm>
            <a:off x="3338569" y="0"/>
            <a:ext cx="1683705" cy="1233313"/>
          </a:xfrm>
          <a:prstGeom prst="rect">
            <a:avLst/>
          </a:prstGeom>
          <a:noFill/>
          <a:ln>
            <a:noFill/>
          </a:ln>
        </p:spPr>
      </p:pic>
      <p:pic>
        <p:nvPicPr>
          <p:cNvPr id="245" name="Google Shape;245;p41"/>
          <p:cNvPicPr preferRelativeResize="0"/>
          <p:nvPr/>
        </p:nvPicPr>
        <p:blipFill rotWithShape="1">
          <a:blip r:embed="rId5">
            <a:alphaModFix/>
          </a:blip>
          <a:srcRect b="0" l="0" r="27299" t="0"/>
          <a:stretch/>
        </p:blipFill>
        <p:spPr>
          <a:xfrm>
            <a:off x="-7150" y="1233300"/>
            <a:ext cx="3345725" cy="230106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Image" id="250" name="Google Shape;250;p42"/>
          <p:cNvPicPr preferRelativeResize="0"/>
          <p:nvPr>
            <p:ph idx="2" type="pic"/>
          </p:nvPr>
        </p:nvPicPr>
        <p:blipFill rotWithShape="1">
          <a:blip r:embed="rId3">
            <a:alphaModFix/>
          </a:blip>
          <a:srcRect b="0" l="0" r="0" t="0"/>
          <a:stretch/>
        </p:blipFill>
        <p:spPr>
          <a:xfrm>
            <a:off x="-7152" y="-2975"/>
            <a:ext cx="3345725" cy="5149450"/>
          </a:xfrm>
          <a:prstGeom prst="rect">
            <a:avLst/>
          </a:prstGeom>
          <a:noFill/>
          <a:ln>
            <a:noFill/>
          </a:ln>
        </p:spPr>
      </p:pic>
      <p:sp>
        <p:nvSpPr>
          <p:cNvPr id="251" name="Google Shape;251;p42"/>
          <p:cNvSpPr txBox="1"/>
          <p:nvPr/>
        </p:nvSpPr>
        <p:spPr>
          <a:xfrm>
            <a:off x="3928749" y="2917400"/>
            <a:ext cx="4618800" cy="5640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latin typeface="Urbanist"/>
                <a:ea typeface="Urbanist"/>
                <a:cs typeface="Urbanist"/>
                <a:sym typeface="Urbanist"/>
              </a:rPr>
              <a:t>TikTok, YouTube, Instagram - ԱԲ-ն առաջարկում է կոնտենտ՝ հիմնված նախընտրությունների վրա։</a:t>
            </a:r>
            <a:endParaRPr sz="1600">
              <a:latin typeface="Urbanist"/>
              <a:ea typeface="Urbanist"/>
              <a:cs typeface="Urbanist"/>
              <a:sym typeface="Urbanist"/>
            </a:endParaRPr>
          </a:p>
        </p:txBody>
      </p:sp>
      <p:sp>
        <p:nvSpPr>
          <p:cNvPr id="252" name="Google Shape;252;p42"/>
          <p:cNvSpPr txBox="1"/>
          <p:nvPr/>
        </p:nvSpPr>
        <p:spPr>
          <a:xfrm>
            <a:off x="3928750" y="1633850"/>
            <a:ext cx="4374000" cy="11430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Սոցիալական մեդիա ալգորիթմներ</a:t>
            </a:r>
            <a:endParaRPr sz="2400">
              <a:solidFill>
                <a:srgbClr val="3A475A"/>
              </a:solidFill>
              <a:latin typeface="Urbanist ExtraBold"/>
              <a:ea typeface="Urbanist ExtraBold"/>
              <a:cs typeface="Urbanist ExtraBold"/>
              <a:sym typeface="Urbanist ExtraBold"/>
            </a:endParaRPr>
          </a:p>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(Social Media Algorithms)</a:t>
            </a:r>
            <a:endParaRPr b="0" i="0" sz="2400" u="none" cap="none" strike="noStrike">
              <a:solidFill>
                <a:srgbClr val="000000"/>
              </a:solidFill>
              <a:latin typeface="Arial"/>
              <a:ea typeface="Arial"/>
              <a:cs typeface="Arial"/>
              <a:sym typeface="Arial"/>
            </a:endParaRPr>
          </a:p>
        </p:txBody>
      </p:sp>
      <p:pic>
        <p:nvPicPr>
          <p:cNvPr descr="Image" id="253" name="Google Shape;253;p42"/>
          <p:cNvPicPr preferRelativeResize="0"/>
          <p:nvPr/>
        </p:nvPicPr>
        <p:blipFill rotWithShape="1">
          <a:blip r:embed="rId4">
            <a:alphaModFix amt="83550"/>
          </a:blip>
          <a:srcRect b="0" l="25700" r="0" t="26367"/>
          <a:stretch/>
        </p:blipFill>
        <p:spPr>
          <a:xfrm>
            <a:off x="3338569" y="0"/>
            <a:ext cx="1683705" cy="1233313"/>
          </a:xfrm>
          <a:prstGeom prst="rect">
            <a:avLst/>
          </a:prstGeom>
          <a:noFill/>
          <a:ln>
            <a:noFill/>
          </a:ln>
        </p:spPr>
      </p:pic>
      <p:pic>
        <p:nvPicPr>
          <p:cNvPr id="254" name="Google Shape;254;p42"/>
          <p:cNvPicPr preferRelativeResize="0"/>
          <p:nvPr/>
        </p:nvPicPr>
        <p:blipFill rotWithShape="1">
          <a:blip r:embed="rId5">
            <a:alphaModFix/>
          </a:blip>
          <a:srcRect b="0" l="0" r="0" t="0"/>
          <a:stretch/>
        </p:blipFill>
        <p:spPr>
          <a:xfrm>
            <a:off x="-7150" y="1233312"/>
            <a:ext cx="3345726" cy="29400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descr="Image" id="259" name="Google Shape;259;p43"/>
          <p:cNvPicPr preferRelativeResize="0"/>
          <p:nvPr>
            <p:ph idx="2" type="pic"/>
          </p:nvPr>
        </p:nvPicPr>
        <p:blipFill rotWithShape="1">
          <a:blip r:embed="rId3">
            <a:alphaModFix/>
          </a:blip>
          <a:srcRect b="0" l="0" r="0" t="0"/>
          <a:stretch/>
        </p:blipFill>
        <p:spPr>
          <a:xfrm>
            <a:off x="-7152" y="-2975"/>
            <a:ext cx="3345725" cy="5149450"/>
          </a:xfrm>
          <a:prstGeom prst="rect">
            <a:avLst/>
          </a:prstGeom>
          <a:noFill/>
          <a:ln>
            <a:noFill/>
          </a:ln>
        </p:spPr>
      </p:pic>
      <p:sp>
        <p:nvSpPr>
          <p:cNvPr id="260" name="Google Shape;260;p43"/>
          <p:cNvSpPr txBox="1"/>
          <p:nvPr/>
        </p:nvSpPr>
        <p:spPr>
          <a:xfrm>
            <a:off x="3928749" y="2688800"/>
            <a:ext cx="4618800" cy="8475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latin typeface="Urbanist"/>
                <a:ea typeface="Urbanist"/>
                <a:cs typeface="Urbanist"/>
                <a:sym typeface="Urbanist"/>
              </a:rPr>
              <a:t>Snapchat, Instagram filters, FaceApp - Օգտագործել են՝ դիմանկարը բարելավելու կամ զվարճանալու համար։</a:t>
            </a:r>
            <a:endParaRPr sz="1600">
              <a:latin typeface="Urbanist"/>
              <a:ea typeface="Urbanist"/>
              <a:cs typeface="Urbanist"/>
              <a:sym typeface="Urbanist"/>
            </a:endParaRPr>
          </a:p>
        </p:txBody>
      </p:sp>
      <p:sp>
        <p:nvSpPr>
          <p:cNvPr id="261" name="Google Shape;261;p43"/>
          <p:cNvSpPr txBox="1"/>
          <p:nvPr/>
        </p:nvSpPr>
        <p:spPr>
          <a:xfrm>
            <a:off x="3928750" y="1633850"/>
            <a:ext cx="4374000" cy="7734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Դիմանկարային ֆիլտրեր</a:t>
            </a:r>
            <a:endParaRPr sz="2400">
              <a:solidFill>
                <a:srgbClr val="3A475A"/>
              </a:solidFill>
              <a:latin typeface="Urbanist ExtraBold"/>
              <a:ea typeface="Urbanist ExtraBold"/>
              <a:cs typeface="Urbanist ExtraBold"/>
              <a:sym typeface="Urbanist ExtraBold"/>
            </a:endParaRPr>
          </a:p>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(Portrait Filters)</a:t>
            </a:r>
            <a:endParaRPr sz="2400">
              <a:solidFill>
                <a:srgbClr val="3A475A"/>
              </a:solidFill>
              <a:latin typeface="Urbanist ExtraBold"/>
              <a:ea typeface="Urbanist ExtraBold"/>
              <a:cs typeface="Urbanist ExtraBold"/>
              <a:sym typeface="Urbanist ExtraBold"/>
            </a:endParaRPr>
          </a:p>
        </p:txBody>
      </p:sp>
      <p:pic>
        <p:nvPicPr>
          <p:cNvPr descr="Image" id="262" name="Google Shape;262;p43"/>
          <p:cNvPicPr preferRelativeResize="0"/>
          <p:nvPr/>
        </p:nvPicPr>
        <p:blipFill rotWithShape="1">
          <a:blip r:embed="rId4">
            <a:alphaModFix amt="83550"/>
          </a:blip>
          <a:srcRect b="0" l="25700" r="0" t="26367"/>
          <a:stretch/>
        </p:blipFill>
        <p:spPr>
          <a:xfrm>
            <a:off x="3338569" y="0"/>
            <a:ext cx="1683705" cy="1233313"/>
          </a:xfrm>
          <a:prstGeom prst="rect">
            <a:avLst/>
          </a:prstGeom>
          <a:noFill/>
          <a:ln>
            <a:noFill/>
          </a:ln>
        </p:spPr>
      </p:pic>
      <p:pic>
        <p:nvPicPr>
          <p:cNvPr id="263" name="Google Shape;263;p43"/>
          <p:cNvPicPr preferRelativeResize="0"/>
          <p:nvPr/>
        </p:nvPicPr>
        <p:blipFill>
          <a:blip r:embed="rId5">
            <a:alphaModFix/>
          </a:blip>
          <a:stretch>
            <a:fillRect/>
          </a:stretch>
        </p:blipFill>
        <p:spPr>
          <a:xfrm>
            <a:off x="-7150" y="1233300"/>
            <a:ext cx="3345723" cy="244956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descr="Image" id="268" name="Google Shape;268;p44"/>
          <p:cNvPicPr preferRelativeResize="0"/>
          <p:nvPr>
            <p:ph idx="2" type="pic"/>
          </p:nvPr>
        </p:nvPicPr>
        <p:blipFill rotWithShape="1">
          <a:blip r:embed="rId3">
            <a:alphaModFix/>
          </a:blip>
          <a:srcRect b="0" l="0" r="0" t="0"/>
          <a:stretch/>
        </p:blipFill>
        <p:spPr>
          <a:xfrm>
            <a:off x="-7152" y="-2975"/>
            <a:ext cx="3345725" cy="5149450"/>
          </a:xfrm>
          <a:prstGeom prst="rect">
            <a:avLst/>
          </a:prstGeom>
          <a:noFill/>
          <a:ln>
            <a:noFill/>
          </a:ln>
        </p:spPr>
      </p:pic>
      <p:sp>
        <p:nvSpPr>
          <p:cNvPr id="269" name="Google Shape;269;p44"/>
          <p:cNvSpPr txBox="1"/>
          <p:nvPr/>
        </p:nvSpPr>
        <p:spPr>
          <a:xfrm>
            <a:off x="3928749" y="2688800"/>
            <a:ext cx="4618800" cy="8475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Clr>
                <a:schemeClr val="dk1"/>
              </a:buClr>
              <a:buSzPts val="1100"/>
              <a:buFont typeface="Arial"/>
              <a:buNone/>
            </a:pPr>
            <a:r>
              <a:rPr lang="ru" sz="1600">
                <a:solidFill>
                  <a:schemeClr val="dk1"/>
                </a:solidFill>
                <a:latin typeface="Urbanist"/>
                <a:ea typeface="Urbanist"/>
                <a:cs typeface="Urbanist"/>
                <a:sym typeface="Urbanist"/>
              </a:rPr>
              <a:t>Grammarly, ChatGPT, Quillbot - Շարադրություն կամ տնային աշխատանք գրելու և ստուգելու համար։</a:t>
            </a:r>
            <a:endParaRPr sz="1600">
              <a:solidFill>
                <a:srgbClr val="3A475A"/>
              </a:solidFill>
              <a:latin typeface="Urbanist"/>
              <a:ea typeface="Urbanist"/>
              <a:cs typeface="Urbanist"/>
              <a:sym typeface="Urbanist"/>
            </a:endParaRPr>
          </a:p>
        </p:txBody>
      </p:sp>
      <p:sp>
        <p:nvSpPr>
          <p:cNvPr id="270" name="Google Shape;270;p44"/>
          <p:cNvSpPr txBox="1"/>
          <p:nvPr/>
        </p:nvSpPr>
        <p:spPr>
          <a:xfrm>
            <a:off x="3928750" y="1633850"/>
            <a:ext cx="4374000" cy="7734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Գրավոր օգնականներ</a:t>
            </a:r>
            <a:endParaRPr sz="2400">
              <a:solidFill>
                <a:srgbClr val="3A475A"/>
              </a:solidFill>
              <a:latin typeface="Urbanist ExtraBold"/>
              <a:ea typeface="Urbanist ExtraBold"/>
              <a:cs typeface="Urbanist ExtraBold"/>
              <a:sym typeface="Urbanist ExtraBold"/>
            </a:endParaRPr>
          </a:p>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(Writing Assistants)</a:t>
            </a:r>
            <a:endParaRPr sz="2400">
              <a:solidFill>
                <a:srgbClr val="3A475A"/>
              </a:solidFill>
              <a:latin typeface="Urbanist ExtraBold"/>
              <a:ea typeface="Urbanist ExtraBold"/>
              <a:cs typeface="Urbanist ExtraBold"/>
              <a:sym typeface="Urbanist ExtraBold"/>
            </a:endParaRPr>
          </a:p>
        </p:txBody>
      </p:sp>
      <p:pic>
        <p:nvPicPr>
          <p:cNvPr descr="Image" id="271" name="Google Shape;271;p44"/>
          <p:cNvPicPr preferRelativeResize="0"/>
          <p:nvPr/>
        </p:nvPicPr>
        <p:blipFill rotWithShape="1">
          <a:blip r:embed="rId4">
            <a:alphaModFix amt="83550"/>
          </a:blip>
          <a:srcRect b="0" l="25700" r="0" t="26367"/>
          <a:stretch/>
        </p:blipFill>
        <p:spPr>
          <a:xfrm>
            <a:off x="3338569" y="0"/>
            <a:ext cx="1683705" cy="1233313"/>
          </a:xfrm>
          <a:prstGeom prst="rect">
            <a:avLst/>
          </a:prstGeom>
          <a:noFill/>
          <a:ln>
            <a:noFill/>
          </a:ln>
        </p:spPr>
      </p:pic>
      <p:pic>
        <p:nvPicPr>
          <p:cNvPr id="272" name="Google Shape;272;p44"/>
          <p:cNvPicPr preferRelativeResize="0"/>
          <p:nvPr/>
        </p:nvPicPr>
        <p:blipFill>
          <a:blip r:embed="rId5">
            <a:alphaModFix/>
          </a:blip>
          <a:stretch>
            <a:fillRect/>
          </a:stretch>
        </p:blipFill>
        <p:spPr>
          <a:xfrm>
            <a:off x="0" y="1233300"/>
            <a:ext cx="3345725" cy="209108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Image" id="277" name="Google Shape;277;p45"/>
          <p:cNvPicPr preferRelativeResize="0"/>
          <p:nvPr>
            <p:ph idx="2" type="pic"/>
          </p:nvPr>
        </p:nvPicPr>
        <p:blipFill rotWithShape="1">
          <a:blip r:embed="rId3">
            <a:alphaModFix/>
          </a:blip>
          <a:srcRect b="0" l="0" r="0" t="0"/>
          <a:stretch/>
        </p:blipFill>
        <p:spPr>
          <a:xfrm>
            <a:off x="-7152" y="-2975"/>
            <a:ext cx="3345725" cy="5149450"/>
          </a:xfrm>
          <a:prstGeom prst="rect">
            <a:avLst/>
          </a:prstGeom>
          <a:noFill/>
          <a:ln>
            <a:noFill/>
          </a:ln>
        </p:spPr>
      </p:pic>
      <p:sp>
        <p:nvSpPr>
          <p:cNvPr id="278" name="Google Shape;278;p45"/>
          <p:cNvSpPr txBox="1"/>
          <p:nvPr/>
        </p:nvSpPr>
        <p:spPr>
          <a:xfrm>
            <a:off x="3928749" y="2688800"/>
            <a:ext cx="4618800" cy="14139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latin typeface="Urbanist"/>
                <a:ea typeface="Urbanist"/>
                <a:cs typeface="Urbanist"/>
                <a:sym typeface="Urbanist"/>
              </a:rPr>
              <a:t>Google-ի ձայնային որոնման ֆունկցիան թույլ է տալիս խուսափել գրավոր մուտքագրելուց։ Օրինակ՝ ասելով «Weather in Yerevan tomorrow», համակարգը կճանաչի խոսքը և կցուցադրի համապատասխան որոնման արդյունքներ։</a:t>
            </a:r>
            <a:endParaRPr sz="1600">
              <a:latin typeface="Urbanist"/>
              <a:ea typeface="Urbanist"/>
              <a:cs typeface="Urbanist"/>
              <a:sym typeface="Urbanist"/>
            </a:endParaRPr>
          </a:p>
        </p:txBody>
      </p:sp>
      <p:sp>
        <p:nvSpPr>
          <p:cNvPr id="279" name="Google Shape;279;p45"/>
          <p:cNvSpPr txBox="1"/>
          <p:nvPr/>
        </p:nvSpPr>
        <p:spPr>
          <a:xfrm>
            <a:off x="3928750" y="1633850"/>
            <a:ext cx="4374000" cy="7734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Ձայնի Ճանաչում</a:t>
            </a:r>
            <a:endParaRPr sz="2400">
              <a:solidFill>
                <a:srgbClr val="3A475A"/>
              </a:solidFill>
              <a:latin typeface="Urbanist ExtraBold"/>
              <a:ea typeface="Urbanist ExtraBold"/>
              <a:cs typeface="Urbanist ExtraBold"/>
              <a:sym typeface="Urbanist ExtraBold"/>
            </a:endParaRPr>
          </a:p>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(Voice Recognition)</a:t>
            </a:r>
            <a:endParaRPr sz="2400">
              <a:solidFill>
                <a:srgbClr val="3A475A"/>
              </a:solidFill>
              <a:latin typeface="Urbanist ExtraBold"/>
              <a:ea typeface="Urbanist ExtraBold"/>
              <a:cs typeface="Urbanist ExtraBold"/>
              <a:sym typeface="Urbanist ExtraBold"/>
            </a:endParaRPr>
          </a:p>
        </p:txBody>
      </p:sp>
      <p:pic>
        <p:nvPicPr>
          <p:cNvPr descr="Image" id="280" name="Google Shape;280;p45"/>
          <p:cNvPicPr preferRelativeResize="0"/>
          <p:nvPr/>
        </p:nvPicPr>
        <p:blipFill rotWithShape="1">
          <a:blip r:embed="rId4">
            <a:alphaModFix amt="83550"/>
          </a:blip>
          <a:srcRect b="0" l="25700" r="0" t="26367"/>
          <a:stretch/>
        </p:blipFill>
        <p:spPr>
          <a:xfrm>
            <a:off x="3338569" y="0"/>
            <a:ext cx="1683705" cy="1233313"/>
          </a:xfrm>
          <a:prstGeom prst="rect">
            <a:avLst/>
          </a:prstGeom>
          <a:noFill/>
          <a:ln>
            <a:noFill/>
          </a:ln>
        </p:spPr>
      </p:pic>
      <p:pic>
        <p:nvPicPr>
          <p:cNvPr id="281" name="Google Shape;281;p45"/>
          <p:cNvPicPr preferRelativeResize="0"/>
          <p:nvPr/>
        </p:nvPicPr>
        <p:blipFill>
          <a:blip r:embed="rId5">
            <a:alphaModFix/>
          </a:blip>
          <a:stretch>
            <a:fillRect/>
          </a:stretch>
        </p:blipFill>
        <p:spPr>
          <a:xfrm>
            <a:off x="546288" y="1233300"/>
            <a:ext cx="2238851" cy="22388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descr="Image" id="286" name="Google Shape;286;p4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87" name="Google Shape;287;p4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Fabricius Եգիպտական բառարան</a:t>
            </a:r>
            <a:endParaRPr b="0" i="0" sz="500" u="none" cap="none" strike="noStrike">
              <a:solidFill>
                <a:srgbClr val="000000"/>
              </a:solidFill>
              <a:latin typeface="Arial"/>
              <a:ea typeface="Arial"/>
              <a:cs typeface="Arial"/>
              <a:sym typeface="Arial"/>
            </a:endParaRPr>
          </a:p>
        </p:txBody>
      </p:sp>
      <p:pic>
        <p:nvPicPr>
          <p:cNvPr descr="Learn, write and decode ancient Egyptian Hieroglyphics through the power of machine learning. Begin your adventure at https://artsexperiments.withgoogle.com/fabricius/en by sharing coded Hieroglyphic messages to unlock the mysteries of the Pharaohs.&#10;&#10;Discover the inspirational moments, iconic people, and artistic wonders that are available at the tip of your fingers. Google Arts &amp; Culture allows you to immerse yourself in culture with 360 views, zoom in to reveal the secrets of a masterpiece, take behind the scenes tours of palaces and museums, watch kids explain famous paintings to art experts, and so much more. Art changes the way we see the world and the way we see each other, so we invite you to come and expand your horizons with us.&#10;&#10;Subscribe: http://bit.ly/2Vo55DL &#10;Learn more on https://g.co/artsandculture and download the app Google Arts &amp; Culture&#10;Android: https://goo.gl/CCJ5xu&#10;IOS: https://goo.gl/AvMS0r&#10;Tweet us https://twitter.com/googlearts&#10;Join us on Facebook https://www.facebook.com/googleartsculture&#10;Join us on Instagram https://www.instagram.com/googleartsculture&#10;&#10;#GoogleArtsandCulture" id="288" name="Google Shape;288;p46" title="Fabricius: Decode Egyptian Hieroglyphics with Machine Learning">
            <a:hlinkClick r:id="rId4"/>
          </p:cNvPr>
          <p:cNvPicPr preferRelativeResize="0"/>
          <p:nvPr/>
        </p:nvPicPr>
        <p:blipFill>
          <a:blip r:embed="rId5">
            <a:alphaModFix/>
          </a:blip>
          <a:stretch>
            <a:fillRect/>
          </a:stretch>
        </p:blipFill>
        <p:spPr>
          <a:xfrm>
            <a:off x="1153125" y="1140450"/>
            <a:ext cx="6837750" cy="384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descr="Image" id="293" name="Google Shape;293;p4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294" name="Google Shape;294;p47"/>
          <p:cNvSpPr txBox="1"/>
          <p:nvPr/>
        </p:nvSpPr>
        <p:spPr>
          <a:xfrm>
            <a:off x="642925" y="1298025"/>
            <a:ext cx="8162400" cy="6924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chemeClr val="dk1"/>
                </a:solidFill>
                <a:latin typeface="Urbanist"/>
                <a:ea typeface="Urbanist"/>
                <a:cs typeface="Urbanist"/>
                <a:sym typeface="Urbanist"/>
              </a:rPr>
              <a:t>Անցե՛ք հետևյալ </a:t>
            </a:r>
            <a:r>
              <a:rPr lang="ru" sz="1600" u="sng">
                <a:solidFill>
                  <a:schemeClr val="hlink"/>
                </a:solidFill>
                <a:latin typeface="Urbanist"/>
                <a:ea typeface="Urbanist"/>
                <a:cs typeface="Urbanist"/>
                <a:sym typeface="Urbanist"/>
                <a:hlinkClick r:id="rId4"/>
              </a:rPr>
              <a:t>հղմամբ</a:t>
            </a:r>
            <a:r>
              <a:rPr lang="ru" sz="1600">
                <a:solidFill>
                  <a:schemeClr val="dk1"/>
                </a:solidFill>
                <a:latin typeface="Urbanist"/>
                <a:ea typeface="Urbanist"/>
                <a:cs typeface="Urbanist"/>
                <a:sym typeface="Urbanist"/>
              </a:rPr>
              <a:t> և կատարեք </a:t>
            </a:r>
            <a:r>
              <a:rPr b="1" lang="ru" sz="1600">
                <a:solidFill>
                  <a:schemeClr val="dk1"/>
                </a:solidFill>
                <a:latin typeface="Urbanist"/>
                <a:ea typeface="Urbanist"/>
                <a:cs typeface="Urbanist"/>
                <a:sym typeface="Urbanist"/>
              </a:rPr>
              <a:t>LEARN </a:t>
            </a:r>
            <a:r>
              <a:rPr lang="ru" sz="1600">
                <a:solidFill>
                  <a:schemeClr val="dk1"/>
                </a:solidFill>
                <a:latin typeface="Urbanist"/>
                <a:ea typeface="Urbanist"/>
                <a:cs typeface="Urbanist"/>
                <a:sym typeface="Urbanist"/>
              </a:rPr>
              <a:t>բաժնի առաջադրանքները։</a:t>
            </a:r>
            <a:endParaRPr sz="1600">
              <a:solidFill>
                <a:schemeClr val="dk1"/>
              </a:solidFill>
              <a:latin typeface="Urbanist"/>
              <a:ea typeface="Urbanist"/>
              <a:cs typeface="Urbanist"/>
              <a:sym typeface="Urbanist"/>
            </a:endParaRPr>
          </a:p>
          <a:p>
            <a:pPr indent="0" lvl="0" marL="0" marR="0" rtl="0" algn="l">
              <a:lnSpc>
                <a:spcPct val="115000"/>
              </a:lnSpc>
              <a:spcBef>
                <a:spcPts val="1000"/>
              </a:spcBef>
              <a:spcAft>
                <a:spcPts val="1000"/>
              </a:spcAft>
              <a:buNone/>
            </a:pPr>
            <a:r>
              <a:t/>
            </a:r>
            <a:endParaRPr b="1" sz="1600">
              <a:solidFill>
                <a:schemeClr val="dk2"/>
              </a:solidFill>
              <a:latin typeface="Urbanist"/>
              <a:ea typeface="Urbanist"/>
              <a:cs typeface="Urbanist"/>
              <a:sym typeface="Urbanist"/>
            </a:endParaRPr>
          </a:p>
        </p:txBody>
      </p:sp>
      <p:sp>
        <p:nvSpPr>
          <p:cNvPr id="295" name="Google Shape;295;p4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Fabricius Եգիպտական բառարան</a:t>
            </a:r>
            <a:endParaRPr b="0" i="0" sz="500" u="none" cap="none" strike="noStrike">
              <a:solidFill>
                <a:srgbClr val="000000"/>
              </a:solidFill>
              <a:latin typeface="Arial"/>
              <a:ea typeface="Arial"/>
              <a:cs typeface="Arial"/>
              <a:sym typeface="Arial"/>
            </a:endParaRPr>
          </a:p>
        </p:txBody>
      </p:sp>
      <p:pic>
        <p:nvPicPr>
          <p:cNvPr id="296" name="Google Shape;296;p47"/>
          <p:cNvPicPr preferRelativeResize="0"/>
          <p:nvPr/>
        </p:nvPicPr>
        <p:blipFill>
          <a:blip r:embed="rId5">
            <a:alphaModFix/>
          </a:blip>
          <a:stretch>
            <a:fillRect/>
          </a:stretch>
        </p:blipFill>
        <p:spPr>
          <a:xfrm>
            <a:off x="1242900" y="1794425"/>
            <a:ext cx="6629099" cy="3140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300" name="Shape 300"/>
        <p:cNvGrpSpPr/>
        <p:nvPr/>
      </p:nvGrpSpPr>
      <p:grpSpPr>
        <a:xfrm>
          <a:off x="0" y="0"/>
          <a:ext cx="0" cy="0"/>
          <a:chOff x="0" y="0"/>
          <a:chExt cx="0" cy="0"/>
        </a:xfrm>
      </p:grpSpPr>
      <p:pic>
        <p:nvPicPr>
          <p:cNvPr descr="Image" id="301" name="Google Shape;301;p48"/>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302" name="Google Shape;302;p48"/>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Զույգերով ա</a:t>
            </a:r>
            <a:r>
              <a:rPr lang="ru" sz="3000">
                <a:solidFill>
                  <a:srgbClr val="FFFFFF"/>
                </a:solidFill>
                <a:latin typeface="Urbanist ExtraBold"/>
                <a:ea typeface="Urbanist ExtraBold"/>
                <a:cs typeface="Urbanist ExtraBold"/>
                <a:sym typeface="Urbanist ExtraBold"/>
              </a:rPr>
              <a:t>շխատանք</a:t>
            </a:r>
            <a:endParaRPr b="0" i="0" sz="500" u="none" cap="none" strike="noStrike">
              <a:solidFill>
                <a:srgbClr val="000000"/>
              </a:solidFill>
              <a:latin typeface="Arial"/>
              <a:ea typeface="Arial"/>
              <a:cs typeface="Arial"/>
              <a:sym typeface="Arial"/>
            </a:endParaRPr>
          </a:p>
        </p:txBody>
      </p:sp>
      <p:sp>
        <p:nvSpPr>
          <p:cNvPr id="303" name="Google Shape;303;p48"/>
          <p:cNvSpPr txBox="1"/>
          <p:nvPr/>
        </p:nvSpPr>
        <p:spPr>
          <a:xfrm>
            <a:off x="949400" y="1114425"/>
            <a:ext cx="7313700" cy="32937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Պահպանե՛ք ստորև բերված հարցերը և հաջորդ սահիկի տեսանյութը դիտելուց հետո փորձեք պատասխանել դրանց։</a:t>
            </a:r>
            <a:endParaRPr sz="1800">
              <a:solidFill>
                <a:srgbClr val="222D3D"/>
              </a:solidFill>
              <a:latin typeface="Urbanist Medium"/>
              <a:ea typeface="Urbanist Medium"/>
              <a:cs typeface="Urbanist Medium"/>
              <a:sym typeface="Urbanist Medium"/>
            </a:endParaRPr>
          </a:p>
          <a:p>
            <a:pPr indent="-330200" lvl="0" marL="457200" rtl="0" algn="l">
              <a:spcBef>
                <a:spcPts val="1000"/>
              </a:spcBef>
              <a:spcAft>
                <a:spcPts val="0"/>
              </a:spcAft>
              <a:buClr>
                <a:schemeClr val="lt1"/>
              </a:buClr>
              <a:buSzPts val="1600"/>
              <a:buFont typeface="Urbanist"/>
              <a:buChar char="●"/>
            </a:pPr>
            <a:r>
              <a:rPr lang="ru" sz="1600">
                <a:latin typeface="Urbanist"/>
                <a:ea typeface="Urbanist"/>
                <a:cs typeface="Urbanist"/>
                <a:sym typeface="Urbanist"/>
              </a:rPr>
              <a:t>Ի՞նչ համեմատաբար պարզ առաջադրանքներ է կատարել ԱԲ-ն 1990 -ականների սկզբին։</a:t>
            </a:r>
            <a:endParaRPr sz="1600">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ru" sz="1600">
                <a:latin typeface="Urbanist"/>
                <a:ea typeface="Urbanist"/>
                <a:cs typeface="Urbanist"/>
                <a:sym typeface="Urbanist"/>
              </a:rPr>
              <a:t>Kaggle -ը ի՞նչ առաջադրանքներով հանդես եկավ։ </a:t>
            </a:r>
            <a:endParaRPr sz="1600">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ru" sz="1600">
                <a:latin typeface="Urbanist"/>
                <a:ea typeface="Urbanist"/>
                <a:cs typeface="Urbanist"/>
                <a:sym typeface="Urbanist"/>
              </a:rPr>
              <a:t>Ինչու՞ է ԱԲ կիրառությունն անխուսափելի։</a:t>
            </a:r>
            <a:endParaRPr sz="1600">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ru" sz="1600">
                <a:latin typeface="Urbanist"/>
                <a:ea typeface="Urbanist"/>
                <a:cs typeface="Urbanist"/>
                <a:sym typeface="Urbanist"/>
              </a:rPr>
              <a:t>Ըստ խոսնակի, ինչ գործնական առավելություններ ունեն մարդիկ՝ համեմատած ԱԲ-ի հետ։ Ի՞նչ ստեղծագործ աշխատանքի կամ հայտնագործության օրինակ է բերվում։</a:t>
            </a:r>
            <a:endParaRPr sz="1600">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ru" sz="1600">
                <a:latin typeface="Urbanist"/>
                <a:ea typeface="Urbanist"/>
                <a:cs typeface="Urbanist"/>
                <a:sym typeface="Urbanist"/>
              </a:rPr>
              <a:t>Ի՞նչ հարցերով է որոշվում աշխատանքի հեռանկարային և ԱԲ-ով վտանգված չլինելը:</a:t>
            </a:r>
            <a:endParaRPr sz="1600">
              <a:latin typeface="Urbanist"/>
              <a:ea typeface="Urbanist"/>
              <a:cs typeface="Urbanist"/>
              <a:sym typeface="Urbanist"/>
            </a:endParaRPr>
          </a:p>
          <a:p>
            <a:pPr indent="0" lvl="0" marL="0" marR="0" rtl="0" algn="l">
              <a:lnSpc>
                <a:spcPct val="115000"/>
              </a:lnSpc>
              <a:spcBef>
                <a:spcPts val="0"/>
              </a:spcBef>
              <a:spcAft>
                <a:spcPts val="1000"/>
              </a:spcAft>
              <a:buClr>
                <a:srgbClr val="3A475A"/>
              </a:buClr>
              <a:buSzPts val="1500"/>
              <a:buFont typeface="Urbanist Light"/>
              <a:buNone/>
            </a:pPr>
            <a:r>
              <a:t/>
            </a:r>
            <a:endParaRPr sz="1800">
              <a:solidFill>
                <a:srgbClr val="3A475A"/>
              </a:solidFill>
              <a:latin typeface="Urbanist Medium"/>
              <a:ea typeface="Urbanist Medium"/>
              <a:cs typeface="Urbanist Medium"/>
              <a:sym typeface="Urbanist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307" name="Shape 307"/>
        <p:cNvGrpSpPr/>
        <p:nvPr/>
      </p:nvGrpSpPr>
      <p:grpSpPr>
        <a:xfrm>
          <a:off x="0" y="0"/>
          <a:ext cx="0" cy="0"/>
          <a:chOff x="0" y="0"/>
          <a:chExt cx="0" cy="0"/>
        </a:xfrm>
      </p:grpSpPr>
      <p:pic>
        <p:nvPicPr>
          <p:cNvPr descr="Image" id="308" name="Google Shape;308;p49"/>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309" name="Google Shape;309;p49"/>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Զույգերով աշխատանք</a:t>
            </a:r>
            <a:endParaRPr b="0" i="0" sz="500" u="none" cap="none" strike="noStrike">
              <a:solidFill>
                <a:srgbClr val="000000"/>
              </a:solidFill>
              <a:latin typeface="Arial"/>
              <a:ea typeface="Arial"/>
              <a:cs typeface="Arial"/>
              <a:sym typeface="Arial"/>
            </a:endParaRPr>
          </a:p>
        </p:txBody>
      </p:sp>
      <p:pic>
        <p:nvPicPr>
          <p:cNvPr descr="Machine learning isn't just for simple tasks like assessing credit risk and sorting mail anymore -- today, it's capable of far more complex applications, like grading essays and diagnosing diseases. With these advances comes an uneasy question: Will a robot do your job in the future?&#10;&#10;TEDTalks is a daily video podcast of the best talks and performances from the TED Conference, where the world's leading thinkers and doers give the talk of their lives in 18 minutes (or less). Look for talks on Technology, Entertainment and Design -- plus science, business, global issues, the arts and much more.&#10;Find closed captions and translated subtitles in many languages at http://www.ted.com/translate&#10;&#10;Follow TED news on Twitter: http://www.twitter.com/tednews&#10;Like TED on Facebook: https://www.facebook.com/TED&#10;&#10;Subscribe to our channel: http://www.youtube.com/user/TEDtalksDirector" id="310" name="Google Shape;310;p49" title="The jobs we'll lose to machines -- and the ones we won't | Anthony Goldbloom">
            <a:hlinkClick r:id="rId4"/>
          </p:cNvPr>
          <p:cNvPicPr preferRelativeResize="0"/>
          <p:nvPr/>
        </p:nvPicPr>
        <p:blipFill>
          <a:blip r:embed="rId5">
            <a:alphaModFix/>
          </a:blip>
          <a:stretch>
            <a:fillRect/>
          </a:stretch>
        </p:blipFill>
        <p:spPr>
          <a:xfrm>
            <a:off x="1127038" y="953351"/>
            <a:ext cx="6889925" cy="3875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descr="Image" id="315" name="Google Shape;315;p5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16" name="Google Shape;316;p5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1</a:t>
            </a:r>
            <a:endParaRPr b="0" i="0" sz="500" u="none" cap="none" strike="noStrike">
              <a:solidFill>
                <a:srgbClr val="000000"/>
              </a:solidFill>
              <a:latin typeface="Arial"/>
              <a:ea typeface="Arial"/>
              <a:cs typeface="Arial"/>
              <a:sym typeface="Arial"/>
            </a:endParaRPr>
          </a:p>
        </p:txBody>
      </p:sp>
      <p:sp>
        <p:nvSpPr>
          <p:cNvPr id="317" name="Google Shape;317;p50"/>
          <p:cNvSpPr txBox="1"/>
          <p:nvPr/>
        </p:nvSpPr>
        <p:spPr>
          <a:xfrm>
            <a:off x="642925" y="1831425"/>
            <a:ext cx="8162400" cy="2077800"/>
          </a:xfrm>
          <a:prstGeom prst="rect">
            <a:avLst/>
          </a:prstGeom>
          <a:noFill/>
          <a:ln>
            <a:noFill/>
          </a:ln>
        </p:spPr>
        <p:txBody>
          <a:bodyPr anchorCtr="0" anchor="t" bIns="17150" lIns="17150" spcFirstLastPara="1" rIns="17150" wrap="square" tIns="17150">
            <a:spAutoFit/>
          </a:bodyPr>
          <a:lstStyle/>
          <a:p>
            <a:pPr indent="0" lvl="0" marL="0" rtl="0" algn="l">
              <a:spcBef>
                <a:spcPts val="0"/>
              </a:spcBef>
              <a:spcAft>
                <a:spcPts val="0"/>
              </a:spcAft>
              <a:buNone/>
            </a:pPr>
            <a:r>
              <a:rPr b="1" lang="ru" sz="1600">
                <a:solidFill>
                  <a:schemeClr val="dk2"/>
                </a:solidFill>
                <a:latin typeface="Urbanist"/>
                <a:ea typeface="Urbanist"/>
                <a:cs typeface="Urbanist"/>
                <a:sym typeface="Urbanist"/>
              </a:rPr>
              <a:t>Ի՞նչ համեմատաբար պարզ առաջադրանքներ է կատարել ԱԲ-ն 1990 -ականների սկզբին։</a:t>
            </a:r>
            <a:endParaRPr b="1" sz="1600">
              <a:solidFill>
                <a:schemeClr val="dk2"/>
              </a:solidFill>
              <a:latin typeface="Urbanist"/>
              <a:ea typeface="Urbanist"/>
              <a:cs typeface="Urbanist"/>
              <a:sym typeface="Urbanist"/>
            </a:endParaRPr>
          </a:p>
          <a:p>
            <a:pPr indent="0" lvl="0" marL="0" rtl="0" algn="l">
              <a:lnSpc>
                <a:spcPct val="115000"/>
              </a:lnSpc>
              <a:spcBef>
                <a:spcPts val="0"/>
              </a:spcBef>
              <a:spcAft>
                <a:spcPts val="0"/>
              </a:spcAft>
              <a:buNone/>
            </a:pPr>
            <a:r>
              <a:t/>
            </a:r>
            <a:endParaRPr b="1" sz="1600">
              <a:solidFill>
                <a:schemeClr val="dk2"/>
              </a:solidFill>
              <a:latin typeface="Urbanist"/>
              <a:ea typeface="Urbanist"/>
              <a:cs typeface="Urbanist"/>
              <a:sym typeface="Urbanist"/>
            </a:endParaRPr>
          </a:p>
          <a:p>
            <a:pPr indent="-330200" lvl="0" marL="457200" marR="0" rtl="0" algn="just">
              <a:lnSpc>
                <a:spcPct val="150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Վարկային հայտերի վերաբերյալ վարկային ռիսկերի գնահատում։</a:t>
            </a:r>
            <a:endParaRPr sz="1600">
              <a:solidFill>
                <a:schemeClr val="dk1"/>
              </a:solidFill>
              <a:latin typeface="Urbanist"/>
              <a:ea typeface="Urbanist"/>
              <a:cs typeface="Urbanist"/>
              <a:sym typeface="Urbanist"/>
            </a:endParaRPr>
          </a:p>
          <a:p>
            <a:pPr indent="-330200" lvl="0" marL="457200" marR="0" rtl="0" algn="just">
              <a:lnSpc>
                <a:spcPct val="150000"/>
              </a:lnSpc>
              <a:spcBef>
                <a:spcPts val="100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Փոստի տեսակավորում՝ ըստ փոստային ինդեքսների ձեռագիր նիշերի:</a:t>
            </a:r>
            <a:endParaRPr sz="1600">
              <a:solidFill>
                <a:schemeClr val="dk1"/>
              </a:solidFill>
              <a:latin typeface="Urbanist ExtraLight"/>
              <a:ea typeface="Urbanist ExtraLight"/>
              <a:cs typeface="Urbanist ExtraLight"/>
              <a:sym typeface="Urbanist ExtraLight"/>
            </a:endParaRPr>
          </a:p>
          <a:p>
            <a:pPr indent="0" lvl="0" marL="0" marR="0" rtl="0" algn="l">
              <a:lnSpc>
                <a:spcPct val="115000"/>
              </a:lnSpc>
              <a:spcBef>
                <a:spcPts val="200"/>
              </a:spcBef>
              <a:spcAft>
                <a:spcPts val="1000"/>
              </a:spcAft>
              <a:buNone/>
            </a:pPr>
            <a:r>
              <a:t/>
            </a:r>
            <a:endParaRPr sz="16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descr="Image" id="322" name="Google Shape;322;p5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23" name="Google Shape;323;p5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2</a:t>
            </a:r>
            <a:endParaRPr b="0" i="0" sz="500" u="none" cap="none" strike="noStrike">
              <a:solidFill>
                <a:srgbClr val="000000"/>
              </a:solidFill>
              <a:latin typeface="Arial"/>
              <a:ea typeface="Arial"/>
              <a:cs typeface="Arial"/>
              <a:sym typeface="Arial"/>
            </a:endParaRPr>
          </a:p>
        </p:txBody>
      </p:sp>
      <p:sp>
        <p:nvSpPr>
          <p:cNvPr id="324" name="Google Shape;324;p51"/>
          <p:cNvSpPr txBox="1"/>
          <p:nvPr/>
        </p:nvSpPr>
        <p:spPr>
          <a:xfrm>
            <a:off x="642925" y="1831425"/>
            <a:ext cx="8162400" cy="1530900"/>
          </a:xfrm>
          <a:prstGeom prst="rect">
            <a:avLst/>
          </a:prstGeom>
          <a:noFill/>
          <a:ln>
            <a:noFill/>
          </a:ln>
        </p:spPr>
        <p:txBody>
          <a:bodyPr anchorCtr="0" anchor="t" bIns="17150" lIns="17150" spcFirstLastPara="1" rIns="17150" wrap="square" tIns="17150">
            <a:spAutoFit/>
          </a:bodyPr>
          <a:lstStyle/>
          <a:p>
            <a:pPr indent="0" lvl="0" marL="0" rtl="0" algn="l">
              <a:spcBef>
                <a:spcPts val="0"/>
              </a:spcBef>
              <a:spcAft>
                <a:spcPts val="0"/>
              </a:spcAft>
              <a:buNone/>
            </a:pPr>
            <a:r>
              <a:rPr b="1" lang="ru" sz="1600">
                <a:solidFill>
                  <a:schemeClr val="dk2"/>
                </a:solidFill>
                <a:latin typeface="Urbanist"/>
                <a:ea typeface="Urbanist"/>
                <a:cs typeface="Urbanist"/>
                <a:sym typeface="Urbanist"/>
              </a:rPr>
              <a:t>Kaggle -ը ի՞նչ առաջադրանքներով հանդես եկավ։</a:t>
            </a:r>
            <a:endParaRPr b="1" sz="1600">
              <a:solidFill>
                <a:schemeClr val="dk2"/>
              </a:solidFill>
              <a:latin typeface="Urbanist"/>
              <a:ea typeface="Urbanist"/>
              <a:cs typeface="Urbanist"/>
              <a:sym typeface="Urbanist"/>
            </a:endParaRPr>
          </a:p>
          <a:p>
            <a:pPr indent="0" lvl="0" marL="0" rtl="0" algn="l">
              <a:lnSpc>
                <a:spcPct val="115000"/>
              </a:lnSpc>
              <a:spcBef>
                <a:spcPts val="0"/>
              </a:spcBef>
              <a:spcAft>
                <a:spcPts val="0"/>
              </a:spcAft>
              <a:buNone/>
            </a:pPr>
            <a:r>
              <a:t/>
            </a:r>
            <a:endParaRPr b="1" sz="1600">
              <a:solidFill>
                <a:schemeClr val="dk2"/>
              </a:solidFill>
              <a:latin typeface="Urbanist"/>
              <a:ea typeface="Urbanist"/>
              <a:cs typeface="Urbanist"/>
              <a:sym typeface="Urbanist"/>
            </a:endParaRPr>
          </a:p>
          <a:p>
            <a:pPr indent="0" lvl="0" marL="0" rtl="0" algn="l">
              <a:lnSpc>
                <a:spcPct val="115000"/>
              </a:lnSpc>
              <a:spcBef>
                <a:spcPts val="1000"/>
              </a:spcBef>
              <a:spcAft>
                <a:spcPts val="0"/>
              </a:spcAft>
              <a:buNone/>
            </a:pPr>
            <a:r>
              <a:rPr lang="ru" sz="1600">
                <a:latin typeface="Urbanist"/>
                <a:ea typeface="Urbanist"/>
                <a:cs typeface="Urbanist"/>
                <a:sym typeface="Urbanist"/>
              </a:rPr>
              <a:t>Առաջարկել ալգորիթմ, որը գնահատում է ավագ դպրոցի աշակերտների էսսեները, իսկ մյուս օրինակը վերաբերում է աչքի հիվանդությունների ախտորոշմանը՝ հիմնված նկարների վրա։</a:t>
            </a:r>
            <a:endParaRPr sz="1600">
              <a:latin typeface="Urbanist"/>
              <a:ea typeface="Urbanist"/>
              <a:cs typeface="Urbanist"/>
              <a:sym typeface="Urbanist"/>
            </a:endParaRPr>
          </a:p>
          <a:p>
            <a:pPr indent="0" lvl="0" marL="0" marR="0" rtl="0" algn="l">
              <a:lnSpc>
                <a:spcPct val="115000"/>
              </a:lnSpc>
              <a:spcBef>
                <a:spcPts val="200"/>
              </a:spcBef>
              <a:spcAft>
                <a:spcPts val="1000"/>
              </a:spcAft>
              <a:buNone/>
            </a:pPr>
            <a:r>
              <a:t/>
            </a:r>
            <a:endParaRPr sz="16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descr="Image" id="329" name="Google Shape;329;p5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30" name="Google Shape;330;p5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3</a:t>
            </a:r>
            <a:endParaRPr b="0" i="0" sz="500" u="none" cap="none" strike="noStrike">
              <a:solidFill>
                <a:srgbClr val="000000"/>
              </a:solidFill>
              <a:latin typeface="Arial"/>
              <a:ea typeface="Arial"/>
              <a:cs typeface="Arial"/>
              <a:sym typeface="Arial"/>
            </a:endParaRPr>
          </a:p>
        </p:txBody>
      </p:sp>
      <p:sp>
        <p:nvSpPr>
          <p:cNvPr id="331" name="Google Shape;331;p52"/>
          <p:cNvSpPr txBox="1"/>
          <p:nvPr/>
        </p:nvSpPr>
        <p:spPr>
          <a:xfrm>
            <a:off x="642925" y="1831425"/>
            <a:ext cx="8162400" cy="1814100"/>
          </a:xfrm>
          <a:prstGeom prst="rect">
            <a:avLst/>
          </a:prstGeom>
          <a:noFill/>
          <a:ln>
            <a:noFill/>
          </a:ln>
        </p:spPr>
        <p:txBody>
          <a:bodyPr anchorCtr="0" anchor="t" bIns="17150" lIns="17150" spcFirstLastPara="1" rIns="17150" wrap="square" tIns="17150">
            <a:spAutoFit/>
          </a:bodyPr>
          <a:lstStyle/>
          <a:p>
            <a:pPr indent="0" lvl="0" marL="0" rtl="0" algn="l">
              <a:spcBef>
                <a:spcPts val="0"/>
              </a:spcBef>
              <a:spcAft>
                <a:spcPts val="0"/>
              </a:spcAft>
              <a:buNone/>
            </a:pPr>
            <a:r>
              <a:rPr b="1" lang="ru" sz="1600">
                <a:solidFill>
                  <a:schemeClr val="dk2"/>
                </a:solidFill>
                <a:latin typeface="Urbanist"/>
                <a:ea typeface="Urbanist"/>
                <a:cs typeface="Urbanist"/>
                <a:sym typeface="Urbanist"/>
              </a:rPr>
              <a:t>Ինչու՞ է ԱԲ կիրառությունն անխուսափելի։</a:t>
            </a:r>
            <a:endParaRPr b="1" sz="1600">
              <a:solidFill>
                <a:schemeClr val="dk2"/>
              </a:solidFill>
              <a:latin typeface="Urbanist"/>
              <a:ea typeface="Urbanist"/>
              <a:cs typeface="Urbanist"/>
              <a:sym typeface="Urbanist"/>
            </a:endParaRPr>
          </a:p>
          <a:p>
            <a:pPr indent="0" lvl="0" marL="0" rtl="0" algn="l">
              <a:lnSpc>
                <a:spcPct val="115000"/>
              </a:lnSpc>
              <a:spcBef>
                <a:spcPts val="0"/>
              </a:spcBef>
              <a:spcAft>
                <a:spcPts val="0"/>
              </a:spcAft>
              <a:buNone/>
            </a:pPr>
            <a:r>
              <a:t/>
            </a:r>
            <a:endParaRPr b="1" sz="1600">
              <a:solidFill>
                <a:schemeClr val="dk2"/>
              </a:solidFill>
              <a:latin typeface="Urbanist"/>
              <a:ea typeface="Urbanist"/>
              <a:cs typeface="Urbanist"/>
              <a:sym typeface="Urbanist"/>
            </a:endParaRPr>
          </a:p>
          <a:p>
            <a:pPr indent="0" lvl="0" marL="0" rtl="0" algn="l">
              <a:lnSpc>
                <a:spcPct val="115000"/>
              </a:lnSpc>
              <a:spcBef>
                <a:spcPts val="1000"/>
              </a:spcBef>
              <a:spcAft>
                <a:spcPts val="0"/>
              </a:spcAft>
              <a:buNone/>
            </a:pPr>
            <a:r>
              <a:rPr lang="ru" sz="1600">
                <a:latin typeface="Urbanist"/>
                <a:ea typeface="Urbanist"/>
                <a:cs typeface="Urbanist"/>
                <a:sym typeface="Urbanist"/>
              </a:rPr>
              <a:t>ԱԲ-ի կիրառությունն անխուսափելի է, քանի որ մեքենաները մարդկանցից ավելի արդյունավետ են գործում կրկնվող գործողությունների կամ մեծածավալ տվյալների մշակման դեպքում։</a:t>
            </a:r>
            <a:endParaRPr sz="1600">
              <a:latin typeface="Urbanist"/>
              <a:ea typeface="Urbanist"/>
              <a:cs typeface="Urbanist"/>
              <a:sym typeface="Urbanist"/>
            </a:endParaRPr>
          </a:p>
          <a:p>
            <a:pPr indent="0" lvl="0" marL="0" marR="0" rtl="0" algn="l">
              <a:lnSpc>
                <a:spcPct val="115000"/>
              </a:lnSpc>
              <a:spcBef>
                <a:spcPts val="200"/>
              </a:spcBef>
              <a:spcAft>
                <a:spcPts val="1000"/>
              </a:spcAft>
              <a:buNone/>
            </a:pPr>
            <a:r>
              <a:t/>
            </a:r>
            <a:endParaRPr sz="16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descr="Image" id="336" name="Google Shape;336;p5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37" name="Google Shape;337;p5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4</a:t>
            </a:r>
            <a:endParaRPr b="0" i="0" sz="500" u="none" cap="none" strike="noStrike">
              <a:solidFill>
                <a:srgbClr val="000000"/>
              </a:solidFill>
              <a:latin typeface="Arial"/>
              <a:ea typeface="Arial"/>
              <a:cs typeface="Arial"/>
              <a:sym typeface="Arial"/>
            </a:endParaRPr>
          </a:p>
        </p:txBody>
      </p:sp>
      <p:sp>
        <p:nvSpPr>
          <p:cNvPr id="338" name="Google Shape;338;p53"/>
          <p:cNvSpPr txBox="1"/>
          <p:nvPr/>
        </p:nvSpPr>
        <p:spPr>
          <a:xfrm>
            <a:off x="642925" y="1831425"/>
            <a:ext cx="8162400" cy="32670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solidFill>
                  <a:schemeClr val="dk2"/>
                </a:solidFill>
                <a:latin typeface="Urbanist SemiBold"/>
                <a:ea typeface="Urbanist SemiBold"/>
                <a:cs typeface="Urbanist SemiBold"/>
                <a:sym typeface="Urbanist SemiBold"/>
              </a:rPr>
              <a:t>Ըստ խոսնակի, ինչ գործնական առավելություններ ունեն մարդիկ՝ համեմատած ԱԲ-ի հետ։ Ի՞նչ ստեղծագործ աշխատանքի կամ հայտնագործության օրինակ է բերվում։</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0"/>
              </a:spcBef>
              <a:spcAft>
                <a:spcPts val="0"/>
              </a:spcAft>
              <a:buNone/>
            </a:pPr>
            <a:r>
              <a:t/>
            </a:r>
            <a:endParaRPr b="1" sz="1600">
              <a:solidFill>
                <a:schemeClr val="dk2"/>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ԱԲ-ն չի կարող արդյունավետորեն լուծել այնպիսի խնդիրներ, որոնց նախկինում երբեք չի հանդիպել։ </a:t>
            </a:r>
            <a:endParaRPr sz="1600">
              <a:latin typeface="Urbanist"/>
              <a:ea typeface="Urbanist"/>
              <a:cs typeface="Urbanist"/>
              <a:sym typeface="Urbanis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Ի տարբերություն դրա, մարդը կարող է հաղթահարել նոր իրավիճակներից բխող դժվարությունները և ստեղծել նորարարական լուծումներ։ </a:t>
            </a:r>
            <a:endParaRPr sz="1600">
              <a:latin typeface="Urbanist"/>
              <a:ea typeface="Urbanist"/>
              <a:cs typeface="Urbanist"/>
              <a:sym typeface="Urbanis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Այս փաստի վառ օրինակն է Պերսի Սփենսերի կողմից միկրոալիքային վառարանի ստեղծումը․ այդ միտքը ծագեց, երբ նկատեց, որ շոկոլադե սալիկը հալվել էր իր գրպանում՝ ռադարային սարքի մոտ աշխատելիս։</a:t>
            </a:r>
            <a:endParaRPr sz="1600">
              <a:latin typeface="Urbanist"/>
              <a:ea typeface="Urbanist"/>
              <a:cs typeface="Urbanist"/>
              <a:sym typeface="Urbanist"/>
            </a:endParaRPr>
          </a:p>
          <a:p>
            <a:pPr indent="0" lvl="0" marL="0" marR="0" rtl="0" algn="l">
              <a:lnSpc>
                <a:spcPct val="115000"/>
              </a:lnSpc>
              <a:spcBef>
                <a:spcPts val="200"/>
              </a:spcBef>
              <a:spcAft>
                <a:spcPts val="1000"/>
              </a:spcAft>
              <a:buNone/>
            </a:pPr>
            <a:r>
              <a:t/>
            </a:r>
            <a:endParaRPr sz="16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descr="Image" id="343" name="Google Shape;343;p5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44" name="Google Shape;344;p5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5</a:t>
            </a:r>
            <a:endParaRPr b="0" i="0" sz="500" u="none" cap="none" strike="noStrike">
              <a:solidFill>
                <a:srgbClr val="000000"/>
              </a:solidFill>
              <a:latin typeface="Arial"/>
              <a:ea typeface="Arial"/>
              <a:cs typeface="Arial"/>
              <a:sym typeface="Arial"/>
            </a:endParaRPr>
          </a:p>
        </p:txBody>
      </p:sp>
      <p:sp>
        <p:nvSpPr>
          <p:cNvPr id="345" name="Google Shape;345;p54"/>
          <p:cNvSpPr txBox="1"/>
          <p:nvPr/>
        </p:nvSpPr>
        <p:spPr>
          <a:xfrm>
            <a:off x="642925" y="1831425"/>
            <a:ext cx="8162400" cy="20634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solidFill>
                  <a:schemeClr val="dk2"/>
                </a:solidFill>
                <a:latin typeface="Urbanist SemiBold"/>
                <a:ea typeface="Urbanist SemiBold"/>
                <a:cs typeface="Urbanist SemiBold"/>
                <a:sym typeface="Urbanist SemiBold"/>
              </a:rPr>
              <a:t>Ի՞ն հարցերով է որոշվում աշխատանքի հեռանկարային և ԱԲ-ով վտանգված չլինելը։</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0"/>
              </a:spcBef>
              <a:spcAft>
                <a:spcPts val="0"/>
              </a:spcAft>
              <a:buNone/>
            </a:pPr>
            <a:r>
              <a:t/>
            </a:r>
            <a:endParaRPr b="1" sz="1600">
              <a:solidFill>
                <a:schemeClr val="dk2"/>
              </a:solidFill>
              <a:latin typeface="Urbanist"/>
              <a:ea typeface="Urbanist"/>
              <a:cs typeface="Urbanist"/>
              <a:sym typeface="Urbanist"/>
            </a:endParaRPr>
          </a:p>
          <a:p>
            <a:pPr indent="-355600" lvl="0" marL="457200" marR="0" rtl="0" algn="just">
              <a:lnSpc>
                <a:spcPct val="115000"/>
              </a:lnSpc>
              <a:spcBef>
                <a:spcPts val="1000"/>
              </a:spcBef>
              <a:spcAft>
                <a:spcPts val="0"/>
              </a:spcAft>
              <a:buClr>
                <a:srgbClr val="FDC672"/>
              </a:buClr>
              <a:buSzPts val="2000"/>
              <a:buFont typeface="Urbanist"/>
              <a:buChar char="●"/>
            </a:pPr>
            <a:r>
              <a:rPr lang="ru" sz="1600">
                <a:solidFill>
                  <a:schemeClr val="dk1"/>
                </a:solidFill>
                <a:latin typeface="Urbanist"/>
                <a:ea typeface="Urbanist"/>
                <a:cs typeface="Urbanist"/>
                <a:sym typeface="Urbanist"/>
              </a:rPr>
              <a:t>«Որքա՞ն հաճախ են աշխատանքում ներառված առաջադրանքները կատարվում»։</a:t>
            </a:r>
            <a:endParaRPr sz="1600">
              <a:solidFill>
                <a:schemeClr val="dk1"/>
              </a:solidFill>
              <a:latin typeface="Urbanist"/>
              <a:ea typeface="Urbanist"/>
              <a:cs typeface="Urbanist"/>
              <a:sym typeface="Urbanist"/>
            </a:endParaRPr>
          </a:p>
          <a:p>
            <a:pPr indent="-355600" lvl="0" marL="457200" marR="0" rtl="0" algn="just">
              <a:lnSpc>
                <a:spcPct val="115000"/>
              </a:lnSpc>
              <a:spcBef>
                <a:spcPts val="0"/>
              </a:spcBef>
              <a:spcAft>
                <a:spcPts val="0"/>
              </a:spcAft>
              <a:buClr>
                <a:srgbClr val="FDC672"/>
              </a:buClr>
              <a:buSzPts val="2000"/>
              <a:buFont typeface="Urbanist"/>
              <a:buChar char="●"/>
            </a:pPr>
            <a:r>
              <a:rPr lang="ru" sz="1600">
                <a:solidFill>
                  <a:schemeClr val="dk1"/>
                </a:solidFill>
                <a:latin typeface="Urbanist"/>
                <a:ea typeface="Urbanist"/>
                <a:cs typeface="Urbanist"/>
                <a:sym typeface="Urbanist"/>
              </a:rPr>
              <a:t>«Արդյոք մեծ ծավալի տվյալների հետ են նրանք աշխատում»։</a:t>
            </a:r>
            <a:endParaRPr sz="1600">
              <a:solidFill>
                <a:schemeClr val="dk1"/>
              </a:solidFill>
              <a:latin typeface="Urbanist"/>
              <a:ea typeface="Urbanist"/>
              <a:cs typeface="Urbanist"/>
              <a:sym typeface="Urbanist"/>
            </a:endParaRPr>
          </a:p>
          <a:p>
            <a:pPr indent="-355600" lvl="0" marL="457200" marR="0" rtl="0" algn="just">
              <a:lnSpc>
                <a:spcPct val="115000"/>
              </a:lnSpc>
              <a:spcBef>
                <a:spcPts val="0"/>
              </a:spcBef>
              <a:spcAft>
                <a:spcPts val="0"/>
              </a:spcAft>
              <a:buClr>
                <a:srgbClr val="FDC672"/>
              </a:buClr>
              <a:buSzPts val="2000"/>
              <a:buFont typeface="Urbanist"/>
              <a:buChar char="●"/>
            </a:pPr>
            <a:r>
              <a:rPr lang="ru" sz="1600">
                <a:solidFill>
                  <a:schemeClr val="dk1"/>
                </a:solidFill>
                <a:latin typeface="Urbanist"/>
                <a:ea typeface="Urbanist"/>
                <a:cs typeface="Urbanist"/>
                <a:sym typeface="Urbanist"/>
              </a:rPr>
              <a:t>«Որքանո՞վ է այն ներառում նոր իրավիճակների լուծում</a:t>
            </a:r>
            <a:r>
              <a:rPr lang="ru" sz="1600">
                <a:solidFill>
                  <a:schemeClr val="dk1"/>
                </a:solidFill>
                <a:latin typeface="Urbanist"/>
                <a:ea typeface="Urbanist"/>
                <a:cs typeface="Urbanist"/>
                <a:sym typeface="Urbanist"/>
              </a:rPr>
              <a:t>»։</a:t>
            </a:r>
            <a:endParaRPr sz="2000">
              <a:latin typeface="Urbanist"/>
              <a:ea typeface="Urbanist"/>
              <a:cs typeface="Urbanist"/>
              <a:sym typeface="Urbanist"/>
            </a:endParaRPr>
          </a:p>
          <a:p>
            <a:pPr indent="0" lvl="0" marL="0" marR="0" rtl="0" algn="l">
              <a:lnSpc>
                <a:spcPct val="115000"/>
              </a:lnSpc>
              <a:spcBef>
                <a:spcPts val="200"/>
              </a:spcBef>
              <a:spcAft>
                <a:spcPts val="1000"/>
              </a:spcAft>
              <a:buNone/>
            </a:pPr>
            <a:r>
              <a:t/>
            </a:r>
            <a:endParaRPr sz="16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349" name="Shape 349"/>
        <p:cNvGrpSpPr/>
        <p:nvPr/>
      </p:nvGrpSpPr>
      <p:grpSpPr>
        <a:xfrm>
          <a:off x="0" y="0"/>
          <a:ext cx="0" cy="0"/>
          <a:chOff x="0" y="0"/>
          <a:chExt cx="0" cy="0"/>
        </a:xfrm>
      </p:grpSpPr>
      <p:pic>
        <p:nvPicPr>
          <p:cNvPr descr="Image" id="350" name="Google Shape;350;p55"/>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351" name="Google Shape;351;p55"/>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Խմբերով </a:t>
            </a:r>
            <a:r>
              <a:rPr lang="ru" sz="3000">
                <a:solidFill>
                  <a:srgbClr val="FFFFFF"/>
                </a:solidFill>
                <a:latin typeface="Urbanist ExtraBold"/>
                <a:ea typeface="Urbanist ExtraBold"/>
                <a:cs typeface="Urbanist ExtraBold"/>
                <a:sym typeface="Urbanist ExtraBold"/>
              </a:rPr>
              <a:t>աշխատանք</a:t>
            </a:r>
            <a:endParaRPr b="0" i="0" sz="500" u="none" cap="none" strike="noStrike">
              <a:solidFill>
                <a:srgbClr val="000000"/>
              </a:solidFill>
              <a:latin typeface="Arial"/>
              <a:ea typeface="Arial"/>
              <a:cs typeface="Arial"/>
              <a:sym typeface="Arial"/>
            </a:endParaRPr>
          </a:p>
        </p:txBody>
      </p:sp>
      <p:sp>
        <p:nvSpPr>
          <p:cNvPr id="352" name="Google Shape;352;p55"/>
          <p:cNvSpPr txBox="1"/>
          <p:nvPr/>
        </p:nvSpPr>
        <p:spPr>
          <a:xfrm>
            <a:off x="949400" y="1114425"/>
            <a:ext cx="7313700" cy="37236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Կատարել հետևյալ </a:t>
            </a:r>
            <a:r>
              <a:rPr b="1" lang="ru" sz="1800" u="sng">
                <a:solidFill>
                  <a:schemeClr val="hlink"/>
                </a:solidFill>
                <a:latin typeface="Urbanist"/>
                <a:ea typeface="Urbanist"/>
                <a:cs typeface="Urbanist"/>
                <a:sym typeface="Urbanist"/>
                <a:hlinkClick r:id="rId4"/>
              </a:rPr>
              <a:t>հղմամբ</a:t>
            </a:r>
            <a:r>
              <a:rPr b="1" lang="ru" sz="1800">
                <a:solidFill>
                  <a:srgbClr val="3A475A"/>
                </a:solidFill>
                <a:latin typeface="Urbanist"/>
                <a:ea typeface="Urbanist"/>
                <a:cs typeface="Urbanist"/>
                <a:sym typeface="Urbanist"/>
              </a:rPr>
              <a:t> հասանելի ֆայլի առաջադրանքները։</a:t>
            </a:r>
            <a:endParaRPr b="1" sz="1800">
              <a:solidFill>
                <a:srgbClr val="3A475A"/>
              </a:solidFill>
              <a:latin typeface="Urbanist"/>
              <a:ea typeface="Urbanist"/>
              <a:cs typeface="Urbanist"/>
              <a:sym typeface="Urbanist"/>
            </a:endParaRPr>
          </a:p>
          <a:p>
            <a:pPr indent="0" lvl="0" marL="0" marR="0" rtl="0" algn="l">
              <a:lnSpc>
                <a:spcPct val="115000"/>
              </a:lnSpc>
              <a:spcBef>
                <a:spcPts val="100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330200" lvl="0" marL="457200" rtl="0" algn="l">
              <a:lnSpc>
                <a:spcPct val="115000"/>
              </a:lnSpc>
              <a:spcBef>
                <a:spcPts val="1000"/>
              </a:spcBef>
              <a:spcAft>
                <a:spcPts val="0"/>
              </a:spcAft>
              <a:buClr>
                <a:schemeClr val="lt1"/>
              </a:buClr>
              <a:buSzPts val="1600"/>
              <a:buFont typeface="Urbanist"/>
              <a:buChar char="●"/>
            </a:pPr>
            <a:r>
              <a:rPr lang="ru" sz="1600">
                <a:latin typeface="Urbanist"/>
                <a:ea typeface="Urbanist"/>
                <a:cs typeface="Urbanist"/>
                <a:sym typeface="Urbanist"/>
              </a:rPr>
              <a:t>Դիտարկել նշված մասնագիտությունները։ </a:t>
            </a:r>
            <a:endParaRPr sz="1600">
              <a:latin typeface="Urbanist"/>
              <a:ea typeface="Urbanist"/>
              <a:cs typeface="Urbanist"/>
              <a:sym typeface="Urbanist"/>
            </a:endParaRPr>
          </a:p>
          <a:p>
            <a:pPr indent="-330200" lvl="0" marL="457200" rtl="0" algn="l">
              <a:lnSpc>
                <a:spcPct val="115000"/>
              </a:lnSpc>
              <a:spcBef>
                <a:spcPts val="0"/>
              </a:spcBef>
              <a:spcAft>
                <a:spcPts val="0"/>
              </a:spcAft>
              <a:buClr>
                <a:schemeClr val="lt1"/>
              </a:buClr>
              <a:buSzPts val="1600"/>
              <a:buFont typeface="Urbanist"/>
              <a:buChar char="●"/>
            </a:pPr>
            <a:r>
              <a:rPr lang="ru" sz="1600">
                <a:latin typeface="Urbanist"/>
                <a:ea typeface="Urbanist"/>
                <a:cs typeface="Urbanist"/>
                <a:sym typeface="Urbanist"/>
              </a:rPr>
              <a:t>Յուրաքանչյուրի համար որոշել, թե ինչքանով է հավանական որ այն դուրս կգա պահանջարկից ավտոմատացման կամ ԱԲ-ի պատճառով։ </a:t>
            </a:r>
            <a:endParaRPr sz="1600">
              <a:latin typeface="Urbanist"/>
              <a:ea typeface="Urbanist"/>
              <a:cs typeface="Urbanist"/>
              <a:sym typeface="Urbanist"/>
            </a:endParaRPr>
          </a:p>
          <a:p>
            <a:pPr indent="-330200" lvl="0" marL="457200" rtl="0" algn="l">
              <a:lnSpc>
                <a:spcPct val="115000"/>
              </a:lnSpc>
              <a:spcBef>
                <a:spcPts val="0"/>
              </a:spcBef>
              <a:spcAft>
                <a:spcPts val="0"/>
              </a:spcAft>
              <a:buClr>
                <a:schemeClr val="lt1"/>
              </a:buClr>
              <a:buSzPts val="1600"/>
              <a:buFont typeface="Urbanist"/>
              <a:buChar char="●"/>
            </a:pPr>
            <a:r>
              <a:rPr lang="ru" sz="1600">
                <a:latin typeface="Urbanist"/>
                <a:ea typeface="Urbanist"/>
                <a:cs typeface="Urbanist"/>
                <a:sym typeface="Urbanist"/>
              </a:rPr>
              <a:t>Օգտագործել Հուշող Հարցը՝ յուրաքանչյուր օրինակում ձեր կարծիքը պաշտպանելու համար։ </a:t>
            </a:r>
            <a:endParaRPr sz="1600">
              <a:latin typeface="Urbanist"/>
              <a:ea typeface="Urbanist"/>
              <a:cs typeface="Urbanist"/>
              <a:sym typeface="Urbanist"/>
            </a:endParaRPr>
          </a:p>
          <a:p>
            <a:pPr indent="-330200" lvl="0" marL="457200" rtl="0" algn="l">
              <a:lnSpc>
                <a:spcPct val="115000"/>
              </a:lnSpc>
              <a:spcBef>
                <a:spcPts val="0"/>
              </a:spcBef>
              <a:spcAft>
                <a:spcPts val="0"/>
              </a:spcAft>
              <a:buClr>
                <a:schemeClr val="lt1"/>
              </a:buClr>
              <a:buSzPts val="1600"/>
              <a:buFont typeface="Urbanist"/>
              <a:buChar char="●"/>
            </a:pPr>
            <a:r>
              <a:rPr lang="ru" sz="1600">
                <a:latin typeface="Urbanist"/>
                <a:ea typeface="Urbanist"/>
                <a:cs typeface="Urbanist"/>
                <a:sym typeface="Urbanist"/>
              </a:rPr>
              <a:t>Դասավորել մասնագիտությունները ըստ իրենց պահանջարկից դուրս գալու աճի։</a:t>
            </a:r>
            <a:endParaRPr sz="1600">
              <a:latin typeface="Urbanist"/>
              <a:ea typeface="Urbanist"/>
              <a:cs typeface="Urbanist"/>
              <a:sym typeface="Urbanist"/>
            </a:endParaRPr>
          </a:p>
          <a:p>
            <a:pPr indent="0" lvl="0" marL="0" rtl="0" algn="l">
              <a:lnSpc>
                <a:spcPct val="115000"/>
              </a:lnSpc>
              <a:spcBef>
                <a:spcPts val="0"/>
              </a:spcBef>
              <a:spcAft>
                <a:spcPts val="1000"/>
              </a:spcAft>
              <a:buNone/>
            </a:pPr>
            <a:r>
              <a:rPr b="1" lang="ru" sz="1600">
                <a:solidFill>
                  <a:srgbClr val="3A475A"/>
                </a:solidFill>
                <a:latin typeface="Urbanist"/>
                <a:ea typeface="Urbanist"/>
                <a:cs typeface="Urbanist"/>
                <a:sym typeface="Urbanist"/>
              </a:rPr>
              <a:t>Հուշող հարց՝ </a:t>
            </a:r>
            <a:r>
              <a:rPr lang="ru" sz="1600">
                <a:solidFill>
                  <a:schemeClr val="dk1"/>
                </a:solidFill>
                <a:latin typeface="Urbanist"/>
                <a:ea typeface="Urbanist"/>
                <a:cs typeface="Urbanist"/>
                <a:sym typeface="Urbanist"/>
              </a:rPr>
              <a:t>Ի՞նչ չափով է այդ աշխատանքը ներառում հաճախակի կրկնվող առաջադրանքների կատարում կամ ներառում մեծ ծավալի տվյալներ, և ի՞նչ չափով է այն առնչվում նոր իրավիճակների հետ։ </a:t>
            </a:r>
            <a:endParaRPr sz="1600">
              <a:latin typeface="Urbanist"/>
              <a:ea typeface="Urbanist"/>
              <a:cs typeface="Urbanist"/>
              <a:sym typeface="Urbanis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descr="Image" id="357" name="Google Shape;357;p5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58" name="Google Shape;358;p5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Պատասխաններ</a:t>
            </a:r>
            <a:endParaRPr b="0" i="0" sz="500" u="none" cap="none" strike="noStrike">
              <a:solidFill>
                <a:srgbClr val="000000"/>
              </a:solidFill>
              <a:latin typeface="Arial"/>
              <a:ea typeface="Arial"/>
              <a:cs typeface="Arial"/>
              <a:sym typeface="Arial"/>
            </a:endParaRPr>
          </a:p>
        </p:txBody>
      </p:sp>
      <p:graphicFrame>
        <p:nvGraphicFramePr>
          <p:cNvPr id="359" name="Google Shape;359;p56"/>
          <p:cNvGraphicFramePr/>
          <p:nvPr/>
        </p:nvGraphicFramePr>
        <p:xfrm>
          <a:off x="225850" y="1376325"/>
          <a:ext cx="3000000" cy="3000000"/>
        </p:xfrm>
        <a:graphic>
          <a:graphicData uri="http://schemas.openxmlformats.org/drawingml/2006/table">
            <a:tbl>
              <a:tblPr>
                <a:noFill/>
                <a:tableStyleId>{41B8CB50-37E8-4FF0-90C8-70755F0B0C13}</a:tableStyleId>
              </a:tblPr>
              <a:tblGrid>
                <a:gridCol w="1847900"/>
                <a:gridCol w="2732900"/>
                <a:gridCol w="1423400"/>
                <a:gridCol w="1423400"/>
                <a:gridCol w="1423400"/>
              </a:tblGrid>
              <a:tr h="1208500">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ՄԱՍՆԱԳԻՏՈՒԹՅՈՒՆ</a:t>
                      </a:r>
                      <a:endParaRPr sz="1200">
                        <a:latin typeface="Urbanist"/>
                        <a:ea typeface="Urbanist"/>
                        <a:cs typeface="Urbanist"/>
                        <a:sym typeface="Urbanist"/>
                      </a:endParaRPr>
                    </a:p>
                  </a:txBody>
                  <a:tcPr marT="63500" marB="63500" marR="63500" marL="63500">
                    <a:solidFill>
                      <a:srgbClr val="FDC672"/>
                    </a:solidFill>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ԱՌԱՋԱԴՐԱՆՔ</a:t>
                      </a:r>
                      <a:endParaRPr sz="1200">
                        <a:latin typeface="Urbanist"/>
                        <a:ea typeface="Urbanist"/>
                        <a:cs typeface="Urbanist"/>
                        <a:sym typeface="Urbanist"/>
                      </a:endParaRPr>
                    </a:p>
                  </a:txBody>
                  <a:tcPr marT="63500" marB="63500" marR="63500" marL="63500">
                    <a:solidFill>
                      <a:srgbClr val="FDC672"/>
                    </a:solidFill>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ՆԵՐԱՌՈՒՄ Է ԱՐԴՅՈՔ ՀԱՃԱԽԱԿԻ ԿՐԿՆՎՈՂ ԱՌԱՋԱԴՐԱՆՔՆԵՐ</a:t>
                      </a:r>
                      <a:endParaRPr sz="1200">
                        <a:latin typeface="Urbanist"/>
                        <a:ea typeface="Urbanist"/>
                        <a:cs typeface="Urbanist"/>
                        <a:sym typeface="Urbanist"/>
                      </a:endParaRPr>
                    </a:p>
                  </a:txBody>
                  <a:tcPr marT="63500" marB="63500" marR="63500" marL="63500">
                    <a:solidFill>
                      <a:srgbClr val="FDC672"/>
                    </a:solidFill>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ԱՇԽԱՏՈՒՄ Է ԱՐԴՅՈՔ ՄԵԾ ԾԱՎԱԼԻ ՏՎՅԱԼՆԵՐԻ ՀԵՏ</a:t>
                      </a:r>
                      <a:endParaRPr sz="1200">
                        <a:latin typeface="Urbanist"/>
                        <a:ea typeface="Urbanist"/>
                        <a:cs typeface="Urbanist"/>
                        <a:sym typeface="Urbanist"/>
                      </a:endParaRPr>
                    </a:p>
                  </a:txBody>
                  <a:tcPr marT="63500" marB="63500" marR="63500" marL="63500">
                    <a:solidFill>
                      <a:srgbClr val="FDC672"/>
                    </a:solidFill>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ՊԱՐԲԵՐԱԲԱՐ ԱՌՆՉՎՈՒՄ Է ՆՈՐ ԻՐԱՎԻՃԱԿՆԵՐԻ ՀԵՏ</a:t>
                      </a:r>
                      <a:endParaRPr sz="1200">
                        <a:latin typeface="Urbanist"/>
                        <a:ea typeface="Urbanist"/>
                        <a:cs typeface="Urbanist"/>
                        <a:sym typeface="Urbanist"/>
                      </a:endParaRPr>
                    </a:p>
                  </a:txBody>
                  <a:tcPr marT="63500" marB="63500" marR="63500" marL="63500">
                    <a:solidFill>
                      <a:srgbClr val="FDC672"/>
                    </a:solidFill>
                  </a:tcPr>
                </a:tc>
              </a:tr>
              <a:tr h="705550">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Համակարգում տվյալներ մուտքագրող</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Մեծ ծավալի տվյալների մուտքագրում համակարգում</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այո</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այո</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հազվադեպ</a:t>
                      </a:r>
                      <a:endParaRPr sz="1200">
                        <a:latin typeface="Urbanist"/>
                        <a:ea typeface="Urbanist"/>
                        <a:cs typeface="Urbanist"/>
                        <a:sym typeface="Urbanist"/>
                      </a:endParaRPr>
                    </a:p>
                  </a:txBody>
                  <a:tcPr marT="63500" marB="63500" marR="63500" marL="63500"/>
                </a:tc>
              </a:tr>
              <a:tr h="705550">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Դատավոր</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Օրենքների մեկնաբանում, բարդ իրավական որոշումների կայացում։</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երբեմն</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այո</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այո</a:t>
                      </a:r>
                      <a:endParaRPr sz="1200">
                        <a:latin typeface="Urbanist"/>
                        <a:ea typeface="Urbanist"/>
                        <a:cs typeface="Urbanist"/>
                        <a:sym typeface="Urbanist"/>
                      </a:endParaRPr>
                    </a:p>
                  </a:txBody>
                  <a:tcPr marT="63500" marB="63500" marR="63500" marL="63500"/>
                </a:tc>
              </a:tr>
              <a:tr h="705550">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Արհեստավոր</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Մեքենաներում և սարքերում թերությունների հայտնաբերում և շտկում</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երբեմն</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ոչ</a:t>
                      </a:r>
                      <a:endParaRPr sz="1200">
                        <a:latin typeface="Urbanist"/>
                        <a:ea typeface="Urbanist"/>
                        <a:cs typeface="Urbanist"/>
                        <a:sym typeface="Urbanist"/>
                      </a:endParaRPr>
                    </a:p>
                  </a:txBody>
                  <a:tcPr marT="63500" marB="63500" marR="63500" marL="63500"/>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հաճախ</a:t>
                      </a:r>
                      <a:endParaRPr sz="1200">
                        <a:latin typeface="Urbanist"/>
                        <a:ea typeface="Urbanist"/>
                        <a:cs typeface="Urbanist"/>
                        <a:sym typeface="Urbanist"/>
                      </a:endParaRPr>
                    </a:p>
                  </a:txBody>
                  <a:tcPr marT="63500" marB="63500" marR="63500" marL="63500"/>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descr="Image" id="364" name="Google Shape;364;p5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65" name="Google Shape;365;p5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Պատասխաններ</a:t>
            </a:r>
            <a:endParaRPr b="0" i="0" sz="500" u="none" cap="none" strike="noStrike">
              <a:solidFill>
                <a:srgbClr val="000000"/>
              </a:solidFill>
              <a:latin typeface="Arial"/>
              <a:ea typeface="Arial"/>
              <a:cs typeface="Arial"/>
              <a:sym typeface="Arial"/>
            </a:endParaRPr>
          </a:p>
        </p:txBody>
      </p:sp>
      <p:graphicFrame>
        <p:nvGraphicFramePr>
          <p:cNvPr id="366" name="Google Shape;366;p57"/>
          <p:cNvGraphicFramePr/>
          <p:nvPr/>
        </p:nvGraphicFramePr>
        <p:xfrm>
          <a:off x="225850" y="1376325"/>
          <a:ext cx="3000000" cy="3000000"/>
        </p:xfrm>
        <a:graphic>
          <a:graphicData uri="http://schemas.openxmlformats.org/drawingml/2006/table">
            <a:tbl>
              <a:tblPr>
                <a:noFill/>
                <a:tableStyleId>{41B8CB50-37E8-4FF0-90C8-70755F0B0C13}</a:tableStyleId>
              </a:tblPr>
              <a:tblGrid>
                <a:gridCol w="1847900"/>
                <a:gridCol w="2732900"/>
                <a:gridCol w="1423400"/>
                <a:gridCol w="1423400"/>
                <a:gridCol w="1423400"/>
              </a:tblGrid>
              <a:tr h="1208500">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ՄԱՍՆԱԳԻՏՈՒԹՅՈՒՆ</a:t>
                      </a:r>
                      <a:endParaRPr sz="1200">
                        <a:latin typeface="Urbanist"/>
                        <a:ea typeface="Urbanist"/>
                        <a:cs typeface="Urbanist"/>
                        <a:sym typeface="Urbanist"/>
                      </a:endParaRPr>
                    </a:p>
                  </a:txBody>
                  <a:tcPr marT="63500" marB="63500" marR="63500" marL="63500">
                    <a:lnB cap="flat" cmpd="sng" w="12700">
                      <a:solidFill>
                        <a:srgbClr val="000000"/>
                      </a:solidFill>
                      <a:prstDash val="solid"/>
                      <a:round/>
                      <a:headEnd len="sm" w="sm" type="none"/>
                      <a:tailEnd len="sm" w="sm" type="none"/>
                    </a:lnB>
                    <a:solidFill>
                      <a:srgbClr val="FDC672"/>
                    </a:solidFill>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ԱՌԱՋԱԴՐԱՆՔ</a:t>
                      </a:r>
                      <a:endParaRPr sz="1200">
                        <a:latin typeface="Urbanist"/>
                        <a:ea typeface="Urbanist"/>
                        <a:cs typeface="Urbanist"/>
                        <a:sym typeface="Urbanist"/>
                      </a:endParaRPr>
                    </a:p>
                  </a:txBody>
                  <a:tcPr marT="63500" marB="63500" marR="63500" marL="63500">
                    <a:lnB cap="flat" cmpd="sng" w="12700">
                      <a:solidFill>
                        <a:srgbClr val="000000"/>
                      </a:solidFill>
                      <a:prstDash val="solid"/>
                      <a:round/>
                      <a:headEnd len="sm" w="sm" type="none"/>
                      <a:tailEnd len="sm" w="sm" type="none"/>
                    </a:lnB>
                    <a:solidFill>
                      <a:srgbClr val="FDC672"/>
                    </a:solidFill>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ՆԵՐԱՌՈՒՄ Է ԱՐԴՅՈՔ ՀԱՃԱԽԱԿԻ ԿՐԿՆՎՈՂ ԱՌԱՋԱԴՐԱՆՔՆԵՐ</a:t>
                      </a:r>
                      <a:endParaRPr sz="1200">
                        <a:latin typeface="Urbanist"/>
                        <a:ea typeface="Urbanist"/>
                        <a:cs typeface="Urbanist"/>
                        <a:sym typeface="Urbanist"/>
                      </a:endParaRPr>
                    </a:p>
                  </a:txBody>
                  <a:tcPr marT="63500" marB="63500" marR="63500" marL="63500">
                    <a:lnB cap="flat" cmpd="sng" w="12700">
                      <a:solidFill>
                        <a:srgbClr val="000000"/>
                      </a:solidFill>
                      <a:prstDash val="solid"/>
                      <a:round/>
                      <a:headEnd len="sm" w="sm" type="none"/>
                      <a:tailEnd len="sm" w="sm" type="none"/>
                    </a:lnB>
                    <a:solidFill>
                      <a:srgbClr val="FDC672"/>
                    </a:solidFill>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ԱՇԽԱՏՈՒՄ Է ԱՐԴՅՈՔ ՄԵԾ ԾԱՎԱԼԻ ՏՎՅԱԼՆԵՐԻ ՀԵՏ</a:t>
                      </a:r>
                      <a:endParaRPr sz="1200">
                        <a:latin typeface="Urbanist"/>
                        <a:ea typeface="Urbanist"/>
                        <a:cs typeface="Urbanist"/>
                        <a:sym typeface="Urbanist"/>
                      </a:endParaRPr>
                    </a:p>
                  </a:txBody>
                  <a:tcPr marT="63500" marB="63500" marR="63500" marL="63500">
                    <a:lnB cap="flat" cmpd="sng" w="12700">
                      <a:solidFill>
                        <a:srgbClr val="000000"/>
                      </a:solidFill>
                      <a:prstDash val="solid"/>
                      <a:round/>
                      <a:headEnd len="sm" w="sm" type="none"/>
                      <a:tailEnd len="sm" w="sm" type="none"/>
                    </a:lnB>
                    <a:solidFill>
                      <a:srgbClr val="FDC672"/>
                    </a:solidFill>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ՊԱՐԲԵՐԱԲԱՐ ԱՌՆՉՎՈՒՄ Է ՆՈՐ ԻՐԱՎԻՃԱԿՆԵՐԻ ՀԵՏ</a:t>
                      </a:r>
                      <a:endParaRPr sz="1200">
                        <a:latin typeface="Urbanist"/>
                        <a:ea typeface="Urbanist"/>
                        <a:cs typeface="Urbanist"/>
                        <a:sym typeface="Urbanist"/>
                      </a:endParaRPr>
                    </a:p>
                  </a:txBody>
                  <a:tcPr marT="63500" marB="63500" marR="63500" marL="63500">
                    <a:lnB cap="flat" cmpd="sng" w="12700">
                      <a:solidFill>
                        <a:srgbClr val="000000"/>
                      </a:solidFill>
                      <a:prstDash val="solid"/>
                      <a:round/>
                      <a:headEnd len="sm" w="sm" type="none"/>
                      <a:tailEnd len="sm" w="sm" type="none"/>
                    </a:lnB>
                    <a:solidFill>
                      <a:srgbClr val="FDC672"/>
                    </a:solidFill>
                  </a:tcPr>
                </a:tc>
              </a:tr>
              <a:tr h="705550">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Գրաֆիկ դիզայներ</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Տեսողական կոնտենտի ստեղծում՝ հիմնված հաճախորդի ցանկությունների վրա</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ոչ</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երբեմն</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այո</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05550">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Տարրական դասարանի ուսուցիչ</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Ուսումնական նյութի մատուցում, վարքագծի կառավարում</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այո</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երբեմն</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այո</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05550">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Հաշվապահ</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Ֆինանսների կառավարում, հարկերի զեկուցում</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այո</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այո</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23925" rtl="0" algn="l">
                        <a:lnSpc>
                          <a:spcPct val="115000"/>
                        </a:lnSpc>
                        <a:spcBef>
                          <a:spcPts val="0"/>
                        </a:spcBef>
                        <a:spcAft>
                          <a:spcPts val="0"/>
                        </a:spcAft>
                        <a:buNone/>
                      </a:pPr>
                      <a:r>
                        <a:rPr lang="ru" sz="1200">
                          <a:latin typeface="Urbanist"/>
                          <a:ea typeface="Urbanist"/>
                          <a:cs typeface="Urbanist"/>
                          <a:sym typeface="Urbanist"/>
                        </a:rPr>
                        <a:t>երբեմն</a:t>
                      </a:r>
                      <a:endParaRPr sz="12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descr="Image" id="371" name="Google Shape;371;p5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72" name="Google Shape;372;p5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Պատասխաններ</a:t>
            </a:r>
            <a:endParaRPr b="0" i="0" sz="500" u="none" cap="none" strike="noStrike">
              <a:solidFill>
                <a:srgbClr val="000000"/>
              </a:solidFill>
              <a:latin typeface="Arial"/>
              <a:ea typeface="Arial"/>
              <a:cs typeface="Arial"/>
              <a:sym typeface="Arial"/>
            </a:endParaRPr>
          </a:p>
        </p:txBody>
      </p:sp>
      <p:sp>
        <p:nvSpPr>
          <p:cNvPr id="373" name="Google Shape;373;p58"/>
          <p:cNvSpPr txBox="1"/>
          <p:nvPr/>
        </p:nvSpPr>
        <p:spPr>
          <a:xfrm>
            <a:off x="642925" y="1831425"/>
            <a:ext cx="8162400" cy="30948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None/>
            </a:pPr>
            <a:r>
              <a:rPr lang="ru" sz="1600">
                <a:solidFill>
                  <a:schemeClr val="dk2"/>
                </a:solidFill>
                <a:latin typeface="Urbanist SemiBold"/>
                <a:ea typeface="Urbanist SemiBold"/>
                <a:cs typeface="Urbanist SemiBold"/>
                <a:sym typeface="Urbanist SemiBold"/>
              </a:rPr>
              <a:t>Հնարավոր է մասնագիտությունների՝ պահանջարկից դուրս գալու հետևյալ հաջորդականությունը․</a:t>
            </a:r>
            <a:endParaRPr b="1" sz="1600">
              <a:solidFill>
                <a:schemeClr val="dk2"/>
              </a:solidFill>
              <a:latin typeface="Urbanist"/>
              <a:ea typeface="Urbanist"/>
              <a:cs typeface="Urbanist"/>
              <a:sym typeface="Urbanist"/>
            </a:endParaRPr>
          </a:p>
          <a:p>
            <a:pPr indent="-381000" lvl="0" marL="457200" marR="0" rtl="0" algn="just">
              <a:lnSpc>
                <a:spcPct val="115000"/>
              </a:lnSpc>
              <a:spcBef>
                <a:spcPts val="0"/>
              </a:spcBef>
              <a:spcAft>
                <a:spcPts val="0"/>
              </a:spcAft>
              <a:buClr>
                <a:srgbClr val="FDC672"/>
              </a:buClr>
              <a:buSzPts val="2400"/>
              <a:buFont typeface="Urbanist"/>
              <a:buChar char="●"/>
            </a:pPr>
            <a:r>
              <a:rPr lang="ru" sz="1600">
                <a:solidFill>
                  <a:schemeClr val="dk1"/>
                </a:solidFill>
                <a:latin typeface="Urbanist"/>
                <a:ea typeface="Urbanist"/>
                <a:cs typeface="Urbanist"/>
                <a:sym typeface="Urbanist"/>
              </a:rPr>
              <a:t>Համակարգում տվյալներ մուտքագրող, </a:t>
            </a:r>
            <a:endParaRPr sz="1600">
              <a:solidFill>
                <a:schemeClr val="dk1"/>
              </a:solidFill>
              <a:latin typeface="Urbanist"/>
              <a:ea typeface="Urbanist"/>
              <a:cs typeface="Urbanist"/>
              <a:sym typeface="Urbanist"/>
            </a:endParaRPr>
          </a:p>
          <a:p>
            <a:pPr indent="-381000" lvl="0" marL="457200" marR="0" rtl="0" algn="just">
              <a:lnSpc>
                <a:spcPct val="115000"/>
              </a:lnSpc>
              <a:spcBef>
                <a:spcPts val="0"/>
              </a:spcBef>
              <a:spcAft>
                <a:spcPts val="0"/>
              </a:spcAft>
              <a:buClr>
                <a:srgbClr val="FDC672"/>
              </a:buClr>
              <a:buSzPts val="2400"/>
              <a:buFont typeface="Urbanist"/>
              <a:buChar char="●"/>
            </a:pPr>
            <a:r>
              <a:rPr lang="ru" sz="1600">
                <a:solidFill>
                  <a:schemeClr val="dk1"/>
                </a:solidFill>
                <a:latin typeface="Urbanist"/>
                <a:ea typeface="Urbanist"/>
                <a:cs typeface="Urbanist"/>
                <a:sym typeface="Urbanist"/>
              </a:rPr>
              <a:t>Հաշվապահ, </a:t>
            </a:r>
            <a:endParaRPr sz="1600">
              <a:solidFill>
                <a:schemeClr val="dk1"/>
              </a:solidFill>
              <a:latin typeface="Urbanist"/>
              <a:ea typeface="Urbanist"/>
              <a:cs typeface="Urbanist"/>
              <a:sym typeface="Urbanist"/>
            </a:endParaRPr>
          </a:p>
          <a:p>
            <a:pPr indent="-381000" lvl="0" marL="457200" marR="0" rtl="0" algn="just">
              <a:lnSpc>
                <a:spcPct val="115000"/>
              </a:lnSpc>
              <a:spcBef>
                <a:spcPts val="0"/>
              </a:spcBef>
              <a:spcAft>
                <a:spcPts val="0"/>
              </a:spcAft>
              <a:buClr>
                <a:srgbClr val="FDC672"/>
              </a:buClr>
              <a:buSzPts val="2400"/>
              <a:buFont typeface="Urbanist"/>
              <a:buChar char="●"/>
            </a:pPr>
            <a:r>
              <a:rPr lang="ru" sz="1600">
                <a:solidFill>
                  <a:schemeClr val="dk1"/>
                </a:solidFill>
                <a:latin typeface="Urbanist"/>
                <a:ea typeface="Urbanist"/>
                <a:cs typeface="Urbanist"/>
                <a:sym typeface="Urbanist"/>
              </a:rPr>
              <a:t>Գրաֆիկ դիզայներ, </a:t>
            </a:r>
            <a:endParaRPr sz="1600">
              <a:solidFill>
                <a:schemeClr val="dk1"/>
              </a:solidFill>
              <a:latin typeface="Urbanist"/>
              <a:ea typeface="Urbanist"/>
              <a:cs typeface="Urbanist"/>
              <a:sym typeface="Urbanist"/>
            </a:endParaRPr>
          </a:p>
          <a:p>
            <a:pPr indent="-381000" lvl="0" marL="457200" marR="0" rtl="0" algn="just">
              <a:lnSpc>
                <a:spcPct val="115000"/>
              </a:lnSpc>
              <a:spcBef>
                <a:spcPts val="0"/>
              </a:spcBef>
              <a:spcAft>
                <a:spcPts val="0"/>
              </a:spcAft>
              <a:buClr>
                <a:srgbClr val="FDC672"/>
              </a:buClr>
              <a:buSzPts val="2400"/>
              <a:buFont typeface="Urbanist"/>
              <a:buChar char="●"/>
            </a:pPr>
            <a:r>
              <a:rPr lang="ru" sz="1600">
                <a:solidFill>
                  <a:schemeClr val="dk1"/>
                </a:solidFill>
                <a:latin typeface="Urbanist"/>
                <a:ea typeface="Urbanist"/>
                <a:cs typeface="Urbanist"/>
                <a:sym typeface="Urbanist"/>
              </a:rPr>
              <a:t>Տարրական դասարանի ուսուցիչ, </a:t>
            </a:r>
            <a:endParaRPr sz="1600">
              <a:solidFill>
                <a:schemeClr val="dk1"/>
              </a:solidFill>
              <a:latin typeface="Urbanist"/>
              <a:ea typeface="Urbanist"/>
              <a:cs typeface="Urbanist"/>
              <a:sym typeface="Urbanist"/>
            </a:endParaRPr>
          </a:p>
          <a:p>
            <a:pPr indent="-381000" lvl="0" marL="457200" marR="0" rtl="0" algn="just">
              <a:lnSpc>
                <a:spcPct val="115000"/>
              </a:lnSpc>
              <a:spcBef>
                <a:spcPts val="0"/>
              </a:spcBef>
              <a:spcAft>
                <a:spcPts val="0"/>
              </a:spcAft>
              <a:buClr>
                <a:srgbClr val="FDC672"/>
              </a:buClr>
              <a:buSzPts val="2400"/>
              <a:buFont typeface="Urbanist"/>
              <a:buChar char="●"/>
            </a:pPr>
            <a:r>
              <a:rPr lang="ru" sz="1600">
                <a:solidFill>
                  <a:schemeClr val="dk1"/>
                </a:solidFill>
                <a:latin typeface="Urbanist"/>
                <a:ea typeface="Urbanist"/>
                <a:cs typeface="Urbanist"/>
                <a:sym typeface="Urbanist"/>
              </a:rPr>
              <a:t>Արհեստավոր, </a:t>
            </a:r>
            <a:endParaRPr sz="1600">
              <a:solidFill>
                <a:schemeClr val="dk1"/>
              </a:solidFill>
              <a:latin typeface="Urbanist"/>
              <a:ea typeface="Urbanist"/>
              <a:cs typeface="Urbanist"/>
              <a:sym typeface="Urbanist"/>
            </a:endParaRPr>
          </a:p>
          <a:p>
            <a:pPr indent="-381000" lvl="0" marL="457200" marR="0" rtl="0" algn="just">
              <a:lnSpc>
                <a:spcPct val="115000"/>
              </a:lnSpc>
              <a:spcBef>
                <a:spcPts val="0"/>
              </a:spcBef>
              <a:spcAft>
                <a:spcPts val="1200"/>
              </a:spcAft>
              <a:buClr>
                <a:srgbClr val="FDC672"/>
              </a:buClr>
              <a:buSzPts val="2400"/>
              <a:buFont typeface="Urbanist"/>
              <a:buChar char="●"/>
            </a:pPr>
            <a:r>
              <a:rPr lang="ru" sz="1600">
                <a:solidFill>
                  <a:schemeClr val="dk1"/>
                </a:solidFill>
                <a:latin typeface="Urbanist"/>
                <a:ea typeface="Urbanist"/>
                <a:cs typeface="Urbanist"/>
                <a:sym typeface="Urbanist"/>
              </a:rPr>
              <a:t>Դատավոր։</a:t>
            </a:r>
            <a:endParaRPr sz="16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Image" id="378" name="Google Shape;378;p5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79" name="Google Shape;379;p5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հետևանքներ</a:t>
            </a:r>
            <a:endParaRPr b="0" i="0" sz="500" u="none" cap="none" strike="noStrike">
              <a:solidFill>
                <a:srgbClr val="000000"/>
              </a:solidFill>
              <a:latin typeface="Arial"/>
              <a:ea typeface="Arial"/>
              <a:cs typeface="Arial"/>
              <a:sym typeface="Arial"/>
            </a:endParaRPr>
          </a:p>
        </p:txBody>
      </p:sp>
      <p:sp>
        <p:nvSpPr>
          <p:cNvPr id="380" name="Google Shape;380;p59"/>
          <p:cNvSpPr txBox="1"/>
          <p:nvPr/>
        </p:nvSpPr>
        <p:spPr>
          <a:xfrm>
            <a:off x="642925" y="1831425"/>
            <a:ext cx="8162400" cy="1825200"/>
          </a:xfrm>
          <a:prstGeom prst="rect">
            <a:avLst/>
          </a:prstGeom>
          <a:noFill/>
          <a:ln>
            <a:noFill/>
          </a:ln>
        </p:spPr>
        <p:txBody>
          <a:bodyPr anchorCtr="0" anchor="t" bIns="17150" lIns="17150" spcFirstLastPara="1" rIns="17150" wrap="square" tIns="17150">
            <a:spAutoFit/>
          </a:bodyPr>
          <a:lstStyle/>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Արհեստական բանականության (ԱԲ) զարգացումը կարող է տանել այնպիսի մասնագիտությունների նվազման, որոնք վերաբերում են կրկնվող, մեխանիկորեն վերահսկվող աշխատանքներին: </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ԱԲ-ի կիրառությունները, հատկապես ավտոմատացման, մեծ արագությամբ փոխում են աշխատաշուկան, և շատ ոլորտներում ԱԲ-ն կարող է կատարել աշխատանքներ, որոնք նախկինում իրականացվում էին մարդու կողմից:</a:t>
            </a:r>
            <a:endParaRPr sz="1600">
              <a:latin typeface="Urbanist"/>
              <a:ea typeface="Urbanist"/>
              <a:cs typeface="Urbanist"/>
              <a:sym typeface="Urbanis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descr="Image" id="385" name="Google Shape;385;p6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86" name="Google Shape;386;p6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հետևանքներ</a:t>
            </a:r>
            <a:endParaRPr b="0" i="0" sz="500" u="none" cap="none" strike="noStrike">
              <a:solidFill>
                <a:srgbClr val="000000"/>
              </a:solidFill>
              <a:latin typeface="Arial"/>
              <a:ea typeface="Arial"/>
              <a:cs typeface="Arial"/>
              <a:sym typeface="Arial"/>
            </a:endParaRPr>
          </a:p>
        </p:txBody>
      </p:sp>
      <p:sp>
        <p:nvSpPr>
          <p:cNvPr id="387" name="Google Shape;387;p60"/>
          <p:cNvSpPr txBox="1"/>
          <p:nvPr/>
        </p:nvSpPr>
        <p:spPr>
          <a:xfrm>
            <a:off x="642925" y="1831425"/>
            <a:ext cx="8162400" cy="975600"/>
          </a:xfrm>
          <a:prstGeom prst="rect">
            <a:avLst/>
          </a:prstGeom>
          <a:noFill/>
          <a:ln>
            <a:noFill/>
          </a:ln>
        </p:spPr>
        <p:txBody>
          <a:bodyPr anchorCtr="0" anchor="t" bIns="17150" lIns="17150" spcFirstLastPara="1" rIns="17150" wrap="square" tIns="17150">
            <a:spAutoFit/>
          </a:bodyPr>
          <a:lstStyle/>
          <a:p>
            <a:pPr indent="-330200" lvl="0" marL="457200" rtl="0" algn="l">
              <a:lnSpc>
                <a:spcPct val="115000"/>
              </a:lnSpc>
              <a:spcBef>
                <a:spcPts val="0"/>
              </a:spcBef>
              <a:spcAft>
                <a:spcPts val="0"/>
              </a:spcAft>
              <a:buClr>
                <a:schemeClr val="dk1"/>
              </a:buClr>
              <a:buSzPts val="1600"/>
              <a:buFont typeface="Urbanist"/>
              <a:buAutoNum type="arabicPeriod"/>
            </a:pPr>
            <a:r>
              <a:rPr lang="ru" sz="1600">
                <a:solidFill>
                  <a:schemeClr val="dk1"/>
                </a:solidFill>
                <a:latin typeface="Urbanist"/>
                <a:ea typeface="Urbanist"/>
                <a:cs typeface="Urbanist"/>
                <a:sym typeface="Urbanist"/>
              </a:rPr>
              <a:t>Արհեստական բանականության զարգացմանը զուգահեռ ո՞ր մասնագիտություններն ամենայն հավանականությամբ դուրս կգան պահանջարկից և ինչու՞։</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1000"/>
              </a:spcAft>
              <a:buClr>
                <a:schemeClr val="dk1"/>
              </a:buClr>
              <a:buSzPts val="1600"/>
              <a:buFont typeface="Urbanist"/>
              <a:buAutoNum type="arabicPeriod"/>
            </a:pPr>
            <a:r>
              <a:rPr lang="ru" sz="1600">
                <a:solidFill>
                  <a:schemeClr val="dk1"/>
                </a:solidFill>
                <a:latin typeface="Urbanist"/>
                <a:ea typeface="Urbanist"/>
                <a:cs typeface="Urbanist"/>
                <a:sym typeface="Urbanist"/>
              </a:rPr>
              <a:t>Ի՞նչ նոր մասնագիտություններ են հայտնվել ԱԲ զարգացմանը զուգահեռ։</a:t>
            </a:r>
            <a:endParaRPr sz="1600">
              <a:latin typeface="Urbanist"/>
              <a:ea typeface="Urbanist"/>
              <a:cs typeface="Urbanist"/>
              <a:sym typeface="Urbanis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descr="Image" id="392" name="Google Shape;392;p6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393" name="Google Shape;393;p6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1</a:t>
            </a:r>
            <a:endParaRPr b="0" i="0" sz="500" u="none" cap="none" strike="noStrike">
              <a:solidFill>
                <a:srgbClr val="000000"/>
              </a:solidFill>
              <a:latin typeface="Arial"/>
              <a:ea typeface="Arial"/>
              <a:cs typeface="Arial"/>
              <a:sym typeface="Arial"/>
            </a:endParaRPr>
          </a:p>
        </p:txBody>
      </p:sp>
      <p:sp>
        <p:nvSpPr>
          <p:cNvPr id="394" name="Google Shape;394;p61"/>
          <p:cNvSpPr txBox="1"/>
          <p:nvPr/>
        </p:nvSpPr>
        <p:spPr>
          <a:xfrm>
            <a:off x="152400" y="1676400"/>
            <a:ext cx="5052300" cy="310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ru" sz="1600">
                <a:solidFill>
                  <a:schemeClr val="dk2"/>
                </a:solidFill>
                <a:latin typeface="Urbanist SemiBold"/>
                <a:ea typeface="Urbanist SemiBold"/>
                <a:cs typeface="Urbanist SemiBold"/>
                <a:sym typeface="Urbanist SemiBold"/>
              </a:rPr>
              <a:t>Արհեստական բանականության զարգացմանը զուգահեռ ո՞ր մասնագիտություններն ամենայն հավանականությամբ դուրս կգան պահանջարկից և ինչու՞։</a:t>
            </a:r>
            <a:endParaRPr b="1" sz="1800">
              <a:solidFill>
                <a:schemeClr val="dk2"/>
              </a:solidFill>
              <a:latin typeface="Urbanist"/>
              <a:ea typeface="Urbanist"/>
              <a:cs typeface="Urbanist"/>
              <a:sym typeface="Urbanist"/>
            </a:endParaRPr>
          </a:p>
          <a:p>
            <a:pPr indent="0" lvl="0" marL="0" rtl="0" algn="l">
              <a:lnSpc>
                <a:spcPct val="115000"/>
              </a:lnSpc>
              <a:spcBef>
                <a:spcPts val="1000"/>
              </a:spcBef>
              <a:spcAft>
                <a:spcPts val="0"/>
              </a:spcAft>
              <a:buClr>
                <a:schemeClr val="dk1"/>
              </a:buClr>
              <a:buSzPts val="1100"/>
              <a:buFont typeface="Arial"/>
              <a:buNone/>
            </a:pPr>
            <a:r>
              <a:rPr b="1" i="1" lang="ru" sz="1600">
                <a:latin typeface="Urbanist"/>
                <a:ea typeface="Urbanist"/>
                <a:cs typeface="Urbanist"/>
                <a:sym typeface="Urbanist"/>
              </a:rPr>
              <a:t>Թարգմանիչներ</a:t>
            </a:r>
            <a:r>
              <a:rPr lang="ru" sz="1600">
                <a:latin typeface="Urbanist"/>
                <a:ea typeface="Urbanist"/>
                <a:cs typeface="Urbanist"/>
                <a:sym typeface="Urbanist"/>
              </a:rPr>
              <a:t>. Մեքենայական թարգմանությունը, օրինակ՝ Google Translate կամ այլ մոտեցումներ, բավականին լավ մակարդակի է հասել, ինչը կարող է նվազեցնել պրոֆեսիոնալ թարգմանիչների պահանջարկը, հատկապես տեքստերի ավելի պարզ կամ հասարակ բովանդակության դեպքում:</a:t>
            </a:r>
            <a:endParaRPr sz="1800">
              <a:solidFill>
                <a:srgbClr val="FDC672"/>
              </a:solidFill>
              <a:latin typeface="Urbanist Medium"/>
              <a:ea typeface="Urbanist Medium"/>
              <a:cs typeface="Urbanist Medium"/>
              <a:sym typeface="Urbanist Medium"/>
            </a:endParaRPr>
          </a:p>
        </p:txBody>
      </p:sp>
      <p:pic>
        <p:nvPicPr>
          <p:cNvPr id="395" name="Google Shape;395;p61" title="ChatGPT Image 15 авг. 2025 г., 23_20_38.png"/>
          <p:cNvPicPr preferRelativeResize="0"/>
          <p:nvPr/>
        </p:nvPicPr>
        <p:blipFill>
          <a:blip r:embed="rId4">
            <a:alphaModFix/>
          </a:blip>
          <a:stretch>
            <a:fillRect/>
          </a:stretch>
        </p:blipFill>
        <p:spPr>
          <a:xfrm>
            <a:off x="5064975" y="1829275"/>
            <a:ext cx="3926627" cy="261775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descr="Image" id="400" name="Google Shape;400;p6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01" name="Google Shape;401;p6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1</a:t>
            </a:r>
            <a:endParaRPr b="0" i="0" sz="500" u="none" cap="none" strike="noStrike">
              <a:solidFill>
                <a:srgbClr val="000000"/>
              </a:solidFill>
              <a:latin typeface="Arial"/>
              <a:ea typeface="Arial"/>
              <a:cs typeface="Arial"/>
              <a:sym typeface="Arial"/>
            </a:endParaRPr>
          </a:p>
        </p:txBody>
      </p:sp>
      <p:sp>
        <p:nvSpPr>
          <p:cNvPr id="402" name="Google Shape;402;p62"/>
          <p:cNvSpPr txBox="1"/>
          <p:nvPr/>
        </p:nvSpPr>
        <p:spPr>
          <a:xfrm>
            <a:off x="152400" y="1676400"/>
            <a:ext cx="5052300" cy="282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ru" sz="1600">
                <a:solidFill>
                  <a:schemeClr val="dk2"/>
                </a:solidFill>
                <a:latin typeface="Urbanist SemiBold"/>
                <a:ea typeface="Urbanist SemiBold"/>
                <a:cs typeface="Urbanist SemiBold"/>
                <a:sym typeface="Urbanist SemiBold"/>
              </a:rPr>
              <a:t>Արհեստական բանականության զարգացմանը զուգահեռ ո՞ր մասնագիտություններն ամենայն հավանականությամբ դուրս կգան պահանջարկից և ինչու՞։</a:t>
            </a:r>
            <a:endParaRPr b="1" sz="1800">
              <a:solidFill>
                <a:schemeClr val="dk2"/>
              </a:solidFill>
              <a:latin typeface="Urbanist"/>
              <a:ea typeface="Urbanist"/>
              <a:cs typeface="Urbanist"/>
              <a:sym typeface="Urbanist"/>
            </a:endParaRPr>
          </a:p>
          <a:p>
            <a:pPr indent="0" lvl="0" marL="0" rtl="0" algn="l">
              <a:lnSpc>
                <a:spcPct val="115000"/>
              </a:lnSpc>
              <a:spcBef>
                <a:spcPts val="1000"/>
              </a:spcBef>
              <a:spcAft>
                <a:spcPts val="0"/>
              </a:spcAft>
              <a:buNone/>
            </a:pPr>
            <a:r>
              <a:rPr b="1" i="1" lang="ru" sz="1600">
                <a:latin typeface="Urbanist"/>
                <a:ea typeface="Urbanist"/>
                <a:cs typeface="Urbanist"/>
                <a:sym typeface="Urbanist"/>
              </a:rPr>
              <a:t>Ճանապարհորդական գործակալներ</a:t>
            </a:r>
            <a:r>
              <a:rPr lang="ru" sz="1600">
                <a:latin typeface="Urbanist"/>
                <a:ea typeface="Urbanist"/>
                <a:cs typeface="Urbanist"/>
                <a:sym typeface="Urbanist"/>
              </a:rPr>
              <a:t>. </a:t>
            </a:r>
            <a:r>
              <a:rPr lang="ru" sz="1600">
                <a:solidFill>
                  <a:schemeClr val="dk1"/>
                </a:solidFill>
                <a:latin typeface="Urbanist"/>
                <a:ea typeface="Urbanist"/>
                <a:cs typeface="Urbanist"/>
                <a:sym typeface="Urbanist"/>
              </a:rPr>
              <a:t>Ինտերնետ հասանելիությունը հնարավորություն է տալիս օգտատերերին ինքնուրույն գտնել լավագույն առաջարկները, որի հետևանքով գործակալների պահանջարկը գնալով փոքրանում է:</a:t>
            </a:r>
            <a:endParaRPr sz="2000">
              <a:latin typeface="Urbanist"/>
              <a:ea typeface="Urbanist"/>
              <a:cs typeface="Urbanist"/>
              <a:sym typeface="Urbanist"/>
            </a:endParaRPr>
          </a:p>
        </p:txBody>
      </p:sp>
      <p:pic>
        <p:nvPicPr>
          <p:cNvPr id="403" name="Google Shape;403;p62" title="ChatGPT Image 15 авг. 2025 г., 23_28_28.png"/>
          <p:cNvPicPr preferRelativeResize="0"/>
          <p:nvPr/>
        </p:nvPicPr>
        <p:blipFill>
          <a:blip r:embed="rId4">
            <a:alphaModFix/>
          </a:blip>
          <a:stretch>
            <a:fillRect/>
          </a:stretch>
        </p:blipFill>
        <p:spPr>
          <a:xfrm>
            <a:off x="5096275" y="1676400"/>
            <a:ext cx="3634502" cy="242300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descr="Image" id="408" name="Google Shape;408;p6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09" name="Google Shape;409;p6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1</a:t>
            </a:r>
            <a:endParaRPr b="0" i="0" sz="500" u="none" cap="none" strike="noStrike">
              <a:solidFill>
                <a:srgbClr val="000000"/>
              </a:solidFill>
              <a:latin typeface="Arial"/>
              <a:ea typeface="Arial"/>
              <a:cs typeface="Arial"/>
              <a:sym typeface="Arial"/>
            </a:endParaRPr>
          </a:p>
        </p:txBody>
      </p:sp>
      <p:sp>
        <p:nvSpPr>
          <p:cNvPr id="410" name="Google Shape;410;p63"/>
          <p:cNvSpPr txBox="1"/>
          <p:nvPr/>
        </p:nvSpPr>
        <p:spPr>
          <a:xfrm>
            <a:off x="152400" y="1676400"/>
            <a:ext cx="5052300" cy="310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ru" sz="1600">
                <a:solidFill>
                  <a:schemeClr val="dk2"/>
                </a:solidFill>
                <a:latin typeface="Urbanist SemiBold"/>
                <a:ea typeface="Urbanist SemiBold"/>
                <a:cs typeface="Urbanist SemiBold"/>
                <a:sym typeface="Urbanist SemiBold"/>
              </a:rPr>
              <a:t>Արհեստական բանականության զարգացմանը զուգահեռ ո՞ր մասնագիտություններն ամենայն հավանականությամբ դուրս կգան պահանջարկից և ինչու՞։</a:t>
            </a:r>
            <a:endParaRPr b="1" sz="1800">
              <a:solidFill>
                <a:schemeClr val="dk2"/>
              </a:solidFill>
              <a:latin typeface="Urbanist"/>
              <a:ea typeface="Urbanist"/>
              <a:cs typeface="Urbanist"/>
              <a:sym typeface="Urbanist"/>
            </a:endParaRPr>
          </a:p>
          <a:p>
            <a:pPr indent="0" lvl="0" marL="0" rtl="0" algn="l">
              <a:lnSpc>
                <a:spcPct val="115000"/>
              </a:lnSpc>
              <a:spcBef>
                <a:spcPts val="1000"/>
              </a:spcBef>
              <a:spcAft>
                <a:spcPts val="0"/>
              </a:spcAft>
              <a:buNone/>
            </a:pPr>
            <a:r>
              <a:rPr b="1" i="1" lang="ru" sz="1600">
                <a:latin typeface="Urbanist"/>
                <a:ea typeface="Urbanist"/>
                <a:cs typeface="Urbanist"/>
                <a:sym typeface="Urbanist"/>
              </a:rPr>
              <a:t>Հյուրանոցի ընդունարանի աշխատակիցներ</a:t>
            </a:r>
            <a:r>
              <a:rPr lang="ru" sz="1600">
                <a:latin typeface="Urbanist"/>
                <a:ea typeface="Urbanist"/>
                <a:cs typeface="Urbanist"/>
                <a:sym typeface="Urbanist"/>
              </a:rPr>
              <a:t>. </a:t>
            </a:r>
            <a:r>
              <a:rPr lang="ru" sz="1600">
                <a:solidFill>
                  <a:schemeClr val="dk1"/>
                </a:solidFill>
                <a:latin typeface="Urbanist"/>
                <a:ea typeface="Urbanist"/>
                <a:cs typeface="Urbanist"/>
                <a:sym typeface="Urbanist"/>
              </a:rPr>
              <a:t>Ներկայումս հյուրանոցներն անցնում են ինքնակարգավորվող ընդունարանի համակարգերի, որոնք կարող են իրականացնել գրանցումը, հյուրերի տեղեկատուները և այլ գործառույթները՝ առանց անմիջական անձնակազմի մասնակցության:</a:t>
            </a:r>
            <a:endParaRPr sz="2000">
              <a:solidFill>
                <a:schemeClr val="dk1"/>
              </a:solidFill>
              <a:latin typeface="Urbanist"/>
              <a:ea typeface="Urbanist"/>
              <a:cs typeface="Urbanist"/>
              <a:sym typeface="Urbanist"/>
            </a:endParaRPr>
          </a:p>
        </p:txBody>
      </p:sp>
      <p:pic>
        <p:nvPicPr>
          <p:cNvPr descr="Discover the future of reception services and how our robot is transforming the office landscape. Join us as we introduce this innovative technology and its seamless integration into your workspace. #OfficeAutomation #RobotReceptionist&#10;&#10;Contact us today for consultation or demo : &#10;Email - cs@365robot.sg" id="411" name="Google Shape;411;p63" title="Office Efficiency Redefined: Meet the Robot Receptionist!">
            <a:hlinkClick r:id="rId4"/>
          </p:cNvPr>
          <p:cNvPicPr preferRelativeResize="0"/>
          <p:nvPr/>
        </p:nvPicPr>
        <p:blipFill>
          <a:blip r:embed="rId5">
            <a:alphaModFix/>
          </a:blip>
          <a:stretch>
            <a:fillRect/>
          </a:stretch>
        </p:blipFill>
        <p:spPr>
          <a:xfrm>
            <a:off x="5044100" y="1881425"/>
            <a:ext cx="3995575" cy="22475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descr="Image" id="416" name="Google Shape;416;p6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17" name="Google Shape;417;p6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2</a:t>
            </a:r>
            <a:endParaRPr b="0" i="0" sz="500" u="none" cap="none" strike="noStrike">
              <a:solidFill>
                <a:srgbClr val="000000"/>
              </a:solidFill>
              <a:latin typeface="Arial"/>
              <a:ea typeface="Arial"/>
              <a:cs typeface="Arial"/>
              <a:sym typeface="Arial"/>
            </a:endParaRPr>
          </a:p>
        </p:txBody>
      </p:sp>
      <p:sp>
        <p:nvSpPr>
          <p:cNvPr id="418" name="Google Shape;418;p64"/>
          <p:cNvSpPr txBox="1"/>
          <p:nvPr/>
        </p:nvSpPr>
        <p:spPr>
          <a:xfrm>
            <a:off x="152400" y="1676400"/>
            <a:ext cx="8486400" cy="251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ru" sz="1600">
                <a:solidFill>
                  <a:schemeClr val="dk2"/>
                </a:solidFill>
                <a:latin typeface="Urbanist SemiBold"/>
                <a:ea typeface="Urbanist SemiBold"/>
                <a:cs typeface="Urbanist SemiBold"/>
                <a:sym typeface="Urbanist SemiBold"/>
              </a:rPr>
              <a:t>Ի՞նչ նոր մասնագիտություններ են հայտնվել ԱԲ զարգացմանը զուգահեռ։</a:t>
            </a:r>
            <a:endParaRPr b="1" sz="1800">
              <a:solidFill>
                <a:schemeClr val="dk2"/>
              </a:solidFill>
              <a:latin typeface="Urbanist"/>
              <a:ea typeface="Urbanist"/>
              <a:cs typeface="Urbanist"/>
              <a:sym typeface="Urbanist"/>
            </a:endParaRPr>
          </a:p>
          <a:p>
            <a:pPr indent="0" lvl="0" marL="0" rtl="0" algn="l">
              <a:lnSpc>
                <a:spcPct val="115000"/>
              </a:lnSpc>
              <a:spcBef>
                <a:spcPts val="1000"/>
              </a:spcBef>
              <a:spcAft>
                <a:spcPts val="0"/>
              </a:spcAft>
              <a:buNone/>
            </a:pPr>
            <a:r>
              <a:rPr b="1" i="1" lang="ru" sz="1600">
                <a:latin typeface="Urbanist"/>
                <a:ea typeface="Urbanist"/>
                <a:cs typeface="Urbanist"/>
                <a:sym typeface="Urbanist"/>
              </a:rPr>
              <a:t>ԱԲ-ով բովանդակություն ստեղծողներ</a:t>
            </a:r>
            <a:r>
              <a:rPr lang="ru" sz="1600">
                <a:latin typeface="Urbanist"/>
                <a:ea typeface="Urbanist"/>
                <a:cs typeface="Urbanist"/>
                <a:sym typeface="Urbanist"/>
              </a:rPr>
              <a:t> – մասնագետներ, ովքեր ստեղծում են գիրք, պատկեր, երաժշտություն կամ տեսանյութ՝ ԱԲ գործիքների միջոցով։</a:t>
            </a:r>
            <a:endParaRPr sz="1600">
              <a:latin typeface="Urbanist"/>
              <a:ea typeface="Urbanist"/>
              <a:cs typeface="Urbanist"/>
              <a:sym typeface="Urbanist"/>
            </a:endParaRPr>
          </a:p>
          <a:p>
            <a:pPr indent="0" lvl="0" marL="0" rtl="0" algn="l">
              <a:lnSpc>
                <a:spcPct val="115000"/>
              </a:lnSpc>
              <a:spcBef>
                <a:spcPts val="1000"/>
              </a:spcBef>
              <a:spcAft>
                <a:spcPts val="0"/>
              </a:spcAft>
              <a:buClr>
                <a:schemeClr val="dk1"/>
              </a:buClr>
              <a:buSzPts val="1100"/>
              <a:buFont typeface="Arial"/>
              <a:buNone/>
            </a:pPr>
            <a:r>
              <a:rPr b="1" i="1" lang="ru" sz="1600">
                <a:latin typeface="Urbanist"/>
                <a:ea typeface="Urbanist"/>
                <a:cs typeface="Urbanist"/>
                <a:sym typeface="Urbanist"/>
              </a:rPr>
              <a:t>Անվտանգության վերլուծաբաններ</a:t>
            </a:r>
            <a:r>
              <a:rPr lang="ru" sz="1600">
                <a:latin typeface="Urbanist"/>
                <a:ea typeface="Urbanist"/>
                <a:cs typeface="Urbanist"/>
                <a:sym typeface="Urbanist"/>
              </a:rPr>
              <a:t> – զբաղվում են ԱԲ համակարգերի տվյալների և ալգորիթմների պաշտպանությամբ՝ կիբեր սպառնալիքներից։</a:t>
            </a:r>
            <a:endParaRPr sz="1600">
              <a:latin typeface="Urbanist"/>
              <a:ea typeface="Urbanist"/>
              <a:cs typeface="Urbanist"/>
              <a:sym typeface="Urbanist"/>
            </a:endParaRPr>
          </a:p>
          <a:p>
            <a:pPr indent="0" lvl="0" marL="0" rtl="0" algn="l">
              <a:lnSpc>
                <a:spcPct val="115000"/>
              </a:lnSpc>
              <a:spcBef>
                <a:spcPts val="1000"/>
              </a:spcBef>
              <a:spcAft>
                <a:spcPts val="1000"/>
              </a:spcAft>
              <a:buClr>
                <a:schemeClr val="dk1"/>
              </a:buClr>
              <a:buSzPts val="1100"/>
              <a:buFont typeface="Arial"/>
              <a:buNone/>
            </a:pPr>
            <a:r>
              <a:rPr b="1" i="1" lang="ru" sz="1600">
                <a:latin typeface="Urbanist"/>
                <a:ea typeface="Urbanist"/>
                <a:cs typeface="Urbanist"/>
                <a:sym typeface="Urbanist"/>
              </a:rPr>
              <a:t>ԱԲ էթիկայի մասնագետներ</a:t>
            </a:r>
            <a:r>
              <a:rPr lang="ru" sz="1600">
                <a:latin typeface="Urbanist"/>
                <a:ea typeface="Urbanist"/>
                <a:cs typeface="Urbanist"/>
                <a:sym typeface="Urbanist"/>
              </a:rPr>
              <a:t> – ուսումնասիրում են ԱԲ-ի ազդեցությունը հասարակության վրա՝ ապահովելով արդարություն, թափանցիկություն և պատասխանատվություն։</a:t>
            </a:r>
            <a:endParaRPr sz="1600">
              <a:latin typeface="Urbanist"/>
              <a:ea typeface="Urbanist"/>
              <a:cs typeface="Urbanist"/>
              <a:sym typeface="Urbanis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pic>
        <p:nvPicPr>
          <p:cNvPr descr="Image" id="423" name="Google Shape;423;p65"/>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424" name="Google Shape;424;p65"/>
          <p:cNvSpPr txBox="1"/>
          <p:nvPr/>
        </p:nvSpPr>
        <p:spPr>
          <a:xfrm>
            <a:off x="337675" y="1923600"/>
            <a:ext cx="7657200" cy="15585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Clr>
                <a:schemeClr val="dk1"/>
              </a:buClr>
              <a:buSzPts val="1100"/>
              <a:buFont typeface="Arial"/>
              <a:buNone/>
            </a:pPr>
            <a:r>
              <a:rPr i="1" lang="ru" sz="3000">
                <a:solidFill>
                  <a:schemeClr val="dk2"/>
                </a:solidFill>
                <a:latin typeface="Urbanist ExtraBold"/>
                <a:ea typeface="Urbanist ExtraBold"/>
                <a:cs typeface="Urbanist ExtraBold"/>
                <a:sym typeface="Urbanist ExtraBold"/>
              </a:rPr>
              <a:t> Ի՞նչ ԱԲ գործիքներ կարող եք օգտագործել ձեր ընտրած մասնագիտությամբ մասնագիտանալու համար։ </a:t>
            </a:r>
            <a:endParaRPr i="1" sz="3000">
              <a:solidFill>
                <a:schemeClr val="dk2"/>
              </a:solidFill>
              <a:latin typeface="Urbanist ExtraBold"/>
              <a:ea typeface="Urbanist ExtraBold"/>
              <a:cs typeface="Urbanist ExtraBold"/>
              <a:sym typeface="Urbanist ExtraBo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428" name="Shape 428"/>
        <p:cNvGrpSpPr/>
        <p:nvPr/>
      </p:nvGrpSpPr>
      <p:grpSpPr>
        <a:xfrm>
          <a:off x="0" y="0"/>
          <a:ext cx="0" cy="0"/>
          <a:chOff x="0" y="0"/>
          <a:chExt cx="0" cy="0"/>
        </a:xfrm>
      </p:grpSpPr>
      <p:pic>
        <p:nvPicPr>
          <p:cNvPr descr="Image" id="429" name="Google Shape;429;p66"/>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430" name="Google Shape;430;p66"/>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431" name="Google Shape;431;p66"/>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descr="Image" id="436" name="Google Shape;436;p6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37" name="Google Shape;437;p67"/>
          <p:cNvSpPr txBox="1"/>
          <p:nvPr/>
        </p:nvSpPr>
        <p:spPr>
          <a:xfrm>
            <a:off x="476246" y="282675"/>
            <a:ext cx="8162400" cy="9273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Թեմա 3. Մասնագիտությունների համապատասխանեցում ըստ ԱԲ գործիքների</a:t>
            </a:r>
            <a:endParaRPr b="0" i="0" sz="400" u="none" cap="none" strike="noStrike">
              <a:solidFill>
                <a:srgbClr val="000000"/>
              </a:solidFill>
              <a:latin typeface="Arial"/>
              <a:ea typeface="Arial"/>
              <a:cs typeface="Arial"/>
              <a:sym typeface="Arial"/>
            </a:endParaRPr>
          </a:p>
        </p:txBody>
      </p:sp>
      <p:sp>
        <p:nvSpPr>
          <p:cNvPr id="438" name="Google Shape;438;p67"/>
          <p:cNvSpPr txBox="1"/>
          <p:nvPr/>
        </p:nvSpPr>
        <p:spPr>
          <a:xfrm>
            <a:off x="490525" y="1383600"/>
            <a:ext cx="8162400" cy="9183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55600" lvl="0" marL="457200" marR="0" rtl="0" algn="l">
              <a:lnSpc>
                <a:spcPct val="115000"/>
              </a:lnSpc>
              <a:spcBef>
                <a:spcPts val="0"/>
              </a:spcBef>
              <a:spcAft>
                <a:spcPts val="0"/>
              </a:spcAft>
              <a:buClr>
                <a:srgbClr val="FDC672"/>
              </a:buClr>
              <a:buSzPts val="2000"/>
              <a:buFont typeface="Urbanist"/>
              <a:buChar char="●"/>
            </a:pPr>
            <a:r>
              <a:rPr lang="ru" sz="1600">
                <a:solidFill>
                  <a:schemeClr val="dk1"/>
                </a:solidFill>
                <a:latin typeface="Urbanist"/>
                <a:ea typeface="Urbanist"/>
                <a:cs typeface="Urbanist"/>
                <a:sym typeface="Urbanist"/>
              </a:rPr>
              <a:t>Նկարագրել, թե ինչպես է ԱԲ-ն կիրառվում տարբեր մասնագիտություններում՝ գործնական օրինակների միջոցով։</a:t>
            </a:r>
            <a:endParaRPr sz="2000">
              <a:solidFill>
                <a:schemeClr val="dk1"/>
              </a:solidFill>
              <a:latin typeface="Urbanist ExtraLight"/>
              <a:ea typeface="Urbanist ExtraLight"/>
              <a:cs typeface="Urbanist ExtraLight"/>
              <a:sym typeface="Urbanist Extra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442" name="Shape 442"/>
        <p:cNvGrpSpPr/>
        <p:nvPr/>
      </p:nvGrpSpPr>
      <p:grpSpPr>
        <a:xfrm>
          <a:off x="0" y="0"/>
          <a:ext cx="0" cy="0"/>
          <a:chOff x="0" y="0"/>
          <a:chExt cx="0" cy="0"/>
        </a:xfrm>
      </p:grpSpPr>
      <p:pic>
        <p:nvPicPr>
          <p:cNvPr descr="Image" id="443" name="Google Shape;443;p68"/>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444" name="Google Shape;444;p68"/>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Խմբերով աշխատանք</a:t>
            </a:r>
            <a:endParaRPr b="0" i="0" sz="500" u="none" cap="none" strike="noStrike">
              <a:solidFill>
                <a:srgbClr val="000000"/>
              </a:solidFill>
              <a:latin typeface="Arial"/>
              <a:ea typeface="Arial"/>
              <a:cs typeface="Arial"/>
              <a:sym typeface="Arial"/>
            </a:endParaRPr>
          </a:p>
        </p:txBody>
      </p:sp>
      <p:sp>
        <p:nvSpPr>
          <p:cNvPr id="445" name="Google Shape;445;p68"/>
          <p:cNvSpPr txBox="1"/>
          <p:nvPr/>
        </p:nvSpPr>
        <p:spPr>
          <a:xfrm>
            <a:off x="949400" y="1114425"/>
            <a:ext cx="7313700" cy="15240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342900" lvl="0" marL="457200" rtl="0" algn="l">
              <a:lnSpc>
                <a:spcPct val="115000"/>
              </a:lnSpc>
              <a:spcBef>
                <a:spcPts val="1000"/>
              </a:spcBef>
              <a:spcAft>
                <a:spcPts val="0"/>
              </a:spcAft>
              <a:buClr>
                <a:schemeClr val="lt1"/>
              </a:buClr>
              <a:buSzPts val="1800"/>
              <a:buFont typeface="Urbanist"/>
              <a:buChar char="●"/>
            </a:pPr>
            <a:r>
              <a:rPr lang="ru" sz="1800">
                <a:solidFill>
                  <a:schemeClr val="dk1"/>
                </a:solidFill>
                <a:latin typeface="Urbanist"/>
                <a:ea typeface="Urbanist"/>
                <a:cs typeface="Urbanist"/>
                <a:sym typeface="Urbanist"/>
              </a:rPr>
              <a:t>Դիտարկե՛ք ուսուցչի բաժանած քարտերը։</a:t>
            </a:r>
            <a:endParaRPr sz="1800">
              <a:solidFill>
                <a:schemeClr val="dk1"/>
              </a:solidFill>
              <a:latin typeface="Urbanist"/>
              <a:ea typeface="Urbanist"/>
              <a:cs typeface="Urbanist"/>
              <a:sym typeface="Urbanist"/>
            </a:endParaRPr>
          </a:p>
          <a:p>
            <a:pPr indent="-342900" lvl="0" marL="457200" rtl="0" algn="l">
              <a:lnSpc>
                <a:spcPct val="115000"/>
              </a:lnSpc>
              <a:spcBef>
                <a:spcPts val="1000"/>
              </a:spcBef>
              <a:spcAft>
                <a:spcPts val="1000"/>
              </a:spcAft>
              <a:buClr>
                <a:schemeClr val="lt1"/>
              </a:buClr>
              <a:buSzPts val="1800"/>
              <a:buFont typeface="Urbanist"/>
              <a:buChar char="●"/>
            </a:pPr>
            <a:r>
              <a:rPr lang="ru" sz="1800">
                <a:solidFill>
                  <a:schemeClr val="dk1"/>
                </a:solidFill>
                <a:latin typeface="Urbanist"/>
                <a:ea typeface="Urbanist"/>
                <a:cs typeface="Urbanist"/>
                <a:sym typeface="Urbanist"/>
              </a:rPr>
              <a:t>Համապատասխանեցրե՛ք մասնագիտությունները ԱԲ գործիքների հետ՝ զուգահեռ հիմնավորելով ձեր ընտրությունը։</a:t>
            </a:r>
            <a:endParaRPr sz="1800">
              <a:solidFill>
                <a:schemeClr val="dk1"/>
              </a:solidFill>
              <a:latin typeface="Urbanist"/>
              <a:ea typeface="Urbanist"/>
              <a:cs typeface="Urbanist"/>
              <a:sym typeface="Urbanis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descr="Image" id="450" name="Google Shape;450;p6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51" name="Google Shape;451;p69"/>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ԱԲ գործիքների նկարագրություններ</a:t>
            </a:r>
            <a:endParaRPr b="0" i="0" sz="400" u="none" cap="none" strike="noStrike">
              <a:solidFill>
                <a:srgbClr val="000000"/>
              </a:solidFill>
              <a:latin typeface="Arial"/>
              <a:ea typeface="Arial"/>
              <a:cs typeface="Arial"/>
              <a:sym typeface="Arial"/>
            </a:endParaRPr>
          </a:p>
        </p:txBody>
      </p:sp>
      <p:graphicFrame>
        <p:nvGraphicFramePr>
          <p:cNvPr id="452" name="Google Shape;452;p69"/>
          <p:cNvGraphicFramePr/>
          <p:nvPr/>
        </p:nvGraphicFramePr>
        <p:xfrm>
          <a:off x="490800" y="1352200"/>
          <a:ext cx="3000000" cy="3000000"/>
        </p:xfrm>
        <a:graphic>
          <a:graphicData uri="http://schemas.openxmlformats.org/drawingml/2006/table">
            <a:tbl>
              <a:tblPr>
                <a:noFill/>
                <a:tableStyleId>{41B8CB50-37E8-4FF0-90C8-70755F0B0C13}</a:tableStyleId>
              </a:tblPr>
              <a:tblGrid>
                <a:gridCol w="789025"/>
                <a:gridCol w="2775225"/>
                <a:gridCol w="4598150"/>
              </a:tblGrid>
              <a:tr h="308600">
                <a:tc>
                  <a:txBody>
                    <a:bodyPr/>
                    <a:lstStyle/>
                    <a:p>
                      <a:pPr indent="0" lvl="0" marL="0" marR="0" rtl="0" algn="ctr">
                        <a:lnSpc>
                          <a:spcPct val="150000"/>
                        </a:lnSpc>
                        <a:spcBef>
                          <a:spcPts val="0"/>
                        </a:spcBef>
                        <a:spcAft>
                          <a:spcPts val="0"/>
                        </a:spcAft>
                        <a:buNone/>
                      </a:pPr>
                      <a:r>
                        <a:rPr lang="ru" sz="1200"/>
                        <a:t>N</a:t>
                      </a:r>
                      <a:endParaRPr sz="1200"/>
                    </a:p>
                  </a:txBody>
                  <a:tcPr marT="63500" marB="63500" marR="63500" marL="63500">
                    <a:solidFill>
                      <a:srgbClr val="FDC672"/>
                    </a:solidFill>
                  </a:tcPr>
                </a:tc>
                <a:tc>
                  <a:txBody>
                    <a:bodyPr/>
                    <a:lstStyle/>
                    <a:p>
                      <a:pPr indent="0" lvl="0" marL="0" marR="0" rtl="0" algn="ctr">
                        <a:lnSpc>
                          <a:spcPct val="150000"/>
                        </a:lnSpc>
                        <a:spcBef>
                          <a:spcPts val="0"/>
                        </a:spcBef>
                        <a:spcAft>
                          <a:spcPts val="0"/>
                        </a:spcAft>
                        <a:buNone/>
                      </a:pPr>
                      <a:r>
                        <a:rPr lang="ru" sz="1200"/>
                        <a:t>ԱԲ ԳՈՐԾԻՔ</a:t>
                      </a:r>
                      <a:endParaRPr sz="1200"/>
                    </a:p>
                  </a:txBody>
                  <a:tcPr marT="63500" marB="63500" marR="63500" marL="63500">
                    <a:solidFill>
                      <a:srgbClr val="FDC672"/>
                    </a:solidFill>
                  </a:tcPr>
                </a:tc>
                <a:tc>
                  <a:txBody>
                    <a:bodyPr/>
                    <a:lstStyle/>
                    <a:p>
                      <a:pPr indent="0" lvl="0" marL="0" marR="0" rtl="0" algn="ctr">
                        <a:lnSpc>
                          <a:spcPct val="150000"/>
                        </a:lnSpc>
                        <a:spcBef>
                          <a:spcPts val="0"/>
                        </a:spcBef>
                        <a:spcAft>
                          <a:spcPts val="0"/>
                        </a:spcAft>
                        <a:buNone/>
                      </a:pPr>
                      <a:r>
                        <a:rPr lang="ru" sz="1200"/>
                        <a:t>ՄԵԿՆԱԲԱՆՈՒԹՅՈՒՆ</a:t>
                      </a:r>
                      <a:endParaRPr sz="1200"/>
                    </a:p>
                  </a:txBody>
                  <a:tcPr marT="63500" marB="63500" marR="63500" marL="63500">
                    <a:solidFill>
                      <a:srgbClr val="FDC672"/>
                    </a:solidFill>
                  </a:tcPr>
                </a:tc>
              </a:tr>
              <a:tr h="308600">
                <a:tc>
                  <a:txBody>
                    <a:bodyPr/>
                    <a:lstStyle/>
                    <a:p>
                      <a:pPr indent="0" lvl="0" marL="0" marR="0" rtl="0" algn="ctr">
                        <a:lnSpc>
                          <a:spcPct val="150000"/>
                        </a:lnSpc>
                        <a:spcBef>
                          <a:spcPts val="0"/>
                        </a:spcBef>
                        <a:spcAft>
                          <a:spcPts val="0"/>
                        </a:spcAft>
                        <a:buNone/>
                      </a:pPr>
                      <a:r>
                        <a:rPr lang="ru" sz="1200"/>
                        <a:t>1</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ChatGPT</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Տեքստեր ստեղծող, հարցերին պատասխանող և աջակցող համակարգ։</a:t>
                      </a:r>
                      <a:endParaRPr sz="1200"/>
                    </a:p>
                  </a:txBody>
                  <a:tcPr marT="63500" marB="63500" marR="63500" marL="63500"/>
                </a:tc>
              </a:tr>
              <a:tr h="12700">
                <a:tc>
                  <a:txBody>
                    <a:bodyPr/>
                    <a:lstStyle/>
                    <a:p>
                      <a:pPr indent="0" lvl="0" marL="0" marR="0" rtl="0" algn="ctr">
                        <a:lnSpc>
                          <a:spcPct val="150000"/>
                        </a:lnSpc>
                        <a:spcBef>
                          <a:spcPts val="0"/>
                        </a:spcBef>
                        <a:spcAft>
                          <a:spcPts val="0"/>
                        </a:spcAft>
                        <a:buNone/>
                      </a:pPr>
                      <a:r>
                        <a:rPr lang="ru" sz="1200"/>
                        <a:t>2</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Midjourney / DALL·E</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Տեքստի հիման վրա պատկերներ գեներացնող գործիք։</a:t>
                      </a:r>
                      <a:endParaRPr sz="1200"/>
                    </a:p>
                  </a:txBody>
                  <a:tcPr marT="63500" marB="63500" marR="63500" marL="63500"/>
                </a:tc>
              </a:tr>
              <a:tr h="12700">
                <a:tc>
                  <a:txBody>
                    <a:bodyPr/>
                    <a:lstStyle/>
                    <a:p>
                      <a:pPr indent="0" lvl="0" marL="0" marR="0" rtl="0" algn="ctr">
                        <a:lnSpc>
                          <a:spcPct val="150000"/>
                        </a:lnSpc>
                        <a:spcBef>
                          <a:spcPts val="0"/>
                        </a:spcBef>
                        <a:spcAft>
                          <a:spcPts val="0"/>
                        </a:spcAft>
                        <a:buNone/>
                      </a:pPr>
                      <a:r>
                        <a:rPr lang="ru" sz="1200"/>
                        <a:t>3</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Blue River Technology</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ԱԲ հիման վրա խելացի գյուղատնտեսական տեխնոլոգիա։</a:t>
                      </a:r>
                      <a:endParaRPr sz="1200"/>
                    </a:p>
                  </a:txBody>
                  <a:tcPr marT="63500" marB="63500" marR="63500" marL="63500"/>
                </a:tc>
              </a:tr>
              <a:tr h="12700">
                <a:tc>
                  <a:txBody>
                    <a:bodyPr/>
                    <a:lstStyle/>
                    <a:p>
                      <a:pPr indent="0" lvl="0" marL="0" marR="0" rtl="0" algn="ctr">
                        <a:lnSpc>
                          <a:spcPct val="150000"/>
                        </a:lnSpc>
                        <a:spcBef>
                          <a:spcPts val="0"/>
                        </a:spcBef>
                        <a:spcAft>
                          <a:spcPts val="0"/>
                        </a:spcAft>
                        <a:buNone/>
                      </a:pPr>
                      <a:r>
                        <a:rPr lang="ru" sz="1200"/>
                        <a:t>4</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Replika / AI Chatbots</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Զրույց վարող վիրտուալ օգնականներ և հաճախորդների սպասարկում։</a:t>
                      </a:r>
                      <a:endParaRPr sz="1200"/>
                    </a:p>
                  </a:txBody>
                  <a:tcPr marT="63500" marB="63500" marR="63500" marL="63500"/>
                </a:tc>
              </a:tr>
              <a:tr h="12700">
                <a:tc>
                  <a:txBody>
                    <a:bodyPr/>
                    <a:lstStyle/>
                    <a:p>
                      <a:pPr indent="0" lvl="0" marL="0" marR="0" rtl="0" algn="ctr">
                        <a:lnSpc>
                          <a:spcPct val="150000"/>
                        </a:lnSpc>
                        <a:spcBef>
                          <a:spcPts val="0"/>
                        </a:spcBef>
                        <a:spcAft>
                          <a:spcPts val="0"/>
                        </a:spcAft>
                        <a:buNone/>
                      </a:pPr>
                      <a:r>
                        <a:rPr lang="ru" sz="1200"/>
                        <a:t>5</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OCR (Optical Character Recognition)</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Տպագիր/ձեռագիր տեքստերի ճանաչում և թվայնացում՝ ԱԲ ինտեգրմամբ։</a:t>
                      </a:r>
                      <a:endParaRPr sz="1200"/>
                    </a:p>
                  </a:txBody>
                  <a:tcPr marT="63500" marB="63500" marR="63500" marL="63500"/>
                </a:tc>
              </a:tr>
              <a:tr h="12700">
                <a:tc>
                  <a:txBody>
                    <a:bodyPr/>
                    <a:lstStyle/>
                    <a:p>
                      <a:pPr indent="0" lvl="0" marL="0" marR="0" rtl="0" algn="ctr">
                        <a:lnSpc>
                          <a:spcPct val="150000"/>
                        </a:lnSpc>
                        <a:spcBef>
                          <a:spcPts val="0"/>
                        </a:spcBef>
                        <a:spcAft>
                          <a:spcPts val="0"/>
                        </a:spcAft>
                        <a:buNone/>
                      </a:pPr>
                      <a:r>
                        <a:rPr lang="ru" sz="1200"/>
                        <a:t>6</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Machine Learning</a:t>
                      </a:r>
                      <a:endParaRPr sz="1200"/>
                    </a:p>
                  </a:txBody>
                  <a:tcPr marT="63500" marB="63500" marR="63500" marL="63500"/>
                </a:tc>
                <a:tc>
                  <a:txBody>
                    <a:bodyPr/>
                    <a:lstStyle/>
                    <a:p>
                      <a:pPr indent="0" lvl="0" marL="0" marR="0" rtl="0" algn="l">
                        <a:lnSpc>
                          <a:spcPct val="150000"/>
                        </a:lnSpc>
                        <a:spcBef>
                          <a:spcPts val="0"/>
                        </a:spcBef>
                        <a:spcAft>
                          <a:spcPts val="0"/>
                        </a:spcAft>
                        <a:buNone/>
                      </a:pPr>
                      <a:r>
                        <a:rPr lang="ru" sz="1200"/>
                        <a:t>Տվյալների հիման վրա օրինաչափություններ գտնող և կանխատեսումներ անող ալգորիթմներ։</a:t>
                      </a:r>
                      <a:endParaRPr sz="1200"/>
                    </a:p>
                  </a:txBody>
                  <a:tcPr marT="63500" marB="63500" marR="63500" marL="63500"/>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descr="Image" id="457" name="Google Shape;457;p7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58" name="Google Shape;458;p70"/>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ԱԲ գ</a:t>
            </a:r>
            <a:r>
              <a:rPr lang="ru" sz="2900">
                <a:solidFill>
                  <a:srgbClr val="3A475A"/>
                </a:solidFill>
                <a:latin typeface="Urbanist ExtraBold"/>
                <a:ea typeface="Urbanist ExtraBold"/>
                <a:cs typeface="Urbanist ExtraBold"/>
                <a:sym typeface="Urbanist ExtraBold"/>
              </a:rPr>
              <a:t>ործիքների նկարագրություններ</a:t>
            </a:r>
            <a:endParaRPr b="0" i="0" sz="400" u="none" cap="none" strike="noStrike">
              <a:solidFill>
                <a:srgbClr val="000000"/>
              </a:solidFill>
              <a:latin typeface="Arial"/>
              <a:ea typeface="Arial"/>
              <a:cs typeface="Arial"/>
              <a:sym typeface="Arial"/>
            </a:endParaRPr>
          </a:p>
        </p:txBody>
      </p:sp>
      <p:graphicFrame>
        <p:nvGraphicFramePr>
          <p:cNvPr id="459" name="Google Shape;459;p70"/>
          <p:cNvGraphicFramePr/>
          <p:nvPr/>
        </p:nvGraphicFramePr>
        <p:xfrm>
          <a:off x="490800" y="1123600"/>
          <a:ext cx="3000000" cy="3000000"/>
        </p:xfrm>
        <a:graphic>
          <a:graphicData uri="http://schemas.openxmlformats.org/drawingml/2006/table">
            <a:tbl>
              <a:tblPr>
                <a:noFill/>
                <a:tableStyleId>{41B8CB50-37E8-4FF0-90C8-70755F0B0C13}</a:tableStyleId>
              </a:tblPr>
              <a:tblGrid>
                <a:gridCol w="789025"/>
                <a:gridCol w="2775225"/>
                <a:gridCol w="4598150"/>
              </a:tblGrid>
              <a:tr h="308600">
                <a:tc>
                  <a:txBody>
                    <a:bodyPr/>
                    <a:lstStyle/>
                    <a:p>
                      <a:pPr indent="0" lvl="0" marL="0" marR="0" rtl="0" algn="ctr">
                        <a:lnSpc>
                          <a:spcPct val="150000"/>
                        </a:lnSpc>
                        <a:spcBef>
                          <a:spcPts val="0"/>
                        </a:spcBef>
                        <a:spcAft>
                          <a:spcPts val="0"/>
                        </a:spcAft>
                        <a:buNone/>
                      </a:pPr>
                      <a:r>
                        <a:rPr lang="ru" sz="1200"/>
                        <a:t>N</a:t>
                      </a:r>
                      <a:endParaRPr sz="1200"/>
                    </a:p>
                  </a:txBody>
                  <a:tcPr marT="63500" marB="63500" marR="63500" marL="63500">
                    <a:lnB cap="flat" cmpd="sng" w="12700">
                      <a:solidFill>
                        <a:srgbClr val="000000"/>
                      </a:solidFill>
                      <a:prstDash val="solid"/>
                      <a:round/>
                      <a:headEnd len="sm" w="sm" type="none"/>
                      <a:tailEnd len="sm" w="sm" type="none"/>
                    </a:lnB>
                    <a:solidFill>
                      <a:srgbClr val="FDC672"/>
                    </a:solidFill>
                  </a:tcPr>
                </a:tc>
                <a:tc>
                  <a:txBody>
                    <a:bodyPr/>
                    <a:lstStyle/>
                    <a:p>
                      <a:pPr indent="0" lvl="0" marL="0" marR="0" rtl="0" algn="ctr">
                        <a:lnSpc>
                          <a:spcPct val="150000"/>
                        </a:lnSpc>
                        <a:spcBef>
                          <a:spcPts val="0"/>
                        </a:spcBef>
                        <a:spcAft>
                          <a:spcPts val="0"/>
                        </a:spcAft>
                        <a:buNone/>
                      </a:pPr>
                      <a:r>
                        <a:rPr lang="ru" sz="1200"/>
                        <a:t>ԱԲ ԳՈՐԾԻՔ</a:t>
                      </a:r>
                      <a:endParaRPr sz="1200"/>
                    </a:p>
                  </a:txBody>
                  <a:tcPr marT="63500" marB="63500" marR="63500" marL="63500">
                    <a:lnB cap="flat" cmpd="sng" w="12700">
                      <a:solidFill>
                        <a:srgbClr val="000000"/>
                      </a:solidFill>
                      <a:prstDash val="solid"/>
                      <a:round/>
                      <a:headEnd len="sm" w="sm" type="none"/>
                      <a:tailEnd len="sm" w="sm" type="none"/>
                    </a:lnB>
                    <a:solidFill>
                      <a:srgbClr val="FDC672"/>
                    </a:solidFill>
                  </a:tcPr>
                </a:tc>
                <a:tc>
                  <a:txBody>
                    <a:bodyPr/>
                    <a:lstStyle/>
                    <a:p>
                      <a:pPr indent="0" lvl="0" marL="0" marR="0" rtl="0" algn="ctr">
                        <a:lnSpc>
                          <a:spcPct val="150000"/>
                        </a:lnSpc>
                        <a:spcBef>
                          <a:spcPts val="0"/>
                        </a:spcBef>
                        <a:spcAft>
                          <a:spcPts val="0"/>
                        </a:spcAft>
                        <a:buNone/>
                      </a:pPr>
                      <a:r>
                        <a:rPr lang="ru" sz="1200"/>
                        <a:t>ՄԵԿՆԱԲԱՆՈՒԹՅՈՒՆ</a:t>
                      </a:r>
                      <a:endParaRPr sz="1200"/>
                    </a:p>
                  </a:txBody>
                  <a:tcPr marT="63500" marB="63500" marR="63500" marL="63500">
                    <a:lnB cap="flat" cmpd="sng" w="12700">
                      <a:solidFill>
                        <a:srgbClr val="000000"/>
                      </a:solidFill>
                      <a:prstDash val="solid"/>
                      <a:round/>
                      <a:headEnd len="sm" w="sm" type="none"/>
                      <a:tailEnd len="sm" w="sm" type="none"/>
                    </a:lnB>
                    <a:solidFill>
                      <a:srgbClr val="FDC672"/>
                    </a:solidFill>
                  </a:tcPr>
                </a:tc>
              </a:tr>
              <a:tr h="308600">
                <a:tc>
                  <a:txBody>
                    <a:bodyPr/>
                    <a:lstStyle/>
                    <a:p>
                      <a:pPr indent="0" lvl="0" marL="0" marR="0" rtl="0" algn="ctr">
                        <a:lnSpc>
                          <a:spcPct val="150000"/>
                        </a:lnSpc>
                        <a:spcBef>
                          <a:spcPts val="0"/>
                        </a:spcBef>
                        <a:spcAft>
                          <a:spcPts val="0"/>
                        </a:spcAft>
                        <a:buNone/>
                      </a:pPr>
                      <a:r>
                        <a:rPr lang="ru" sz="1200"/>
                        <a:t>7</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Google Translate</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Տեքստերի ավտոմատ թարգմանություն տարբեր լեզուներով։</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marR="0" rtl="0" algn="ctr">
                        <a:lnSpc>
                          <a:spcPct val="150000"/>
                        </a:lnSpc>
                        <a:spcBef>
                          <a:spcPts val="0"/>
                        </a:spcBef>
                        <a:spcAft>
                          <a:spcPts val="0"/>
                        </a:spcAft>
                        <a:buNone/>
                      </a:pPr>
                      <a:r>
                        <a:rPr lang="ru" sz="1200"/>
                        <a:t>8</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Salesforce AI</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Հաճախորդների վարքի վերլուծություն և վաճառքների օպտիմալացում։</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marR="0" rtl="0" algn="ctr">
                        <a:lnSpc>
                          <a:spcPct val="150000"/>
                        </a:lnSpc>
                        <a:spcBef>
                          <a:spcPts val="0"/>
                        </a:spcBef>
                        <a:spcAft>
                          <a:spcPts val="0"/>
                        </a:spcAft>
                        <a:buNone/>
                      </a:pPr>
                      <a:r>
                        <a:rPr lang="ru" sz="1200"/>
                        <a:t>9</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AI Diagnostic Tools (օր.՝ Aidoc, PathAI)</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Բժշկական պատկերների և վերլուծությունների ավտոմատ ախտորոշում։</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marR="0" rtl="0" algn="ctr">
                        <a:lnSpc>
                          <a:spcPct val="150000"/>
                        </a:lnSpc>
                        <a:spcBef>
                          <a:spcPts val="0"/>
                        </a:spcBef>
                        <a:spcAft>
                          <a:spcPts val="0"/>
                        </a:spcAft>
                        <a:buNone/>
                      </a:pPr>
                      <a:r>
                        <a:rPr lang="ru" sz="1200"/>
                        <a:t>10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AI Contract Analysis (օր.՝ Luminance)</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Իրավաբանական փաստաթղթերի վերլուծություն և ավտոմատ ուղեցույցներ։</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marR="0" rtl="0" algn="ctr">
                        <a:lnSpc>
                          <a:spcPct val="150000"/>
                        </a:lnSpc>
                        <a:spcBef>
                          <a:spcPts val="0"/>
                        </a:spcBef>
                        <a:spcAft>
                          <a:spcPts val="0"/>
                        </a:spcAft>
                        <a:buNone/>
                      </a:pPr>
                      <a:r>
                        <a:rPr lang="ru" sz="1200"/>
                        <a:t>11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AutoML</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Ավտոմատացված մեքենայական ուսուցման մոդելների ստեղծում։</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marR="0" rtl="0" algn="ctr">
                        <a:lnSpc>
                          <a:spcPct val="150000"/>
                        </a:lnSpc>
                        <a:spcBef>
                          <a:spcPts val="0"/>
                        </a:spcBef>
                        <a:spcAft>
                          <a:spcPts val="0"/>
                        </a:spcAft>
                        <a:buNone/>
                      </a:pPr>
                      <a:r>
                        <a:rPr lang="ru" sz="1200"/>
                        <a:t>12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Descript / Otter.ai</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50000"/>
                        </a:lnSpc>
                        <a:spcBef>
                          <a:spcPts val="0"/>
                        </a:spcBef>
                        <a:spcAft>
                          <a:spcPts val="0"/>
                        </a:spcAft>
                        <a:buNone/>
                      </a:pPr>
                      <a:r>
                        <a:rPr lang="ru" sz="1200"/>
                        <a:t>Ձայնային ֆայլերի գրավոր փոխակերպում և խմբագրում:</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pic>
        <p:nvPicPr>
          <p:cNvPr descr="Image" id="464" name="Google Shape;464;p7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65" name="Google Shape;465;p71"/>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Քարտերով աշխատանքի պատասխաններ</a:t>
            </a:r>
            <a:endParaRPr b="0" i="0" sz="400" u="none" cap="none" strike="noStrike">
              <a:solidFill>
                <a:srgbClr val="000000"/>
              </a:solidFill>
              <a:latin typeface="Arial"/>
              <a:ea typeface="Arial"/>
              <a:cs typeface="Arial"/>
              <a:sym typeface="Arial"/>
            </a:endParaRPr>
          </a:p>
        </p:txBody>
      </p:sp>
      <p:pic>
        <p:nvPicPr>
          <p:cNvPr id="466" name="Google Shape;466;p71"/>
          <p:cNvPicPr preferRelativeResize="0"/>
          <p:nvPr/>
        </p:nvPicPr>
        <p:blipFill rotWithShape="1">
          <a:blip r:embed="rId4">
            <a:alphaModFix/>
          </a:blip>
          <a:srcRect b="0" l="0" r="0" t="8734"/>
          <a:stretch/>
        </p:blipFill>
        <p:spPr>
          <a:xfrm>
            <a:off x="2376225" y="919125"/>
            <a:ext cx="4362450" cy="4143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pic>
        <p:nvPicPr>
          <p:cNvPr descr="Image" id="471" name="Google Shape;471;p7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72" name="Google Shape;472;p72"/>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Քարտերով աշխատանքի պատասխաններ</a:t>
            </a:r>
            <a:endParaRPr b="0" i="0" sz="400" u="none" cap="none" strike="noStrike">
              <a:solidFill>
                <a:srgbClr val="000000"/>
              </a:solidFill>
              <a:latin typeface="Arial"/>
              <a:ea typeface="Arial"/>
              <a:cs typeface="Arial"/>
              <a:sym typeface="Arial"/>
            </a:endParaRPr>
          </a:p>
        </p:txBody>
      </p:sp>
      <p:pic>
        <p:nvPicPr>
          <p:cNvPr id="473" name="Google Shape;473;p72"/>
          <p:cNvPicPr preferRelativeResize="0"/>
          <p:nvPr/>
        </p:nvPicPr>
        <p:blipFill rotWithShape="1">
          <a:blip r:embed="rId4">
            <a:alphaModFix/>
          </a:blip>
          <a:srcRect b="0" l="0" r="0" t="6524"/>
          <a:stretch/>
        </p:blipFill>
        <p:spPr>
          <a:xfrm>
            <a:off x="2376000" y="861850"/>
            <a:ext cx="4363200" cy="41436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descr="Image" id="478" name="Google Shape;478;p7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79" name="Google Shape;479;p73"/>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Քարտերով աշխատանքի պատասխաններ</a:t>
            </a:r>
            <a:endParaRPr b="0" i="0" sz="400" u="none" cap="none" strike="noStrike">
              <a:solidFill>
                <a:srgbClr val="000000"/>
              </a:solidFill>
              <a:latin typeface="Arial"/>
              <a:ea typeface="Arial"/>
              <a:cs typeface="Arial"/>
              <a:sym typeface="Arial"/>
            </a:endParaRPr>
          </a:p>
        </p:txBody>
      </p:sp>
      <p:pic>
        <p:nvPicPr>
          <p:cNvPr id="480" name="Google Shape;480;p73"/>
          <p:cNvPicPr preferRelativeResize="0"/>
          <p:nvPr/>
        </p:nvPicPr>
        <p:blipFill>
          <a:blip r:embed="rId4">
            <a:alphaModFix/>
          </a:blip>
          <a:stretch>
            <a:fillRect/>
          </a:stretch>
        </p:blipFill>
        <p:spPr>
          <a:xfrm>
            <a:off x="2376000" y="860400"/>
            <a:ext cx="4363200" cy="41436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484" name="Shape 484"/>
        <p:cNvGrpSpPr/>
        <p:nvPr/>
      </p:nvGrpSpPr>
      <p:grpSpPr>
        <a:xfrm>
          <a:off x="0" y="0"/>
          <a:ext cx="0" cy="0"/>
          <a:chOff x="0" y="0"/>
          <a:chExt cx="0" cy="0"/>
        </a:xfrm>
      </p:grpSpPr>
      <p:pic>
        <p:nvPicPr>
          <p:cNvPr descr="Image" id="485" name="Google Shape;485;p74"/>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486" name="Google Shape;486;p74"/>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487" name="Google Shape;487;p74"/>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descr="Image" id="492" name="Google Shape;492;p7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493" name="Google Shape;493;p75"/>
          <p:cNvSpPr txBox="1"/>
          <p:nvPr/>
        </p:nvSpPr>
        <p:spPr>
          <a:xfrm>
            <a:off x="476246" y="282675"/>
            <a:ext cx="8162400" cy="9273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Թեմա 4. ԱԲ -ի հնարավորությունները տեղական և միջազգային մակարդակներում - 1</a:t>
            </a:r>
            <a:endParaRPr b="0" i="0" sz="400" u="none" cap="none" strike="noStrike">
              <a:solidFill>
                <a:srgbClr val="000000"/>
              </a:solidFill>
              <a:latin typeface="Arial"/>
              <a:ea typeface="Arial"/>
              <a:cs typeface="Arial"/>
              <a:sym typeface="Arial"/>
            </a:endParaRPr>
          </a:p>
        </p:txBody>
      </p:sp>
      <p:sp>
        <p:nvSpPr>
          <p:cNvPr id="494" name="Google Shape;494;p75"/>
          <p:cNvSpPr txBox="1"/>
          <p:nvPr/>
        </p:nvSpPr>
        <p:spPr>
          <a:xfrm>
            <a:off x="490525" y="1383600"/>
            <a:ext cx="8162400" cy="17985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Վերլուծել և հայտնաբերել ԱԲ-ի դրական ազդեցությունը տարբեր ոլորտներում</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Ներկայացնել ԱԲ-ի դրական կիրառությունները տեղական (համայնքային) և միջազգային մակարդակներում</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Համագործակցել խմբերում, ներկայացնել կարծիքներ և լուծումներ</a:t>
            </a:r>
            <a:endParaRPr sz="1600">
              <a:solidFill>
                <a:schemeClr val="dk1"/>
              </a:solidFill>
              <a:latin typeface="Urbanist"/>
              <a:ea typeface="Urbanist"/>
              <a:cs typeface="Urbanist"/>
              <a:sym typeface="Urbanis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descr="Image" id="499" name="Google Shape;499;p76"/>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500" name="Google Shape;500;p76"/>
          <p:cNvSpPr txBox="1"/>
          <p:nvPr/>
        </p:nvSpPr>
        <p:spPr>
          <a:xfrm>
            <a:off x="337675" y="1923600"/>
            <a:ext cx="6892500" cy="958200"/>
          </a:xfrm>
          <a:prstGeom prst="rect">
            <a:avLst/>
          </a:prstGeom>
          <a:noFill/>
          <a:ln>
            <a:noFill/>
          </a:ln>
        </p:spPr>
        <p:txBody>
          <a:bodyPr anchorCtr="0" anchor="t" bIns="17150" lIns="17150" spcFirstLastPara="1" rIns="17150" wrap="square" tIns="17150">
            <a:spAutoFit/>
          </a:bodyPr>
          <a:lstStyle/>
          <a:p>
            <a:pPr indent="0" lvl="0" marL="0" marR="381000" rtl="0" algn="l">
              <a:spcBef>
                <a:spcPts val="0"/>
              </a:spcBef>
              <a:spcAft>
                <a:spcPts val="0"/>
              </a:spcAft>
              <a:buClr>
                <a:schemeClr val="dk1"/>
              </a:buClr>
              <a:buSzPts val="1100"/>
              <a:buFont typeface="Arial"/>
              <a:buNone/>
            </a:pPr>
            <a:r>
              <a:rPr i="1" lang="ru" sz="3000">
                <a:solidFill>
                  <a:schemeClr val="dk2"/>
                </a:solidFill>
                <a:latin typeface="Urbanist ExtraBold"/>
                <a:ea typeface="Urbanist ExtraBold"/>
                <a:cs typeface="Urbanist ExtraBold"/>
                <a:sym typeface="Urbanist ExtraBold"/>
              </a:rPr>
              <a:t>Ի՞նչ ԱԲ կիրառություններ եք նկատել ձեր համայնքում։</a:t>
            </a:r>
            <a:endParaRPr i="1" sz="3000">
              <a:solidFill>
                <a:schemeClr val="dk2"/>
              </a:solidFill>
              <a:latin typeface="Urbanist ExtraBold"/>
              <a:ea typeface="Urbanist ExtraBold"/>
              <a:cs typeface="Urbanist ExtraBold"/>
              <a:sym typeface="Urbanist ExtraBo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pic>
        <p:nvPicPr>
          <p:cNvPr descr="Image" id="505" name="Google Shape;505;p77"/>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506" name="Google Shape;506;p77"/>
          <p:cNvSpPr txBox="1"/>
          <p:nvPr/>
        </p:nvSpPr>
        <p:spPr>
          <a:xfrm>
            <a:off x="337675" y="1923600"/>
            <a:ext cx="6892500" cy="1050600"/>
          </a:xfrm>
          <a:prstGeom prst="rect">
            <a:avLst/>
          </a:prstGeom>
          <a:noFill/>
          <a:ln>
            <a:noFill/>
          </a:ln>
        </p:spPr>
        <p:txBody>
          <a:bodyPr anchorCtr="0" anchor="t" bIns="17150" lIns="17150" spcFirstLastPara="1" rIns="17150" wrap="square" tIns="17150">
            <a:spAutoFit/>
          </a:bodyPr>
          <a:lstStyle/>
          <a:p>
            <a:pPr indent="0" lvl="0" marL="0" marR="381000" rtl="0" algn="l">
              <a:lnSpc>
                <a:spcPct val="120000"/>
              </a:lnSpc>
              <a:spcBef>
                <a:spcPts val="0"/>
              </a:spcBef>
              <a:spcAft>
                <a:spcPts val="0"/>
              </a:spcAft>
              <a:buClr>
                <a:schemeClr val="dk1"/>
              </a:buClr>
              <a:buSzPts val="1100"/>
              <a:buFont typeface="Arial"/>
              <a:buNone/>
            </a:pPr>
            <a:r>
              <a:rPr b="1" i="1" lang="ru" sz="3000">
                <a:solidFill>
                  <a:schemeClr val="dk2"/>
                </a:solidFill>
                <a:latin typeface="Urbanist"/>
                <a:ea typeface="Urbanist"/>
                <a:cs typeface="Urbanist"/>
                <a:sym typeface="Urbanist"/>
              </a:rPr>
              <a:t>Ինչպե՞ս կարող է ԱԲ-ն փոխել մեր երկրի ապագան։</a:t>
            </a:r>
            <a:endParaRPr i="1" sz="3000">
              <a:solidFill>
                <a:schemeClr val="dk2"/>
              </a:solidFill>
              <a:latin typeface="Urbanist ExtraBold"/>
              <a:ea typeface="Urbanist ExtraBold"/>
              <a:cs typeface="Urbanist ExtraBold"/>
              <a:sym typeface="Urbanist ExtraBo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510" name="Shape 510"/>
        <p:cNvGrpSpPr/>
        <p:nvPr/>
      </p:nvGrpSpPr>
      <p:grpSpPr>
        <a:xfrm>
          <a:off x="0" y="0"/>
          <a:ext cx="0" cy="0"/>
          <a:chOff x="0" y="0"/>
          <a:chExt cx="0" cy="0"/>
        </a:xfrm>
      </p:grpSpPr>
      <p:pic>
        <p:nvPicPr>
          <p:cNvPr descr="Image" id="511" name="Google Shape;511;p78"/>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512" name="Google Shape;512;p78"/>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Զույգերով </a:t>
            </a:r>
            <a:r>
              <a:rPr lang="ru" sz="3000">
                <a:solidFill>
                  <a:srgbClr val="FFFFFF"/>
                </a:solidFill>
                <a:latin typeface="Urbanist ExtraBold"/>
                <a:ea typeface="Urbanist ExtraBold"/>
                <a:cs typeface="Urbanist ExtraBold"/>
                <a:sym typeface="Urbanist ExtraBold"/>
              </a:rPr>
              <a:t>աշխատանք</a:t>
            </a:r>
            <a:endParaRPr b="0" i="0" sz="500" u="none" cap="none" strike="noStrike">
              <a:solidFill>
                <a:srgbClr val="000000"/>
              </a:solidFill>
              <a:latin typeface="Arial"/>
              <a:ea typeface="Arial"/>
              <a:cs typeface="Arial"/>
              <a:sym typeface="Arial"/>
            </a:endParaRPr>
          </a:p>
        </p:txBody>
      </p:sp>
      <p:sp>
        <p:nvSpPr>
          <p:cNvPr id="513" name="Google Shape;513;p78"/>
          <p:cNvSpPr txBox="1"/>
          <p:nvPr/>
        </p:nvSpPr>
        <p:spPr>
          <a:xfrm>
            <a:off x="949400" y="1114425"/>
            <a:ext cx="7313700" cy="27987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342900" lvl="0" marL="457200" rtl="0" algn="l">
              <a:lnSpc>
                <a:spcPct val="115000"/>
              </a:lnSpc>
              <a:spcBef>
                <a:spcPts val="1000"/>
              </a:spcBef>
              <a:spcAft>
                <a:spcPts val="0"/>
              </a:spcAft>
              <a:buClr>
                <a:schemeClr val="lt1"/>
              </a:buClr>
              <a:buSzPts val="1800"/>
              <a:buFont typeface="Urbanist"/>
              <a:buChar char="●"/>
            </a:pPr>
            <a:r>
              <a:rPr lang="ru" sz="1800">
                <a:latin typeface="Urbanist"/>
                <a:ea typeface="Urbanist"/>
                <a:cs typeface="Urbanist"/>
                <a:sym typeface="Urbanist"/>
              </a:rPr>
              <a:t>Դիտե՛ք հետևյալ </a:t>
            </a:r>
            <a:r>
              <a:rPr lang="ru" sz="1800" u="sng">
                <a:solidFill>
                  <a:schemeClr val="hlink"/>
                </a:solidFill>
                <a:latin typeface="Urbanist"/>
                <a:ea typeface="Urbanist"/>
                <a:cs typeface="Urbanist"/>
                <a:sym typeface="Urbanist"/>
                <a:hlinkClick r:id="rId4"/>
              </a:rPr>
              <a:t>հղմամբ</a:t>
            </a:r>
            <a:r>
              <a:rPr lang="ru" sz="1800">
                <a:latin typeface="Urbanist"/>
                <a:ea typeface="Urbanist"/>
                <a:cs typeface="Urbanist"/>
                <a:sym typeface="Urbanist"/>
              </a:rPr>
              <a:t> հասանելի տեսանյութը (1:59 - 4:18), որը վերաբերում է Չինաստանում ԱԲ-ի կիրառմանը դպրոցներում՝ սովորողների ուշադրության, պահվածքի և առաջադիմության մշտադիտարկմանը։ Տեսանյութը հասանելի է նաև հաջորդ սահիկում։</a:t>
            </a:r>
            <a:endParaRPr sz="1800">
              <a:latin typeface="Urbanist"/>
              <a:ea typeface="Urbanist"/>
              <a:cs typeface="Urbanist"/>
              <a:sym typeface="Urbanist"/>
            </a:endParaRPr>
          </a:p>
          <a:p>
            <a:pPr indent="-342900" lvl="0" marL="457200" rtl="0" algn="l">
              <a:lnSpc>
                <a:spcPct val="115000"/>
              </a:lnSpc>
              <a:spcBef>
                <a:spcPts val="1000"/>
              </a:spcBef>
              <a:spcAft>
                <a:spcPts val="1000"/>
              </a:spcAft>
              <a:buClr>
                <a:schemeClr val="lt1"/>
              </a:buClr>
              <a:buSzPts val="1800"/>
              <a:buFont typeface="Urbanist"/>
              <a:buChar char="●"/>
            </a:pPr>
            <a:r>
              <a:rPr lang="ru" sz="1800">
                <a:latin typeface="Urbanist"/>
                <a:ea typeface="Urbanist"/>
                <a:cs typeface="Urbanist"/>
                <a:sym typeface="Urbanist"/>
              </a:rPr>
              <a:t>Զուգահեռ, կատարե՛ք հետևյալ </a:t>
            </a:r>
            <a:r>
              <a:rPr lang="ru" sz="1800" u="sng">
                <a:solidFill>
                  <a:schemeClr val="hlink"/>
                </a:solidFill>
                <a:latin typeface="Urbanist"/>
                <a:ea typeface="Urbanist"/>
                <a:cs typeface="Urbanist"/>
                <a:sym typeface="Urbanist"/>
                <a:hlinkClick r:id="rId5"/>
              </a:rPr>
              <a:t>հղմամբ</a:t>
            </a:r>
            <a:r>
              <a:rPr lang="ru" sz="1800">
                <a:latin typeface="Urbanist"/>
                <a:ea typeface="Urbanist"/>
                <a:cs typeface="Urbanist"/>
                <a:sym typeface="Urbanist"/>
              </a:rPr>
              <a:t> հասանելի ֆայլում նշված առաջադրանքները։</a:t>
            </a:r>
            <a:endParaRPr sz="1800">
              <a:latin typeface="Urbanist"/>
              <a:ea typeface="Urbanist"/>
              <a:cs typeface="Urbanist"/>
              <a:sym typeface="Urbanist"/>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descr="A growing number of classrooms in China are equipped with artificial-intelligence cameras and brain-wave trackers. While many parents and teachers see them as tools to improve grades, they’ve become some children’s worst nightmare. &#10;&#10;Video: Crystal Tai&#10;&#10;More from the Wall Street Journal: &#10;Visit WSJ.com: http://www.wsj.com&#10;Visit the WSJ Video Center: https://wsj.com/video&#10;&#10;On Facebook: https://www.facebook.com/pg/wsj/videos/&#10;On Twitter: https://twitter.com/WSJ&#10;On Snapchat: https://on.wsj.com/2ratjSM &#10;&#10;#WSJ #ArtificialIntelligence #China" id="518" name="Google Shape;518;p79" title="How China Is Using Artificial Intelligence in Classrooms | WSJ">
            <a:hlinkClick r:id="rId3"/>
          </p:cNvPr>
          <p:cNvPicPr preferRelativeResize="0"/>
          <p:nvPr/>
        </p:nvPicPr>
        <p:blipFill>
          <a:blip r:embed="rId4">
            <a:alphaModFix/>
          </a:blip>
          <a:stretch>
            <a:fillRect/>
          </a:stretch>
        </p:blipFill>
        <p:spPr>
          <a:xfrm>
            <a:off x="1261261" y="1165915"/>
            <a:ext cx="6621475" cy="3724585"/>
          </a:xfrm>
          <a:prstGeom prst="rect">
            <a:avLst/>
          </a:prstGeom>
          <a:noFill/>
          <a:ln>
            <a:noFill/>
          </a:ln>
        </p:spPr>
      </p:pic>
      <p:pic>
        <p:nvPicPr>
          <p:cNvPr descr="Image" id="519" name="Google Shape;519;p79"/>
          <p:cNvPicPr preferRelativeResize="0"/>
          <p:nvPr/>
        </p:nvPicPr>
        <p:blipFill rotWithShape="1">
          <a:blip r:embed="rId5">
            <a:alphaModFix amt="83550"/>
          </a:blip>
          <a:srcRect b="0" l="25700" r="0" t="26367"/>
          <a:stretch/>
        </p:blipFill>
        <p:spPr>
          <a:xfrm>
            <a:off x="-11906" y="-9375"/>
            <a:ext cx="1683705" cy="1233313"/>
          </a:xfrm>
          <a:prstGeom prst="rect">
            <a:avLst/>
          </a:prstGeom>
          <a:noFill/>
          <a:ln>
            <a:noFill/>
          </a:ln>
        </p:spPr>
      </p:pic>
      <p:sp>
        <p:nvSpPr>
          <p:cNvPr id="520" name="Google Shape;520;p79"/>
          <p:cNvSpPr txBox="1"/>
          <p:nvPr/>
        </p:nvSpPr>
        <p:spPr>
          <a:xfrm>
            <a:off x="476247" y="282675"/>
            <a:ext cx="73068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կիրառումը դասասենյակներում</a:t>
            </a:r>
            <a:endParaRPr b="0" i="0" sz="5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descr="Image" id="525" name="Google Shape;525;p8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526" name="Google Shape;526;p8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Մաս 1</a:t>
            </a:r>
            <a:endParaRPr b="0" i="0" sz="500" u="none" cap="none" strike="noStrike">
              <a:solidFill>
                <a:srgbClr val="000000"/>
              </a:solidFill>
              <a:latin typeface="Arial"/>
              <a:ea typeface="Arial"/>
              <a:cs typeface="Arial"/>
              <a:sym typeface="Arial"/>
            </a:endParaRPr>
          </a:p>
        </p:txBody>
      </p:sp>
      <p:sp>
        <p:nvSpPr>
          <p:cNvPr id="527" name="Google Shape;527;p80"/>
          <p:cNvSpPr txBox="1"/>
          <p:nvPr/>
        </p:nvSpPr>
        <p:spPr>
          <a:xfrm>
            <a:off x="152400" y="1676400"/>
            <a:ext cx="8486400" cy="320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666666"/>
                </a:solidFill>
                <a:latin typeface="Urbanist SemiBold"/>
                <a:ea typeface="Urbanist SemiBold"/>
                <a:cs typeface="Urbanist SemiBold"/>
                <a:sym typeface="Urbanist SemiBold"/>
              </a:rPr>
              <a:t>Լրացնել ստորև բերված հարցերում բացակայող բառերն ու արտահայտությունները․</a:t>
            </a:r>
            <a:endParaRPr sz="1600">
              <a:solidFill>
                <a:srgbClr val="666666"/>
              </a:solidFill>
              <a:latin typeface="Urbanist SemiBold"/>
              <a:ea typeface="Urbanist SemiBold"/>
              <a:cs typeface="Urbanist SemiBold"/>
              <a:sym typeface="Urbanist SemiBold"/>
            </a:endParaRPr>
          </a:p>
          <a:p>
            <a:pPr indent="-330200" lvl="0" marL="457200"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Սարքը ստեղծվել է Չինաստանում։</a:t>
            </a:r>
            <a:endParaRPr sz="1600">
              <a:latin typeface="Urbanist"/>
              <a:ea typeface="Urbanist"/>
              <a:cs typeface="Urbanist"/>
              <a:sym typeface="Urbanist"/>
            </a:endParaRPr>
          </a:p>
          <a:p>
            <a:pPr indent="-330200" lvl="0" marL="457200"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Այն բաղկացած է երեք էլեկտրոդներից, որոնցից երկուսը </a:t>
            </a:r>
            <a:r>
              <a:rPr b="1" i="1" lang="ru" sz="1600">
                <a:latin typeface="Urbanist"/>
                <a:ea typeface="Urbanist"/>
                <a:cs typeface="Urbanist"/>
                <a:sym typeface="Urbanist"/>
              </a:rPr>
              <a:t>ականջների ետևում</a:t>
            </a:r>
            <a:r>
              <a:rPr lang="ru" sz="1600">
                <a:latin typeface="Urbanist"/>
                <a:ea typeface="Urbanist"/>
                <a:cs typeface="Urbanist"/>
                <a:sym typeface="Urbanist"/>
              </a:rPr>
              <a:t> են, իսկ մյուսը՝ </a:t>
            </a:r>
            <a:r>
              <a:rPr b="1" i="1" lang="ru" sz="1600">
                <a:latin typeface="Urbanist"/>
                <a:ea typeface="Urbanist"/>
                <a:cs typeface="Urbanist"/>
                <a:sym typeface="Urbanist"/>
              </a:rPr>
              <a:t>ճակատին։</a:t>
            </a:r>
            <a:endParaRPr b="1" i="1" sz="1600">
              <a:latin typeface="Urbanist"/>
              <a:ea typeface="Urbanist"/>
              <a:cs typeface="Urbanist"/>
              <a:sym typeface="Urbanist"/>
            </a:endParaRPr>
          </a:p>
          <a:p>
            <a:pPr indent="-330200" lvl="0" marL="457200"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Ուղեղի </a:t>
            </a:r>
            <a:r>
              <a:rPr b="1" i="1" lang="ru" sz="1600">
                <a:latin typeface="Urbanist"/>
                <a:ea typeface="Urbanist"/>
                <a:cs typeface="Urbanist"/>
                <a:sym typeface="Urbanist"/>
              </a:rPr>
              <a:t>նեյրոններից ստացված ազդանշանները</a:t>
            </a:r>
            <a:r>
              <a:rPr lang="ru" sz="1600">
                <a:latin typeface="Urbanist"/>
                <a:ea typeface="Urbanist"/>
                <a:cs typeface="Urbanist"/>
                <a:sym typeface="Urbanist"/>
              </a:rPr>
              <a:t> փոխանցվում են ուսուցչի համակարգչին՝ իրական ժամանակում։ Այս տվյալների հիման վրա ուսուցիչը կարողանում է գնահատել աշակերտների </a:t>
            </a:r>
            <a:r>
              <a:rPr b="1" i="1" lang="ru" sz="1600">
                <a:latin typeface="Urbanist"/>
                <a:ea typeface="Urbanist"/>
                <a:cs typeface="Urbanist"/>
                <a:sym typeface="Urbanist"/>
              </a:rPr>
              <a:t>ուշադրությունը՝ 10</a:t>
            </a:r>
            <a:r>
              <a:rPr lang="ru" sz="1600">
                <a:latin typeface="Urbanist"/>
                <a:ea typeface="Urbanist"/>
                <a:cs typeface="Urbanist"/>
                <a:sym typeface="Urbanist"/>
              </a:rPr>
              <a:t> րոպե պարբերությամբ։</a:t>
            </a:r>
            <a:endParaRPr sz="1600">
              <a:latin typeface="Urbanist"/>
              <a:ea typeface="Urbanist"/>
              <a:cs typeface="Urbanist"/>
              <a:sym typeface="Urbanist"/>
            </a:endParaRPr>
          </a:p>
          <a:p>
            <a:pPr indent="-330200" lvl="0" marL="457200" rtl="0" algn="l">
              <a:lnSpc>
                <a:spcPct val="115000"/>
              </a:lnSpc>
              <a:spcBef>
                <a:spcPts val="1000"/>
              </a:spcBef>
              <a:spcAft>
                <a:spcPts val="1000"/>
              </a:spcAft>
              <a:buSzPts val="1600"/>
              <a:buFont typeface="Urbanist"/>
              <a:buAutoNum type="arabicPeriod"/>
            </a:pPr>
            <a:r>
              <a:rPr lang="ru" sz="1600">
                <a:latin typeface="Urbanist"/>
                <a:ea typeface="Urbanist"/>
                <a:cs typeface="Urbanist"/>
                <a:sym typeface="Urbanist"/>
              </a:rPr>
              <a:t>Բացի ուսուցչից, տվյալները փոխանցվում են նաև </a:t>
            </a:r>
            <a:r>
              <a:rPr b="1" i="1" lang="ru" sz="1600">
                <a:latin typeface="Urbanist"/>
                <a:ea typeface="Urbanist"/>
                <a:cs typeface="Urbanist"/>
                <a:sym typeface="Urbanist"/>
              </a:rPr>
              <a:t>աշակերտների ծնողներին</a:t>
            </a:r>
            <a:r>
              <a:rPr lang="ru" sz="1600">
                <a:latin typeface="Urbanist"/>
                <a:ea typeface="Urbanist"/>
                <a:cs typeface="Urbanist"/>
                <a:sym typeface="Urbanist"/>
              </a:rPr>
              <a:t>, ովքեր կարող են ստուգել նրանց ստացած գնահատականները։</a:t>
            </a:r>
            <a:endParaRPr sz="1600">
              <a:latin typeface="Urbanist"/>
              <a:ea typeface="Urbanist"/>
              <a:cs typeface="Urbanist"/>
              <a:sym typeface="Urbanist"/>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Image" id="532" name="Google Shape;532;p8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533" name="Google Shape;533;p8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Մաս </a:t>
            </a:r>
            <a:r>
              <a:rPr lang="ru" sz="3000">
                <a:solidFill>
                  <a:srgbClr val="3A475A"/>
                </a:solidFill>
                <a:latin typeface="Urbanist ExtraBold"/>
                <a:ea typeface="Urbanist ExtraBold"/>
                <a:cs typeface="Urbanist ExtraBold"/>
                <a:sym typeface="Urbanist ExtraBold"/>
              </a:rPr>
              <a:t>2</a:t>
            </a:r>
            <a:endParaRPr b="0" i="0" sz="500" u="none" cap="none" strike="noStrike">
              <a:solidFill>
                <a:srgbClr val="000000"/>
              </a:solidFill>
              <a:latin typeface="Arial"/>
              <a:ea typeface="Arial"/>
              <a:cs typeface="Arial"/>
              <a:sym typeface="Arial"/>
            </a:endParaRPr>
          </a:p>
        </p:txBody>
      </p:sp>
      <p:sp>
        <p:nvSpPr>
          <p:cNvPr id="534" name="Google Shape;534;p81"/>
          <p:cNvSpPr txBox="1"/>
          <p:nvPr/>
        </p:nvSpPr>
        <p:spPr>
          <a:xfrm>
            <a:off x="152400" y="1676400"/>
            <a:ext cx="8486400" cy="336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666666"/>
                </a:solidFill>
                <a:latin typeface="Urbanist SemiBold"/>
                <a:ea typeface="Urbanist SemiBold"/>
                <a:cs typeface="Urbanist SemiBold"/>
                <a:sym typeface="Urbanist SemiBold"/>
              </a:rPr>
              <a:t>Յուրաքանչյուր պնդման դիմաց նշել ճիշտ է, թե՞ սխալ։</a:t>
            </a:r>
            <a:endParaRPr sz="1600">
              <a:solidFill>
                <a:srgbClr val="666666"/>
              </a:solidFill>
              <a:latin typeface="Urbanist SemiBold"/>
              <a:ea typeface="Urbanist SemiBold"/>
              <a:cs typeface="Urbanist SemiBold"/>
              <a:sym typeface="Urbanist SemiBold"/>
            </a:endParaRPr>
          </a:p>
          <a:p>
            <a:pPr indent="-330200" lvl="0" marL="457200"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Սարքերը տալիս են ամբողջական ինֆորմացիա աշակերտի ուշադրության մասին և ալգորիթմները, որոնց հիման վրա այն կանխատեսումներ է անում, բացահայտ են։ </a:t>
            </a:r>
            <a:endParaRPr sz="1600">
              <a:latin typeface="Urbanist"/>
              <a:ea typeface="Urbanist"/>
              <a:cs typeface="Urbanist"/>
              <a:sym typeface="Urbanist"/>
            </a:endParaRPr>
          </a:p>
          <a:p>
            <a:pPr indent="0" lvl="0" marL="457200" rtl="0" algn="l">
              <a:lnSpc>
                <a:spcPct val="115000"/>
              </a:lnSpc>
              <a:spcBef>
                <a:spcPts val="0"/>
              </a:spcBef>
              <a:spcAft>
                <a:spcPts val="0"/>
              </a:spcAft>
              <a:buNone/>
            </a:pPr>
            <a:r>
              <a:rPr i="1" lang="ru" sz="1600">
                <a:latin typeface="Urbanist SemiBold"/>
                <a:ea typeface="Urbanist SemiBold"/>
                <a:cs typeface="Urbanist SemiBold"/>
                <a:sym typeface="Urbanist SemiBold"/>
              </a:rPr>
              <a:t>Սխալ։ Ըստ տեսանյութի՝ պարզ չէ, թե սարքն ինչպես է աշխատում։</a:t>
            </a:r>
            <a:endParaRPr i="1" sz="1600">
              <a:latin typeface="Urbanist SemiBold"/>
              <a:ea typeface="Urbanist SemiBold"/>
              <a:cs typeface="Urbanist SemiBold"/>
              <a:sym typeface="Urbanist SemiBold"/>
            </a:endParaRPr>
          </a:p>
          <a:p>
            <a:pPr indent="-330200" lvl="0" marL="457200"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Կարմիր ազդանշանի առկայությունը խոսում է աշակերտի ցրվածության մասին։ </a:t>
            </a:r>
            <a:endParaRPr sz="1600">
              <a:latin typeface="Urbanist"/>
              <a:ea typeface="Urbanist"/>
              <a:cs typeface="Urbanist"/>
              <a:sym typeface="Urbanist"/>
            </a:endParaRPr>
          </a:p>
          <a:p>
            <a:pPr indent="0" lvl="0" marL="457200" rtl="0" algn="l">
              <a:lnSpc>
                <a:spcPct val="115000"/>
              </a:lnSpc>
              <a:spcBef>
                <a:spcPts val="0"/>
              </a:spcBef>
              <a:spcAft>
                <a:spcPts val="0"/>
              </a:spcAft>
              <a:buNone/>
            </a:pPr>
            <a:r>
              <a:rPr b="1" i="1" lang="ru" sz="1600">
                <a:latin typeface="Urbanist"/>
                <a:ea typeface="Urbanist"/>
                <a:cs typeface="Urbanist"/>
                <a:sym typeface="Urbanist"/>
              </a:rPr>
              <a:t>Սխալ։ Կարմիր գույնի առկայությունը ցույց է տալիս, որ աշակերտը բավականին կենտրոնացած է։</a:t>
            </a:r>
            <a:endParaRPr b="1" i="1" sz="1600">
              <a:latin typeface="Urbanist"/>
              <a:ea typeface="Urbanist"/>
              <a:cs typeface="Urbanist"/>
              <a:sym typeface="Urbanist"/>
            </a:endParaRPr>
          </a:p>
          <a:p>
            <a:pPr indent="-330200" lvl="0" marL="457200"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Նյարդաբան Թեոդոր Զանտոն նշում է, որ սարքի արդյունավետությունը ստուգող հետազոտություններն այդքան էլ շատ չեն։ </a:t>
            </a:r>
            <a:endParaRPr sz="1600">
              <a:latin typeface="Urbanist"/>
              <a:ea typeface="Urbanist"/>
              <a:cs typeface="Urbanist"/>
              <a:sym typeface="Urbanist"/>
            </a:endParaRPr>
          </a:p>
          <a:p>
            <a:pPr indent="0" lvl="0" marL="457200" rtl="0" algn="l">
              <a:lnSpc>
                <a:spcPct val="115000"/>
              </a:lnSpc>
              <a:spcBef>
                <a:spcPts val="0"/>
              </a:spcBef>
              <a:spcAft>
                <a:spcPts val="0"/>
              </a:spcAft>
              <a:buNone/>
            </a:pPr>
            <a:r>
              <a:rPr b="1" i="1" lang="ru" sz="1600">
                <a:latin typeface="Urbanist"/>
                <a:ea typeface="Urbanist"/>
                <a:cs typeface="Urbanist"/>
                <a:sym typeface="Urbanist"/>
              </a:rPr>
              <a:t>Ճիշտ։</a:t>
            </a:r>
            <a:endParaRPr b="1" i="1" sz="1800">
              <a:latin typeface="Urbanist"/>
              <a:ea typeface="Urbanist"/>
              <a:cs typeface="Urbanist"/>
              <a:sym typeface="Urbanist"/>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pic>
        <p:nvPicPr>
          <p:cNvPr descr="Image" id="539" name="Google Shape;539;p8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540" name="Google Shape;540;p8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Մաս </a:t>
            </a:r>
            <a:r>
              <a:rPr lang="ru" sz="3000">
                <a:solidFill>
                  <a:srgbClr val="3A475A"/>
                </a:solidFill>
                <a:latin typeface="Urbanist ExtraBold"/>
                <a:ea typeface="Urbanist ExtraBold"/>
                <a:cs typeface="Urbanist ExtraBold"/>
                <a:sym typeface="Urbanist ExtraBold"/>
              </a:rPr>
              <a:t>2</a:t>
            </a:r>
            <a:endParaRPr b="0" i="0" sz="500" u="none" cap="none" strike="noStrike">
              <a:solidFill>
                <a:srgbClr val="000000"/>
              </a:solidFill>
              <a:latin typeface="Arial"/>
              <a:ea typeface="Arial"/>
              <a:cs typeface="Arial"/>
              <a:sym typeface="Arial"/>
            </a:endParaRPr>
          </a:p>
        </p:txBody>
      </p:sp>
      <p:sp>
        <p:nvSpPr>
          <p:cNvPr id="541" name="Google Shape;541;p82"/>
          <p:cNvSpPr txBox="1"/>
          <p:nvPr/>
        </p:nvSpPr>
        <p:spPr>
          <a:xfrm>
            <a:off x="152400" y="1676400"/>
            <a:ext cx="8486400" cy="259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666666"/>
                </a:solidFill>
                <a:latin typeface="Urbanist SemiBold"/>
                <a:ea typeface="Urbanist SemiBold"/>
                <a:cs typeface="Urbanist SemiBold"/>
                <a:sym typeface="Urbanist SemiBold"/>
              </a:rPr>
              <a:t>Յուրաքանչյուր պնդման դիմաց նշել ճիշտ է, թե՞ սխալ։</a:t>
            </a:r>
            <a:endParaRPr/>
          </a:p>
          <a:p>
            <a:pPr indent="0" lvl="0" marL="0" rtl="0" algn="l">
              <a:lnSpc>
                <a:spcPct val="115000"/>
              </a:lnSpc>
              <a:spcBef>
                <a:spcPts val="1000"/>
              </a:spcBef>
              <a:spcAft>
                <a:spcPts val="0"/>
              </a:spcAft>
              <a:buClr>
                <a:schemeClr val="dk1"/>
              </a:buClr>
              <a:buSzPts val="1100"/>
              <a:buFont typeface="Arial"/>
              <a:buNone/>
            </a:pPr>
            <a:r>
              <a:rPr lang="ru" sz="1600">
                <a:latin typeface="Urbanist"/>
                <a:ea typeface="Urbanist"/>
                <a:cs typeface="Urbanist"/>
                <a:sym typeface="Urbanist"/>
              </a:rPr>
              <a:t>4.	Ըստ տեսանյութում նշված ինֆորմացիայի, սարքի հիմքում ընկած ELECTROENCEPHALOGRAPHY (EEG) -ն սովորաբար կիրառվում է բժշկական հաստատություններում և լաբորատորիաներում։ </a:t>
            </a:r>
            <a:endParaRPr sz="1600">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Font typeface="Arial"/>
              <a:buNone/>
            </a:pPr>
            <a:r>
              <a:rPr b="1" i="1" lang="ru" sz="1600">
                <a:latin typeface="Urbanist"/>
                <a:ea typeface="Urbanist"/>
                <a:cs typeface="Urbanist"/>
                <a:sym typeface="Urbanist"/>
              </a:rPr>
              <a:t>Ճիշտ։</a:t>
            </a:r>
            <a:endParaRPr b="1" i="1" sz="1600">
              <a:latin typeface="Urbanist"/>
              <a:ea typeface="Urbanist"/>
              <a:cs typeface="Urbanist"/>
              <a:sym typeface="Urbanist"/>
            </a:endParaRPr>
          </a:p>
          <a:p>
            <a:pPr indent="0" lvl="0" marL="0" rtl="0" algn="l">
              <a:spcBef>
                <a:spcPts val="1000"/>
              </a:spcBef>
              <a:spcAft>
                <a:spcPts val="0"/>
              </a:spcAft>
              <a:buNone/>
            </a:pPr>
            <a:r>
              <a:rPr lang="ru" sz="1600">
                <a:latin typeface="Urbanist"/>
                <a:ea typeface="Urbanist"/>
                <a:cs typeface="Urbanist"/>
                <a:sym typeface="Urbanist"/>
              </a:rPr>
              <a:t>5.	Չնայած սարքն աշխատում է անխափան, ուսուցիչները նշում են, որ աշակերտները չեն կարողանում կենտրոնանալ։ </a:t>
            </a:r>
            <a:endParaRPr sz="1600">
              <a:latin typeface="Urbanist"/>
              <a:ea typeface="Urbanist"/>
              <a:cs typeface="Urbanist"/>
              <a:sym typeface="Urbanist"/>
            </a:endParaRPr>
          </a:p>
          <a:p>
            <a:pPr indent="0" lvl="0" marL="0" rtl="0" algn="l">
              <a:spcBef>
                <a:spcPts val="0"/>
              </a:spcBef>
              <a:spcAft>
                <a:spcPts val="0"/>
              </a:spcAft>
              <a:buNone/>
            </a:pPr>
            <a:r>
              <a:rPr b="1" i="1" lang="ru" sz="1600">
                <a:latin typeface="Urbanist"/>
                <a:ea typeface="Urbanist"/>
                <a:cs typeface="Urbanist"/>
                <a:sym typeface="Urbanist"/>
              </a:rPr>
              <a:t>Սխալ։ Ուսուցիչները նշում են, որ աշակերտներն ավելի կարգապահ են դարձել։ </a:t>
            </a:r>
            <a:endParaRPr b="1" i="1" sz="1600">
              <a:latin typeface="Urbanist"/>
              <a:ea typeface="Urbanist"/>
              <a:cs typeface="Urbanist"/>
              <a:sym typeface="Urbanist"/>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pic>
        <p:nvPicPr>
          <p:cNvPr descr="Image" id="546" name="Google Shape;546;p83"/>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547" name="Google Shape;547;p83"/>
          <p:cNvSpPr txBox="1"/>
          <p:nvPr/>
        </p:nvSpPr>
        <p:spPr>
          <a:xfrm>
            <a:off x="337675" y="1923600"/>
            <a:ext cx="6892500" cy="15585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Clr>
                <a:schemeClr val="dk1"/>
              </a:buClr>
              <a:buSzPts val="1100"/>
              <a:buFont typeface="Arial"/>
              <a:buNone/>
            </a:pPr>
            <a:r>
              <a:rPr b="1" i="1" lang="ru" sz="3000">
                <a:solidFill>
                  <a:schemeClr val="dk2"/>
                </a:solidFill>
                <a:latin typeface="Urbanist"/>
                <a:ea typeface="Urbanist"/>
                <a:cs typeface="Urbanist"/>
                <a:sym typeface="Urbanist"/>
              </a:rPr>
              <a:t>Ի՞նչ էթիկական խնդիրներ կարող է առաջացնել տեսանյութում նշված կիրառությունը։</a:t>
            </a:r>
            <a:endParaRPr b="1" i="1" sz="3000">
              <a:solidFill>
                <a:schemeClr val="dk2"/>
              </a:solidFill>
              <a:latin typeface="Urbanist"/>
              <a:ea typeface="Urbanist"/>
              <a:cs typeface="Urbanist"/>
              <a:sym typeface="Urbanis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pic>
        <p:nvPicPr>
          <p:cNvPr descr="Image" id="552" name="Google Shape;552;p8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553" name="Google Shape;553;p84"/>
          <p:cNvSpPr txBox="1"/>
          <p:nvPr/>
        </p:nvSpPr>
        <p:spPr>
          <a:xfrm>
            <a:off x="476246" y="282675"/>
            <a:ext cx="8162400" cy="9582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Հնարավոր էթիկական խնդիրների օրինակներ</a:t>
            </a:r>
            <a:endParaRPr b="0" i="0" sz="500" u="none" cap="none" strike="noStrike">
              <a:solidFill>
                <a:srgbClr val="000000"/>
              </a:solidFill>
              <a:latin typeface="Arial"/>
              <a:ea typeface="Arial"/>
              <a:cs typeface="Arial"/>
              <a:sym typeface="Arial"/>
            </a:endParaRPr>
          </a:p>
        </p:txBody>
      </p:sp>
      <p:sp>
        <p:nvSpPr>
          <p:cNvPr id="554" name="Google Shape;554;p84"/>
          <p:cNvSpPr txBox="1"/>
          <p:nvPr/>
        </p:nvSpPr>
        <p:spPr>
          <a:xfrm>
            <a:off x="152400" y="1676400"/>
            <a:ext cx="8486400" cy="2055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rgbClr val="FDC672"/>
              </a:buClr>
              <a:buSzPts val="1800"/>
              <a:buFont typeface="Urbanist"/>
              <a:buChar char="●"/>
            </a:pPr>
            <a:r>
              <a:rPr lang="ru" sz="1800">
                <a:solidFill>
                  <a:schemeClr val="dk1"/>
                </a:solidFill>
                <a:latin typeface="Urbanist"/>
                <a:ea typeface="Urbanist"/>
                <a:cs typeface="Urbanist"/>
                <a:sym typeface="Urbanist"/>
              </a:rPr>
              <a:t>Մշտական վերահսկողությունը կարող է հանգեցնել անհանգստության և սթրեսի, ինչը բացասաբար է ազդում ուսման որակի վրա:</a:t>
            </a:r>
            <a:endParaRPr sz="1800">
              <a:solidFill>
                <a:schemeClr val="dk1"/>
              </a:solidFill>
              <a:latin typeface="Urbanist"/>
              <a:ea typeface="Urbanist"/>
              <a:cs typeface="Urbanist"/>
              <a:sym typeface="Urbanist"/>
            </a:endParaRPr>
          </a:p>
          <a:p>
            <a:pPr indent="-342900" lvl="0" marL="457200" rtl="0" algn="l">
              <a:lnSpc>
                <a:spcPct val="115000"/>
              </a:lnSpc>
              <a:spcBef>
                <a:spcPts val="0"/>
              </a:spcBef>
              <a:spcAft>
                <a:spcPts val="0"/>
              </a:spcAft>
              <a:buClr>
                <a:srgbClr val="FDC672"/>
              </a:buClr>
              <a:buSzPts val="1800"/>
              <a:buFont typeface="Urbanist"/>
              <a:buChar char="●"/>
            </a:pPr>
            <a:r>
              <a:rPr lang="ru" sz="1800">
                <a:solidFill>
                  <a:schemeClr val="dk1"/>
                </a:solidFill>
                <a:latin typeface="Urbanist"/>
                <a:ea typeface="Urbanist"/>
                <a:cs typeface="Urbanist"/>
                <a:sym typeface="Urbanist"/>
              </a:rPr>
              <a:t>ԱԲ ալգորիթմները կարող են սխալ կերպով գնահատել պահվածքը՝ հիմնված սեռի, ազգության կամ հաշմանդամության վրա:</a:t>
            </a:r>
            <a:endParaRPr sz="1800">
              <a:solidFill>
                <a:schemeClr val="dk1"/>
              </a:solidFill>
              <a:latin typeface="Urbanist"/>
              <a:ea typeface="Urbanist"/>
              <a:cs typeface="Urbanist"/>
              <a:sym typeface="Urbanist"/>
            </a:endParaRPr>
          </a:p>
          <a:p>
            <a:pPr indent="-342900" lvl="0" marL="457200" rtl="0" algn="l">
              <a:lnSpc>
                <a:spcPct val="115000"/>
              </a:lnSpc>
              <a:spcBef>
                <a:spcPts val="0"/>
              </a:spcBef>
              <a:spcAft>
                <a:spcPts val="0"/>
              </a:spcAft>
              <a:buClr>
                <a:srgbClr val="FDC672"/>
              </a:buClr>
              <a:buSzPts val="1800"/>
              <a:buFont typeface="Urbanist"/>
              <a:buChar char="●"/>
            </a:pPr>
            <a:r>
              <a:rPr lang="ru" sz="1800">
                <a:solidFill>
                  <a:schemeClr val="dk1"/>
                </a:solidFill>
                <a:latin typeface="Urbanist"/>
                <a:ea typeface="Urbanist"/>
                <a:cs typeface="Urbanist"/>
                <a:sym typeface="Urbanist"/>
              </a:rPr>
              <a:t>Ուսանողների վրա մշտական հսկողությունը կարող է խանգարել նրանց ինքնուրույնության և ազատ ընտրության զարգացմանը: </a:t>
            </a:r>
            <a:endParaRPr sz="1800">
              <a:solidFill>
                <a:schemeClr val="dk1"/>
              </a:solidFill>
              <a:latin typeface="Urbanist"/>
              <a:ea typeface="Urbanist"/>
              <a:cs typeface="Urbanist"/>
              <a:sym typeface="Urbanist"/>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558" name="Shape 558"/>
        <p:cNvGrpSpPr/>
        <p:nvPr/>
      </p:nvGrpSpPr>
      <p:grpSpPr>
        <a:xfrm>
          <a:off x="0" y="0"/>
          <a:ext cx="0" cy="0"/>
          <a:chOff x="0" y="0"/>
          <a:chExt cx="0" cy="0"/>
        </a:xfrm>
      </p:grpSpPr>
      <p:pic>
        <p:nvPicPr>
          <p:cNvPr descr="Image" id="559" name="Google Shape;559;p85"/>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560" name="Google Shape;560;p85"/>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Խմբային </a:t>
            </a:r>
            <a:r>
              <a:rPr lang="ru" sz="3000">
                <a:solidFill>
                  <a:srgbClr val="FFFFFF"/>
                </a:solidFill>
                <a:latin typeface="Urbanist ExtraBold"/>
                <a:ea typeface="Urbanist ExtraBold"/>
                <a:cs typeface="Urbanist ExtraBold"/>
                <a:sym typeface="Urbanist ExtraBold"/>
              </a:rPr>
              <a:t>աշխատանք</a:t>
            </a:r>
            <a:endParaRPr b="0" i="0" sz="500" u="none" cap="none" strike="noStrike">
              <a:solidFill>
                <a:srgbClr val="000000"/>
              </a:solidFill>
              <a:latin typeface="Arial"/>
              <a:ea typeface="Arial"/>
              <a:cs typeface="Arial"/>
              <a:sym typeface="Arial"/>
            </a:endParaRPr>
          </a:p>
        </p:txBody>
      </p:sp>
      <p:sp>
        <p:nvSpPr>
          <p:cNvPr id="561" name="Google Shape;561;p85"/>
          <p:cNvSpPr txBox="1"/>
          <p:nvPr/>
        </p:nvSpPr>
        <p:spPr>
          <a:xfrm>
            <a:off x="949400" y="1114425"/>
            <a:ext cx="7313700" cy="21615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0" lvl="0" marL="0" rtl="0" algn="l">
              <a:lnSpc>
                <a:spcPct val="115000"/>
              </a:lnSpc>
              <a:spcBef>
                <a:spcPts val="1000"/>
              </a:spcBef>
              <a:spcAft>
                <a:spcPts val="0"/>
              </a:spcAft>
              <a:buNone/>
            </a:pPr>
            <a:r>
              <a:rPr lang="ru" sz="1800">
                <a:latin typeface="Urbanist"/>
                <a:ea typeface="Urbanist"/>
                <a:cs typeface="Urbanist"/>
                <a:sym typeface="Urbanist"/>
              </a:rPr>
              <a:t>Կազմե՛ք 4 - 5 հոգանոց խմբեր և ընտրելով տեղական կամ միջազգային մակարդակներից որևիցե մեկը, պատրաստե՛ք 3 - 5 րոպեանոց ներկայացում՝ սահիկաշարի միջոցով։</a:t>
            </a:r>
            <a:endParaRPr sz="1800">
              <a:latin typeface="Urbanist"/>
              <a:ea typeface="Urbanist"/>
              <a:cs typeface="Urbanist"/>
              <a:sym typeface="Urbanist"/>
            </a:endParaRPr>
          </a:p>
          <a:p>
            <a:pPr indent="0" lvl="0" marL="0" rtl="0" algn="l">
              <a:lnSpc>
                <a:spcPct val="115000"/>
              </a:lnSpc>
              <a:spcBef>
                <a:spcPts val="1000"/>
              </a:spcBef>
              <a:spcAft>
                <a:spcPts val="1000"/>
              </a:spcAft>
              <a:buNone/>
            </a:pPr>
            <a:r>
              <a:rPr lang="ru" sz="1800">
                <a:latin typeface="Urbanist"/>
                <a:ea typeface="Urbanist"/>
                <a:cs typeface="Urbanist"/>
                <a:sym typeface="Urbanist"/>
              </a:rPr>
              <a:t>Աշխատանքն առավել բովանդակ դարձնելու նպատակով օգտվեք հետևյալ </a:t>
            </a:r>
            <a:r>
              <a:rPr lang="ru" sz="1800" u="sng">
                <a:solidFill>
                  <a:schemeClr val="hlink"/>
                </a:solidFill>
                <a:latin typeface="Urbanist"/>
                <a:ea typeface="Urbanist"/>
                <a:cs typeface="Urbanist"/>
                <a:sym typeface="Urbanist"/>
                <a:hlinkClick r:id="rId4"/>
              </a:rPr>
              <a:t>հղմամբ</a:t>
            </a:r>
            <a:r>
              <a:rPr lang="ru" sz="1800">
                <a:latin typeface="Urbanist"/>
                <a:ea typeface="Urbanist"/>
                <a:cs typeface="Urbanist"/>
                <a:sym typeface="Urbanist"/>
              </a:rPr>
              <a:t> հասանելի ֆայլից։</a:t>
            </a:r>
            <a:endParaRPr sz="1600">
              <a:solidFill>
                <a:schemeClr val="dk1"/>
              </a:solidFill>
              <a:latin typeface="Urbanist"/>
              <a:ea typeface="Urbanist"/>
              <a:cs typeface="Urbanist"/>
              <a:sym typeface="Urbanis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565" name="Shape 565"/>
        <p:cNvGrpSpPr/>
        <p:nvPr/>
      </p:nvGrpSpPr>
      <p:grpSpPr>
        <a:xfrm>
          <a:off x="0" y="0"/>
          <a:ext cx="0" cy="0"/>
          <a:chOff x="0" y="0"/>
          <a:chExt cx="0" cy="0"/>
        </a:xfrm>
      </p:grpSpPr>
      <p:pic>
        <p:nvPicPr>
          <p:cNvPr descr="Image" id="566" name="Google Shape;566;p86"/>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567" name="Google Shape;567;p86"/>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568" name="Google Shape;568;p86"/>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descr="Image" id="573" name="Google Shape;573;p8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574" name="Google Shape;574;p87"/>
          <p:cNvSpPr txBox="1"/>
          <p:nvPr/>
        </p:nvSpPr>
        <p:spPr>
          <a:xfrm>
            <a:off x="476246" y="282675"/>
            <a:ext cx="8162400" cy="9273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Թեմա 5. ԱԲ -ի հնարավորությունները տեղական և միջազգային մակարդակներում - 1</a:t>
            </a:r>
            <a:endParaRPr b="0" i="0" sz="400" u="none" cap="none" strike="noStrike">
              <a:solidFill>
                <a:srgbClr val="000000"/>
              </a:solidFill>
              <a:latin typeface="Arial"/>
              <a:ea typeface="Arial"/>
              <a:cs typeface="Arial"/>
              <a:sym typeface="Arial"/>
            </a:endParaRPr>
          </a:p>
        </p:txBody>
      </p:sp>
      <p:sp>
        <p:nvSpPr>
          <p:cNvPr id="575" name="Google Shape;575;p87"/>
          <p:cNvSpPr txBox="1"/>
          <p:nvPr/>
        </p:nvSpPr>
        <p:spPr>
          <a:xfrm>
            <a:off x="490525" y="1383600"/>
            <a:ext cx="8162400" cy="22101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Նշել ԱԲ-ի հետ կապված հնարավոր ռիսկեր և մարտահրավերներ</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Քննարկել էթիկական հարցեր՝ անձնական տվյալներ, կողմնակալություն, մարդու փոխարինելիություն</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Առաջարկել պատասխանատու օգտագործման գաղափարներ կամ սկզբունքներ</a:t>
            </a:r>
            <a:endParaRPr sz="1600">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Մշակել սեփական կարծիք՝ հիմնված փաստերի ու քննարկման վրա</a:t>
            </a:r>
            <a:endParaRPr sz="1800">
              <a:latin typeface="Urbanist"/>
              <a:ea typeface="Urbanist"/>
              <a:cs typeface="Urbanist"/>
              <a:sym typeface="Urbanist"/>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pic>
        <p:nvPicPr>
          <p:cNvPr descr="Image" id="580" name="Google Shape;580;p88"/>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581" name="Google Shape;581;p88"/>
          <p:cNvSpPr txBox="1"/>
          <p:nvPr/>
        </p:nvSpPr>
        <p:spPr>
          <a:xfrm>
            <a:off x="337675" y="1923600"/>
            <a:ext cx="6892500" cy="1050600"/>
          </a:xfrm>
          <a:prstGeom prst="rect">
            <a:avLst/>
          </a:prstGeom>
          <a:noFill/>
          <a:ln>
            <a:noFill/>
          </a:ln>
        </p:spPr>
        <p:txBody>
          <a:bodyPr anchorCtr="0" anchor="t" bIns="17150" lIns="17150" spcFirstLastPara="1" rIns="17150" wrap="square" tIns="17150">
            <a:spAutoFit/>
          </a:bodyPr>
          <a:lstStyle/>
          <a:p>
            <a:pPr indent="0" lvl="0" marL="0" marR="381000" rtl="0" algn="l">
              <a:lnSpc>
                <a:spcPct val="120000"/>
              </a:lnSpc>
              <a:spcBef>
                <a:spcPts val="0"/>
              </a:spcBef>
              <a:spcAft>
                <a:spcPts val="0"/>
              </a:spcAft>
              <a:buClr>
                <a:schemeClr val="dk1"/>
              </a:buClr>
              <a:buSzPts val="1100"/>
              <a:buFont typeface="Arial"/>
              <a:buNone/>
            </a:pPr>
            <a:r>
              <a:rPr b="1" i="1" lang="ru" sz="3000">
                <a:solidFill>
                  <a:schemeClr val="dk2"/>
                </a:solidFill>
                <a:latin typeface="Urbanist"/>
                <a:ea typeface="Urbanist"/>
                <a:cs typeface="Urbanist"/>
                <a:sym typeface="Urbanist"/>
              </a:rPr>
              <a:t>Ի՞նչ կլինի եթե ԱԲ-ն որոշի՝ ով է արժանի աշխատատեղ ունենալուն։</a:t>
            </a:r>
            <a:endParaRPr i="1" sz="3000">
              <a:solidFill>
                <a:schemeClr val="dk2"/>
              </a:solidFill>
              <a:latin typeface="Urbanist ExtraBold"/>
              <a:ea typeface="Urbanist ExtraBold"/>
              <a:cs typeface="Urbanist ExtraBold"/>
              <a:sym typeface="Urbanist ExtraBo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descr="Image" id="586" name="Google Shape;586;p89"/>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587" name="Google Shape;587;p89"/>
          <p:cNvSpPr txBox="1"/>
          <p:nvPr/>
        </p:nvSpPr>
        <p:spPr>
          <a:xfrm>
            <a:off x="337675" y="1923600"/>
            <a:ext cx="6892500" cy="1050600"/>
          </a:xfrm>
          <a:prstGeom prst="rect">
            <a:avLst/>
          </a:prstGeom>
          <a:noFill/>
          <a:ln>
            <a:noFill/>
          </a:ln>
        </p:spPr>
        <p:txBody>
          <a:bodyPr anchorCtr="0" anchor="t" bIns="17150" lIns="17150" spcFirstLastPara="1" rIns="17150" wrap="square" tIns="17150">
            <a:spAutoFit/>
          </a:bodyPr>
          <a:lstStyle/>
          <a:p>
            <a:pPr indent="0" lvl="0" marL="0" marR="381000" rtl="0" algn="l">
              <a:lnSpc>
                <a:spcPct val="120000"/>
              </a:lnSpc>
              <a:spcBef>
                <a:spcPts val="0"/>
              </a:spcBef>
              <a:spcAft>
                <a:spcPts val="0"/>
              </a:spcAft>
              <a:buClr>
                <a:schemeClr val="dk1"/>
              </a:buClr>
              <a:buSzPts val="1100"/>
              <a:buFont typeface="Arial"/>
              <a:buNone/>
            </a:pPr>
            <a:r>
              <a:rPr b="1" i="1" lang="ru" sz="3000">
                <a:solidFill>
                  <a:schemeClr val="dk2"/>
                </a:solidFill>
                <a:latin typeface="Urbanist"/>
                <a:ea typeface="Urbanist"/>
                <a:cs typeface="Urbanist"/>
                <a:sym typeface="Urbanist"/>
              </a:rPr>
              <a:t>Կարո՞ղ է ԱԲ-ն արդար որոշումներ ընդունել։</a:t>
            </a:r>
            <a:endParaRPr i="1" sz="3000">
              <a:solidFill>
                <a:schemeClr val="dk2"/>
              </a:solidFill>
              <a:latin typeface="Urbanist ExtraBold"/>
              <a:ea typeface="Urbanist ExtraBold"/>
              <a:cs typeface="Urbanist ExtraBold"/>
              <a:sym typeface="Urbanist ExtraBo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591" name="Shape 591"/>
        <p:cNvGrpSpPr/>
        <p:nvPr/>
      </p:nvGrpSpPr>
      <p:grpSpPr>
        <a:xfrm>
          <a:off x="0" y="0"/>
          <a:ext cx="0" cy="0"/>
          <a:chOff x="0" y="0"/>
          <a:chExt cx="0" cy="0"/>
        </a:xfrm>
      </p:grpSpPr>
      <p:pic>
        <p:nvPicPr>
          <p:cNvPr descr="Image" id="592" name="Google Shape;592;p90"/>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593" name="Google Shape;593;p90"/>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Խմբային աշխատանք</a:t>
            </a:r>
            <a:endParaRPr b="0" i="0" sz="500" u="none" cap="none" strike="noStrike">
              <a:solidFill>
                <a:srgbClr val="000000"/>
              </a:solidFill>
              <a:latin typeface="Arial"/>
              <a:ea typeface="Arial"/>
              <a:cs typeface="Arial"/>
              <a:sym typeface="Arial"/>
            </a:endParaRPr>
          </a:p>
        </p:txBody>
      </p:sp>
      <p:sp>
        <p:nvSpPr>
          <p:cNvPr id="594" name="Google Shape;594;p90"/>
          <p:cNvSpPr txBox="1"/>
          <p:nvPr/>
        </p:nvSpPr>
        <p:spPr>
          <a:xfrm>
            <a:off x="949400" y="1114425"/>
            <a:ext cx="7313700" cy="26082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0" lvl="0" marL="0" rtl="0" algn="l">
              <a:lnSpc>
                <a:spcPct val="115000"/>
              </a:lnSpc>
              <a:spcBef>
                <a:spcPts val="1000"/>
              </a:spcBef>
              <a:spcAft>
                <a:spcPts val="0"/>
              </a:spcAft>
              <a:buNone/>
            </a:pPr>
            <a:r>
              <a:rPr lang="ru" sz="1800">
                <a:latin typeface="Urbanist"/>
                <a:ea typeface="Urbanist"/>
                <a:cs typeface="Urbanist"/>
                <a:sym typeface="Urbanist"/>
              </a:rPr>
              <a:t>Դիտե՛ք հաջորդ սահիկում ներառված տեսանյութը և կատարե՛ք հետևյալ </a:t>
            </a:r>
            <a:r>
              <a:rPr lang="ru" sz="1800" u="sng">
                <a:solidFill>
                  <a:schemeClr val="hlink"/>
                </a:solidFill>
                <a:latin typeface="Urbanist"/>
                <a:ea typeface="Urbanist"/>
                <a:cs typeface="Urbanist"/>
                <a:sym typeface="Urbanist"/>
                <a:hlinkClick r:id="rId4"/>
              </a:rPr>
              <a:t>հղմամբ</a:t>
            </a:r>
            <a:r>
              <a:rPr lang="ru" sz="1800">
                <a:latin typeface="Urbanist"/>
                <a:ea typeface="Urbanist"/>
                <a:cs typeface="Urbanist"/>
                <a:sym typeface="Urbanist"/>
              </a:rPr>
              <a:t> հասանելի առաջադրանքները։</a:t>
            </a:r>
            <a:endParaRPr sz="1800">
              <a:latin typeface="Urbanist"/>
              <a:ea typeface="Urbanist"/>
              <a:cs typeface="Urbanist"/>
              <a:sym typeface="Urbanist"/>
            </a:endParaRPr>
          </a:p>
          <a:p>
            <a:pPr indent="0" lvl="0" marL="0" rtl="0" algn="l">
              <a:lnSpc>
                <a:spcPct val="115000"/>
              </a:lnSpc>
              <a:spcBef>
                <a:spcPts val="1000"/>
              </a:spcBef>
              <a:spcAft>
                <a:spcPts val="0"/>
              </a:spcAft>
              <a:buNone/>
            </a:pPr>
            <a:r>
              <a:rPr b="1" lang="ru" sz="1800">
                <a:solidFill>
                  <a:srgbClr val="3A475A"/>
                </a:solidFill>
                <a:latin typeface="Urbanist"/>
                <a:ea typeface="Urbanist"/>
                <a:cs typeface="Urbanist"/>
                <a:sym typeface="Urbanist"/>
              </a:rPr>
              <a:t>Ցուցումներ՝</a:t>
            </a:r>
            <a:endParaRPr b="1" sz="1800">
              <a:solidFill>
                <a:srgbClr val="3A475A"/>
              </a:solidFill>
              <a:latin typeface="Urbanist"/>
              <a:ea typeface="Urbanist"/>
              <a:cs typeface="Urbanist"/>
              <a:sym typeface="Urbanist"/>
            </a:endParaRPr>
          </a:p>
          <a:p>
            <a:pPr indent="0" lvl="0" marL="0" rtl="0" algn="l">
              <a:lnSpc>
                <a:spcPct val="115000"/>
              </a:lnSpc>
              <a:spcBef>
                <a:spcPts val="1000"/>
              </a:spcBef>
              <a:spcAft>
                <a:spcPts val="0"/>
              </a:spcAft>
              <a:buClr>
                <a:schemeClr val="dk1"/>
              </a:buClr>
              <a:buSzPts val="1100"/>
              <a:buFont typeface="Arial"/>
              <a:buNone/>
            </a:pPr>
            <a:r>
              <a:rPr lang="ru" sz="1800">
                <a:latin typeface="Urbanist"/>
                <a:ea typeface="Urbanist"/>
                <a:cs typeface="Urbanist"/>
                <a:sym typeface="Urbanist"/>
              </a:rPr>
              <a:t>Առաջադրանքները հետևում են տեսանյութում առկա ինֆորմացիայի հաջորդականությանը, ուստի խորհուրդ է տրվում կատարել հաջորդաբար։</a:t>
            </a:r>
            <a:endParaRPr sz="1800">
              <a:latin typeface="Urbanist"/>
              <a:ea typeface="Urbanist"/>
              <a:cs typeface="Urbanist"/>
              <a:sym typeface="Urbanist"/>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pic>
        <p:nvPicPr>
          <p:cNvPr descr="It could learn them all. But will it?&#10;&#10;Subscribe and turn on notifications 🔔  so you don't miss any videos: http://goo.gl/0bsAjO &#10;&#10;Large language models are astonishingly good at understanding and producing language. But there’s an often overlooked bias toward languages that are already well-represented on the internet. That means some languages might lose out in AI’s big technical advances.&#10;&#10;Some researchers are looking into how that works — and how to possibly shift the balance from these “high resource” languages to ones that haven’t yet had a huge online footprint. These approaches range from original dataset creation, to studying the outputs of large language models, to training open source alternatives.&#10;&#10;Watch the video above to learn more.&#10;&#10;Further reading:&#10;https://ruth-ann.notion.site/ruth-ann/JamPatoisNLI-A-Jamaican-Patois-Natural-Language-Inference-Dataset-91523ec89af24bfdbcb9c1ec7e28cc3c&#10;&#10;This is the hub for Ruth-Ann Armstrong’s JamPatois NLI. You can see the dataset and read the paper.&#10;&#10;https://arxiv.org/search/cs?searchtype=author&amp;query=Melero%2C+M&#10;You can read Maite Melero’s work on Catalan here. &#10;&#10;https://huggingface.co/bigscience/bloom&#10;This is the Hugging Face home for BLOOM, the open source large language model.&#10;&#10;Make sure you never miss behind the scenes content in the Vox Video newsletter, sign up here: http://vox.com/video-newsletter&#10;&#10;Vox is an explanatory newsroom on a mission to help everyone understand our weird, wonderful, complicated world, so that we can all help shape it. Part of that mission is keeping our work free. &#10;You can help us do that by making a gift: http://www.vox.com/contribute-now&#10;&#10;Watch our full video catalog: http://goo.gl/IZONyE&#10;Follow Vox on TikTok: http://tiktok.com/@voxdotcom&#10;Check out our articles: https://www.vox.com/&#10;Listen to our podcasts: https://www.vox.com/podcasts" id="599" name="Google Shape;599;p91" title="Why AI doesn't speak every language">
            <a:hlinkClick r:id="rId3"/>
          </p:cNvPr>
          <p:cNvPicPr preferRelativeResize="0"/>
          <p:nvPr/>
        </p:nvPicPr>
        <p:blipFill>
          <a:blip r:embed="rId4">
            <a:alphaModFix/>
          </a:blip>
          <a:stretch>
            <a:fillRect/>
          </a:stretch>
        </p:blipFill>
        <p:spPr>
          <a:xfrm>
            <a:off x="1252250" y="1085200"/>
            <a:ext cx="6639500" cy="3734725"/>
          </a:xfrm>
          <a:prstGeom prst="rect">
            <a:avLst/>
          </a:prstGeom>
          <a:noFill/>
          <a:ln>
            <a:noFill/>
          </a:ln>
        </p:spPr>
      </p:pic>
      <p:pic>
        <p:nvPicPr>
          <p:cNvPr descr="Image" id="600" name="Google Shape;600;p91"/>
          <p:cNvPicPr preferRelativeResize="0"/>
          <p:nvPr/>
        </p:nvPicPr>
        <p:blipFill rotWithShape="1">
          <a:blip r:embed="rId5">
            <a:alphaModFix amt="83550"/>
          </a:blip>
          <a:srcRect b="0" l="25700" r="0" t="26367"/>
          <a:stretch/>
        </p:blipFill>
        <p:spPr>
          <a:xfrm>
            <a:off x="-11906" y="-9375"/>
            <a:ext cx="1683705" cy="1233313"/>
          </a:xfrm>
          <a:prstGeom prst="rect">
            <a:avLst/>
          </a:prstGeom>
          <a:noFill/>
          <a:ln>
            <a:noFill/>
          </a:ln>
        </p:spPr>
      </p:pic>
      <p:sp>
        <p:nvSpPr>
          <p:cNvPr id="601" name="Google Shape;601;p91"/>
          <p:cNvSpPr txBox="1"/>
          <p:nvPr/>
        </p:nvSpPr>
        <p:spPr>
          <a:xfrm>
            <a:off x="476246" y="282675"/>
            <a:ext cx="8162400" cy="4809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900">
                <a:solidFill>
                  <a:srgbClr val="3A475A"/>
                </a:solidFill>
                <a:latin typeface="Urbanist ExtraBold"/>
                <a:ea typeface="Urbanist ExtraBold"/>
                <a:cs typeface="Urbanist ExtraBold"/>
                <a:sym typeface="Urbanist ExtraBold"/>
              </a:rPr>
              <a:t>Ինչու՞ ԱԲ-ն չի տիրապետում բոլոր լեզուներին</a:t>
            </a:r>
            <a:endParaRPr b="0" i="0" sz="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1000"/>
                                        <p:tgtEl>
                                          <p:spTgt spid="5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pic>
        <p:nvPicPr>
          <p:cNvPr descr="Image" id="606" name="Google Shape;606;p9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07" name="Google Shape;607;p9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1</a:t>
            </a:r>
            <a:endParaRPr b="0" i="0" sz="500" u="none" cap="none" strike="noStrike">
              <a:solidFill>
                <a:srgbClr val="000000"/>
              </a:solidFill>
              <a:latin typeface="Arial"/>
              <a:ea typeface="Arial"/>
              <a:cs typeface="Arial"/>
              <a:sym typeface="Arial"/>
            </a:endParaRPr>
          </a:p>
        </p:txBody>
      </p:sp>
      <p:sp>
        <p:nvSpPr>
          <p:cNvPr id="608" name="Google Shape;608;p92"/>
          <p:cNvSpPr txBox="1"/>
          <p:nvPr/>
        </p:nvSpPr>
        <p:spPr>
          <a:xfrm>
            <a:off x="152400" y="1676400"/>
            <a:ext cx="8486400" cy="21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666666"/>
                </a:solidFill>
                <a:latin typeface="Urbanist SemiBold"/>
                <a:ea typeface="Urbanist SemiBold"/>
                <a:cs typeface="Urbanist SemiBold"/>
                <a:sym typeface="Urbanist SemiBold"/>
              </a:rPr>
              <a:t>Լրացնել բաց թողնված բառերն ու արտահայտությունները։</a:t>
            </a:r>
            <a:endParaRPr sz="1200">
              <a:solidFill>
                <a:schemeClr val="dk1"/>
              </a:solidFill>
            </a:endParaRPr>
          </a:p>
          <a:p>
            <a:pPr indent="-330200" lvl="0" marL="457200" rtl="0" algn="l">
              <a:lnSpc>
                <a:spcPct val="115000"/>
              </a:lnSpc>
              <a:spcBef>
                <a:spcPts val="1000"/>
              </a:spcBef>
              <a:spcAft>
                <a:spcPts val="0"/>
              </a:spcAft>
              <a:buSzPts val="1600"/>
              <a:buFont typeface="Urbanist"/>
              <a:buAutoNum type="arabicPeriod"/>
            </a:pPr>
            <a:r>
              <a:rPr lang="ru" sz="1600">
                <a:latin typeface="Urbanist"/>
                <a:ea typeface="Urbanist"/>
                <a:cs typeface="Urbanist"/>
                <a:sym typeface="Urbanist"/>
              </a:rPr>
              <a:t>GPT-ն գործում է </a:t>
            </a:r>
            <a:r>
              <a:rPr b="1" i="1" lang="ru" sz="1600">
                <a:latin typeface="Urbanist"/>
                <a:ea typeface="Urbanist"/>
                <a:cs typeface="Urbanist"/>
                <a:sym typeface="Urbanist"/>
              </a:rPr>
              <a:t>գրադարանի </a:t>
            </a:r>
            <a:r>
              <a:rPr lang="ru" sz="1600">
                <a:latin typeface="Urbanist"/>
                <a:ea typeface="Urbanist"/>
                <a:cs typeface="Urbanist"/>
                <a:sym typeface="Urbanist"/>
              </a:rPr>
              <a:t>նմանությամբ, քանի որ սովորում է միայն այնտեղ հասանելի </a:t>
            </a:r>
            <a:r>
              <a:rPr b="1" i="1" lang="ru" sz="1600">
                <a:latin typeface="Urbanist"/>
                <a:ea typeface="Urbanist"/>
                <a:cs typeface="Urbanist"/>
                <a:sym typeface="Urbanist"/>
              </a:rPr>
              <a:t>գրքերի </a:t>
            </a:r>
            <a:r>
              <a:rPr lang="ru" sz="1600">
                <a:latin typeface="Urbanist"/>
                <a:ea typeface="Urbanist"/>
                <a:cs typeface="Urbanist"/>
                <a:sym typeface="Urbanist"/>
              </a:rPr>
              <a:t>բովանդակությունը։</a:t>
            </a:r>
            <a:endParaRPr sz="1600">
              <a:latin typeface="Urbanist"/>
              <a:ea typeface="Urbanist"/>
              <a:cs typeface="Urbanist"/>
              <a:sym typeface="Urbanist"/>
            </a:endParaRPr>
          </a:p>
          <a:p>
            <a:pPr indent="-330200" lvl="0" marL="457200" rtl="0" algn="l">
              <a:lnSpc>
                <a:spcPct val="115000"/>
              </a:lnSpc>
              <a:spcBef>
                <a:spcPts val="1000"/>
              </a:spcBef>
              <a:spcAft>
                <a:spcPts val="1000"/>
              </a:spcAft>
              <a:buSzPts val="1600"/>
              <a:buFont typeface="Urbanist"/>
              <a:buAutoNum type="arabicPeriod"/>
            </a:pPr>
            <a:r>
              <a:rPr lang="ru" sz="1600">
                <a:latin typeface="Urbanist"/>
                <a:ea typeface="Urbanist"/>
                <a:cs typeface="Urbanist"/>
                <a:sym typeface="Urbanist"/>
              </a:rPr>
              <a:t>GPT-ն կարող է օգտագործել գիտելիքները </a:t>
            </a:r>
            <a:r>
              <a:rPr b="1" i="1" lang="ru" sz="1600">
                <a:latin typeface="Urbanist"/>
                <a:ea typeface="Urbanist"/>
                <a:cs typeface="Urbanist"/>
                <a:sym typeface="Urbanist"/>
              </a:rPr>
              <a:t>զգացմունքներ ճանաչելու</a:t>
            </a:r>
            <a:r>
              <a:rPr lang="ru" sz="1600">
                <a:latin typeface="Urbanist"/>
                <a:ea typeface="Urbanist"/>
                <a:cs typeface="Urbanist"/>
                <a:sym typeface="Urbanist"/>
              </a:rPr>
              <a:t>, </a:t>
            </a:r>
            <a:r>
              <a:rPr b="1" i="1" lang="ru" sz="1600">
                <a:latin typeface="Urbanist"/>
                <a:ea typeface="Urbanist"/>
                <a:cs typeface="Urbanist"/>
                <a:sym typeface="Urbanist"/>
              </a:rPr>
              <a:t>թեման ամփոփելու</a:t>
            </a:r>
            <a:r>
              <a:rPr lang="ru" sz="1600">
                <a:latin typeface="Urbanist"/>
                <a:ea typeface="Urbanist"/>
                <a:cs typeface="Urbanist"/>
                <a:sym typeface="Urbanist"/>
              </a:rPr>
              <a:t>, </a:t>
            </a:r>
            <a:r>
              <a:rPr b="1" i="1" lang="ru" sz="1600">
                <a:latin typeface="Urbanist"/>
                <a:ea typeface="Urbanist"/>
                <a:cs typeface="Urbanist"/>
                <a:sym typeface="Urbanist"/>
              </a:rPr>
              <a:t>թարգմանելու </a:t>
            </a:r>
            <a:r>
              <a:rPr lang="ru" sz="1600">
                <a:latin typeface="Urbanist"/>
                <a:ea typeface="Urbanist"/>
                <a:cs typeface="Urbanist"/>
                <a:sym typeface="Urbanist"/>
              </a:rPr>
              <a:t>և </a:t>
            </a:r>
            <a:r>
              <a:rPr b="1" i="1" lang="ru" sz="1600">
                <a:latin typeface="Urbanist"/>
                <a:ea typeface="Urbanist"/>
                <a:cs typeface="Urbanist"/>
                <a:sym typeface="Urbanist"/>
              </a:rPr>
              <a:t>պատասխաններ կամ առաջարկություններ</a:t>
            </a:r>
            <a:r>
              <a:rPr lang="ru" sz="1600">
                <a:latin typeface="Urbanist"/>
                <a:ea typeface="Urbanist"/>
                <a:cs typeface="Urbanist"/>
                <a:sym typeface="Urbanist"/>
              </a:rPr>
              <a:t> </a:t>
            </a:r>
            <a:r>
              <a:rPr b="1" i="1" lang="ru" sz="1600">
                <a:latin typeface="Urbanist"/>
                <a:ea typeface="Urbanist"/>
                <a:cs typeface="Urbanist"/>
                <a:sym typeface="Urbanist"/>
              </a:rPr>
              <a:t>անելու </a:t>
            </a:r>
            <a:r>
              <a:rPr lang="ru" sz="1600">
                <a:latin typeface="Urbanist"/>
                <a:ea typeface="Urbanist"/>
                <a:cs typeface="Urbanist"/>
                <a:sym typeface="Urbanist"/>
              </a:rPr>
              <a:t>համար։ </a:t>
            </a:r>
            <a:endParaRPr sz="1800">
              <a:latin typeface="Urbanist"/>
              <a:ea typeface="Urbanist"/>
              <a:cs typeface="Urbanist"/>
              <a:sym typeface="Urbanist"/>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pic>
        <p:nvPicPr>
          <p:cNvPr descr="Image" id="613" name="Google Shape;613;p9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14" name="Google Shape;614;p9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1</a:t>
            </a:r>
            <a:endParaRPr b="0" i="0" sz="500" u="none" cap="none" strike="noStrike">
              <a:solidFill>
                <a:srgbClr val="000000"/>
              </a:solidFill>
              <a:latin typeface="Arial"/>
              <a:ea typeface="Arial"/>
              <a:cs typeface="Arial"/>
              <a:sym typeface="Arial"/>
            </a:endParaRPr>
          </a:p>
        </p:txBody>
      </p:sp>
      <p:sp>
        <p:nvSpPr>
          <p:cNvPr id="615" name="Google Shape;615;p93"/>
          <p:cNvSpPr txBox="1"/>
          <p:nvPr/>
        </p:nvSpPr>
        <p:spPr>
          <a:xfrm>
            <a:off x="152400" y="1676400"/>
            <a:ext cx="8486400" cy="308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666666"/>
                </a:solidFill>
                <a:latin typeface="Urbanist SemiBold"/>
                <a:ea typeface="Urbanist SemiBold"/>
                <a:cs typeface="Urbanist SemiBold"/>
                <a:sym typeface="Urbanist SemiBold"/>
              </a:rPr>
              <a:t>Լրացնել բաց թողնված բառերն ու արտահայտությունները։</a:t>
            </a:r>
            <a:endParaRPr sz="1200">
              <a:solidFill>
                <a:schemeClr val="dk1"/>
              </a:solidFill>
            </a:endParaRPr>
          </a:p>
          <a:p>
            <a:pPr indent="0" lvl="0" marL="0" rtl="0" algn="l">
              <a:lnSpc>
                <a:spcPct val="115000"/>
              </a:lnSpc>
              <a:spcBef>
                <a:spcPts val="1000"/>
              </a:spcBef>
              <a:spcAft>
                <a:spcPts val="0"/>
              </a:spcAft>
              <a:buNone/>
            </a:pPr>
            <a:r>
              <a:rPr lang="ru" sz="1600">
                <a:latin typeface="Urbanist"/>
                <a:ea typeface="Urbanist"/>
                <a:cs typeface="Urbanist"/>
                <a:sym typeface="Urbanist"/>
              </a:rPr>
              <a:t>3.	Աշխարհում գործածվող 7000 լեզուներից միայն 20-ն են Բնական Լեզվի Մշակման (NLP) հետազոտությունների առարկան։</a:t>
            </a:r>
            <a:endParaRPr sz="1600">
              <a:latin typeface="Urbanist"/>
              <a:ea typeface="Urbanist"/>
              <a:cs typeface="Urbanist"/>
              <a:sym typeface="Urbanist"/>
            </a:endParaRPr>
          </a:p>
          <a:p>
            <a:pPr indent="0" lvl="0" marL="0" rtl="0" algn="l">
              <a:lnSpc>
                <a:spcPct val="115000"/>
              </a:lnSpc>
              <a:spcBef>
                <a:spcPts val="1000"/>
              </a:spcBef>
              <a:spcAft>
                <a:spcPts val="0"/>
              </a:spcAft>
              <a:buNone/>
            </a:pPr>
            <a:r>
              <a:rPr lang="ru" sz="1600">
                <a:latin typeface="Urbanist"/>
                <a:ea typeface="Urbanist"/>
                <a:cs typeface="Urbanist"/>
                <a:sym typeface="Urbanist"/>
              </a:rPr>
              <a:t>4.	Անգլերեն, գերմաներեն, իսպաներեն, կատալոներեն բառերը կազմում են GPT-3 մոդելի ուսուցման տվյալների հետևյալ հարաբերակցությունները.</a:t>
            </a:r>
            <a:endParaRPr sz="1600">
              <a:latin typeface="Urbanist"/>
              <a:ea typeface="Urbanist"/>
              <a:cs typeface="Urbanist"/>
              <a:sym typeface="Urbanist"/>
            </a:endParaRPr>
          </a:p>
          <a:p>
            <a:pPr indent="-330200" lvl="0" marL="809999" rtl="0" algn="l">
              <a:lnSpc>
                <a:spcPct val="115000"/>
              </a:lnSpc>
              <a:spcBef>
                <a:spcPts val="1000"/>
              </a:spcBef>
              <a:spcAft>
                <a:spcPts val="0"/>
              </a:spcAft>
              <a:buClr>
                <a:srgbClr val="FDC672"/>
              </a:buClr>
              <a:buSzPts val="1600"/>
              <a:buFont typeface="Urbanist"/>
              <a:buChar char="●"/>
            </a:pPr>
            <a:r>
              <a:rPr b="1" lang="ru" sz="1600">
                <a:latin typeface="Urbanist"/>
                <a:ea typeface="Urbanist"/>
                <a:cs typeface="Urbanist"/>
                <a:sym typeface="Urbanist"/>
              </a:rPr>
              <a:t>Անգլերեն </a:t>
            </a:r>
            <a:r>
              <a:rPr lang="ru" sz="1600">
                <a:latin typeface="Urbanist"/>
                <a:ea typeface="Urbanist"/>
                <a:cs typeface="Urbanist"/>
                <a:sym typeface="Urbanist"/>
              </a:rPr>
              <a:t>ー 92%</a:t>
            </a:r>
            <a:endParaRPr sz="1600">
              <a:latin typeface="Urbanist"/>
              <a:ea typeface="Urbanist"/>
              <a:cs typeface="Urbanist"/>
              <a:sym typeface="Urbanist"/>
            </a:endParaRPr>
          </a:p>
          <a:p>
            <a:pPr indent="-330200" lvl="0" marL="809999" rtl="0" algn="l">
              <a:lnSpc>
                <a:spcPct val="115000"/>
              </a:lnSpc>
              <a:spcBef>
                <a:spcPts val="0"/>
              </a:spcBef>
              <a:spcAft>
                <a:spcPts val="0"/>
              </a:spcAft>
              <a:buClr>
                <a:srgbClr val="FDC672"/>
              </a:buClr>
              <a:buSzPts val="1600"/>
              <a:buFont typeface="Urbanist"/>
              <a:buChar char="●"/>
            </a:pPr>
            <a:r>
              <a:rPr b="1" lang="ru" sz="1600">
                <a:latin typeface="Urbanist"/>
                <a:ea typeface="Urbanist"/>
                <a:cs typeface="Urbanist"/>
                <a:sym typeface="Urbanist"/>
              </a:rPr>
              <a:t>Իսպաներեն </a:t>
            </a:r>
            <a:r>
              <a:rPr lang="ru" sz="1600">
                <a:latin typeface="Urbanist"/>
                <a:ea typeface="Urbanist"/>
                <a:cs typeface="Urbanist"/>
                <a:sym typeface="Urbanist"/>
              </a:rPr>
              <a:t>ー 0.7%</a:t>
            </a:r>
            <a:endParaRPr sz="1600">
              <a:latin typeface="Urbanist"/>
              <a:ea typeface="Urbanist"/>
              <a:cs typeface="Urbanist"/>
              <a:sym typeface="Urbanist"/>
            </a:endParaRPr>
          </a:p>
          <a:p>
            <a:pPr indent="-330200" lvl="0" marL="809999" rtl="0" algn="l">
              <a:lnSpc>
                <a:spcPct val="115000"/>
              </a:lnSpc>
              <a:spcBef>
                <a:spcPts val="0"/>
              </a:spcBef>
              <a:spcAft>
                <a:spcPts val="0"/>
              </a:spcAft>
              <a:buClr>
                <a:srgbClr val="FDC672"/>
              </a:buClr>
              <a:buSzPts val="1600"/>
              <a:buFont typeface="Urbanist"/>
              <a:buChar char="●"/>
            </a:pPr>
            <a:r>
              <a:rPr b="1" lang="ru" sz="1600">
                <a:latin typeface="Urbanist"/>
                <a:ea typeface="Urbanist"/>
                <a:cs typeface="Urbanist"/>
                <a:sym typeface="Urbanist"/>
              </a:rPr>
              <a:t>Կատալոներեն </a:t>
            </a:r>
            <a:r>
              <a:rPr lang="ru" sz="1600">
                <a:latin typeface="Urbanist"/>
                <a:ea typeface="Urbanist"/>
                <a:cs typeface="Urbanist"/>
                <a:sym typeface="Urbanist"/>
              </a:rPr>
              <a:t>ー 0.01%</a:t>
            </a:r>
            <a:endParaRPr sz="1600">
              <a:latin typeface="Urbanist"/>
              <a:ea typeface="Urbanist"/>
              <a:cs typeface="Urbanist"/>
              <a:sym typeface="Urbanist"/>
            </a:endParaRPr>
          </a:p>
          <a:p>
            <a:pPr indent="-330200" lvl="0" marL="809999" rtl="0" algn="l">
              <a:lnSpc>
                <a:spcPct val="115000"/>
              </a:lnSpc>
              <a:spcBef>
                <a:spcPts val="0"/>
              </a:spcBef>
              <a:spcAft>
                <a:spcPts val="0"/>
              </a:spcAft>
              <a:buClr>
                <a:srgbClr val="FDC672"/>
              </a:buClr>
              <a:buSzPts val="1600"/>
              <a:buFont typeface="Urbanist"/>
              <a:buChar char="●"/>
            </a:pPr>
            <a:r>
              <a:rPr b="1" lang="ru" sz="1600">
                <a:latin typeface="Urbanist"/>
                <a:ea typeface="Urbanist"/>
                <a:cs typeface="Urbanist"/>
                <a:sym typeface="Urbanist"/>
              </a:rPr>
              <a:t>Գերմաներեն </a:t>
            </a:r>
            <a:r>
              <a:rPr lang="ru" sz="1600">
                <a:latin typeface="Urbanist"/>
                <a:ea typeface="Urbanist"/>
                <a:cs typeface="Urbanist"/>
                <a:sym typeface="Urbanist"/>
              </a:rPr>
              <a:t>ー 1.4%</a:t>
            </a:r>
            <a:endParaRPr sz="1800">
              <a:latin typeface="Urbanist"/>
              <a:ea typeface="Urbanist"/>
              <a:cs typeface="Urbanist"/>
              <a:sym typeface="Urbanist"/>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pic>
        <p:nvPicPr>
          <p:cNvPr descr="Image" id="620" name="Google Shape;620;p9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21" name="Google Shape;621;p9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2</a:t>
            </a:r>
            <a:endParaRPr b="0" i="0" sz="500" u="none" cap="none" strike="noStrike">
              <a:solidFill>
                <a:srgbClr val="000000"/>
              </a:solidFill>
              <a:latin typeface="Arial"/>
              <a:ea typeface="Arial"/>
              <a:cs typeface="Arial"/>
              <a:sym typeface="Arial"/>
            </a:endParaRPr>
          </a:p>
        </p:txBody>
      </p:sp>
      <p:sp>
        <p:nvSpPr>
          <p:cNvPr id="622" name="Google Shape;622;p94"/>
          <p:cNvSpPr txBox="1"/>
          <p:nvPr/>
        </p:nvSpPr>
        <p:spPr>
          <a:xfrm>
            <a:off x="152400" y="1676400"/>
            <a:ext cx="8486400" cy="254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600">
                <a:solidFill>
                  <a:schemeClr val="dk2"/>
                </a:solidFill>
                <a:latin typeface="Urbanist SemiBold"/>
                <a:ea typeface="Urbanist SemiBold"/>
                <a:cs typeface="Urbanist SemiBold"/>
                <a:sym typeface="Urbanist SemiBold"/>
              </a:rPr>
              <a:t>Ստուգելու համար թե GPT-3-ը ինչքան սահուն է տիրապետում կատալոներենին, հետազոտողները ի՞նչ գործողություն կատարեցին։ Ըստ այդ հետազոտության, կարողանու՞մ էր արդյոք մեքենան տալ մարդանման պատասխաններ։</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Հետազոտողները վերցրեցին GPT-3-ով գեներացված կատալորեներեն երեք նախադասություն և երեք իրական նախադասություն։ Այնուհետև առաջարկեցին կատալոներենը որպես մայրենի լեզու տիրապետողներին տարբերակել, թե նշվածներից որոնք են գեներացված և որոնք՝ ոչ։ Մեքենայով գեներացված նախադասությունները մոտ էին մարդկայինին և բավականին բարդ էր տարբերակելը։</a:t>
            </a:r>
            <a:endParaRPr sz="2000">
              <a:latin typeface="Urbanist"/>
              <a:ea typeface="Urbanist"/>
              <a:cs typeface="Urbanist"/>
              <a:sym typeface="Urbanist"/>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pic>
        <p:nvPicPr>
          <p:cNvPr descr="Image" id="627" name="Google Shape;627;p9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28" name="Google Shape;628;p95"/>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2</a:t>
            </a:r>
            <a:endParaRPr b="0" i="0" sz="500" u="none" cap="none" strike="noStrike">
              <a:solidFill>
                <a:srgbClr val="000000"/>
              </a:solidFill>
              <a:latin typeface="Arial"/>
              <a:ea typeface="Arial"/>
              <a:cs typeface="Arial"/>
              <a:sym typeface="Arial"/>
            </a:endParaRPr>
          </a:p>
        </p:txBody>
      </p:sp>
      <p:sp>
        <p:nvSpPr>
          <p:cNvPr id="629" name="Google Shape;629;p95"/>
          <p:cNvSpPr txBox="1"/>
          <p:nvPr/>
        </p:nvSpPr>
        <p:spPr>
          <a:xfrm>
            <a:off x="152400" y="1676400"/>
            <a:ext cx="8486400" cy="140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600">
                <a:solidFill>
                  <a:schemeClr val="dk2"/>
                </a:solidFill>
                <a:latin typeface="Urbanist SemiBold"/>
                <a:ea typeface="Urbanist SemiBold"/>
                <a:cs typeface="Urbanist SemiBold"/>
                <a:sym typeface="Urbanist SemiBold"/>
              </a:rPr>
              <a:t>Որպեսզի մոդելը կարողանա ավելի լավ տիրապետել լեզվին, ի՞նչ մոտեցում է առաջարկվում ցուցաբերել։</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Առաջարկվում է մոդելին ուսուցանել միայն մեկ լեզու և գնահատել մոդելի կատարողականն այդ լեզվի վրա։</a:t>
            </a:r>
            <a:endParaRPr sz="2200">
              <a:latin typeface="Urbanist"/>
              <a:ea typeface="Urbanist"/>
              <a:cs typeface="Urbanist"/>
              <a:sym typeface="Urbanist"/>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pic>
        <p:nvPicPr>
          <p:cNvPr descr="Image" id="634" name="Google Shape;634;p9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35" name="Google Shape;635;p9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2</a:t>
            </a:r>
            <a:endParaRPr b="0" i="0" sz="500" u="none" cap="none" strike="noStrike">
              <a:solidFill>
                <a:srgbClr val="000000"/>
              </a:solidFill>
              <a:latin typeface="Arial"/>
              <a:ea typeface="Arial"/>
              <a:cs typeface="Arial"/>
              <a:sym typeface="Arial"/>
            </a:endParaRPr>
          </a:p>
        </p:txBody>
      </p:sp>
      <p:sp>
        <p:nvSpPr>
          <p:cNvPr id="636" name="Google Shape;636;p96"/>
          <p:cNvSpPr txBox="1"/>
          <p:nvPr/>
        </p:nvSpPr>
        <p:spPr>
          <a:xfrm>
            <a:off x="152400" y="1676400"/>
            <a:ext cx="8486400" cy="169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600">
                <a:solidFill>
                  <a:schemeClr val="dk2"/>
                </a:solidFill>
                <a:latin typeface="Urbanist SemiBold"/>
                <a:ea typeface="Urbanist SemiBold"/>
                <a:cs typeface="Urbanist SemiBold"/>
                <a:sym typeface="Urbanist SemiBold"/>
              </a:rPr>
              <a:t>Մոդելին քիչ օգտագործվող լեզուների ուսուցանման համար ի՞նչ մոտեցում է առաջարկվել իրականացնել Hugging-Face -ի համահիմնադիր Թոմաս Ուոլֆի կողմից։</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Նրանց թիմը որոշել էր համագործակցել այդ լեզուները որպես մայրենի լեզու տիրապետողների հետ, հարցնել ինչպես են նրանք տարբերակում լավ և վատ տվյալները, և թե որտեղից կարող են որակյալ տվյալներ գտնել։</a:t>
            </a:r>
            <a:endParaRPr sz="1600">
              <a:latin typeface="Urbanist"/>
              <a:ea typeface="Urbanist"/>
              <a:cs typeface="Urbanist"/>
              <a:sym typeface="Urbanist"/>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640" name="Shape 640"/>
        <p:cNvGrpSpPr/>
        <p:nvPr/>
      </p:nvGrpSpPr>
      <p:grpSpPr>
        <a:xfrm>
          <a:off x="0" y="0"/>
          <a:ext cx="0" cy="0"/>
          <a:chOff x="0" y="0"/>
          <a:chExt cx="0" cy="0"/>
        </a:xfrm>
      </p:grpSpPr>
      <p:pic>
        <p:nvPicPr>
          <p:cNvPr descr="Image" id="641" name="Google Shape;641;p97"/>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642" name="Google Shape;642;p97"/>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Խմբային աշխատանք</a:t>
            </a:r>
            <a:endParaRPr b="0" i="0" sz="500" u="none" cap="none" strike="noStrike">
              <a:solidFill>
                <a:srgbClr val="000000"/>
              </a:solidFill>
              <a:latin typeface="Arial"/>
              <a:ea typeface="Arial"/>
              <a:cs typeface="Arial"/>
              <a:sym typeface="Arial"/>
            </a:endParaRPr>
          </a:p>
        </p:txBody>
      </p:sp>
      <p:sp>
        <p:nvSpPr>
          <p:cNvPr id="643" name="Google Shape;643;p97"/>
          <p:cNvSpPr txBox="1"/>
          <p:nvPr/>
        </p:nvSpPr>
        <p:spPr>
          <a:xfrm>
            <a:off x="949400" y="1114425"/>
            <a:ext cx="7313700" cy="21615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0" lvl="0" marL="0" rtl="0" algn="l">
              <a:lnSpc>
                <a:spcPct val="115000"/>
              </a:lnSpc>
              <a:spcBef>
                <a:spcPts val="1000"/>
              </a:spcBef>
              <a:spcAft>
                <a:spcPts val="0"/>
              </a:spcAft>
              <a:buNone/>
            </a:pPr>
            <a:r>
              <a:rPr lang="ru" sz="1800">
                <a:latin typeface="Urbanist"/>
                <a:ea typeface="Urbanist"/>
                <a:cs typeface="Urbanist"/>
                <a:sym typeface="Urbanist"/>
              </a:rPr>
              <a:t>Բաժանվե՛ք 4 -հոգանոց խմբերի և դիտարկե՛ք հետևյալ </a:t>
            </a:r>
            <a:r>
              <a:rPr lang="ru" sz="1800" u="sng">
                <a:solidFill>
                  <a:schemeClr val="hlink"/>
                </a:solidFill>
                <a:latin typeface="Urbanist"/>
                <a:ea typeface="Urbanist"/>
                <a:cs typeface="Urbanist"/>
                <a:sym typeface="Urbanist"/>
                <a:hlinkClick r:id="rId4"/>
              </a:rPr>
              <a:t>հղմամբ</a:t>
            </a:r>
            <a:r>
              <a:rPr lang="ru" sz="1800">
                <a:latin typeface="Urbanist"/>
                <a:ea typeface="Urbanist"/>
                <a:cs typeface="Urbanist"/>
                <a:sym typeface="Urbanist"/>
              </a:rPr>
              <a:t> հասանելի ֆայլում նշված իրավիճակները որոնք վերաբերում են տեղական կամ միջազգային մակարդակներին։</a:t>
            </a:r>
            <a:endParaRPr sz="1800">
              <a:latin typeface="Urbanist"/>
              <a:ea typeface="Urbanist"/>
              <a:cs typeface="Urbanist"/>
              <a:sym typeface="Urbanist"/>
            </a:endParaRPr>
          </a:p>
          <a:p>
            <a:pPr indent="0" lvl="0" marL="0" rtl="0" algn="l">
              <a:lnSpc>
                <a:spcPct val="115000"/>
              </a:lnSpc>
              <a:spcBef>
                <a:spcPts val="1000"/>
              </a:spcBef>
              <a:spcAft>
                <a:spcPts val="1000"/>
              </a:spcAft>
              <a:buNone/>
            </a:pPr>
            <a:r>
              <a:rPr lang="ru" sz="1800">
                <a:latin typeface="Urbanist"/>
                <a:ea typeface="Urbanist"/>
                <a:cs typeface="Urbanist"/>
                <a:sym typeface="Urbanist"/>
              </a:rPr>
              <a:t>Յուրաքանչյուր իրավիճակի համար որոշե՛ք մակարդակը, դրական և բացասական կողմերը և նշե՛ք լուծումներ։</a:t>
            </a:r>
            <a:endParaRPr sz="1800">
              <a:latin typeface="Urbanist"/>
              <a:ea typeface="Urbanist"/>
              <a:cs typeface="Urbanist"/>
              <a:sym typeface="Urbanis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descr="Image" id="648" name="Google Shape;648;p9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49" name="Google Shape;649;p9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Խումբ 1</a:t>
            </a:r>
            <a:endParaRPr b="0" i="0" sz="500" u="none" cap="none" strike="noStrike">
              <a:solidFill>
                <a:srgbClr val="000000"/>
              </a:solidFill>
              <a:latin typeface="Arial"/>
              <a:ea typeface="Arial"/>
              <a:cs typeface="Arial"/>
              <a:sym typeface="Arial"/>
            </a:endParaRPr>
          </a:p>
        </p:txBody>
      </p:sp>
      <p:sp>
        <p:nvSpPr>
          <p:cNvPr id="650" name="Google Shape;650;p98"/>
          <p:cNvSpPr txBox="1"/>
          <p:nvPr/>
        </p:nvSpPr>
        <p:spPr>
          <a:xfrm>
            <a:off x="152400" y="1676400"/>
            <a:ext cx="8486400" cy="251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600">
                <a:solidFill>
                  <a:schemeClr val="dk2"/>
                </a:solidFill>
                <a:latin typeface="Urbanist SemiBold"/>
                <a:ea typeface="Urbanist SemiBold"/>
                <a:cs typeface="Urbanist SemiBold"/>
                <a:sym typeface="Urbanist SemiBold"/>
              </a:rPr>
              <a:t>Արհեստական բանականության հիմքով աշխատանքի ընդունման համակարգն օգտագործվում է ձեր քաղաքի/երկրի բոլոր խոշոր ընկերություններում։ Մի քանի ամիս անց, պարզվում է, որ համակարգը մերժում է որոշակի տարիքային խմբի պատկանող բոլոր դիմորդներին՝ անկախ իրենց որակավորման աստիճանից:</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Դրական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Բացասական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Լուծումներ</a:t>
            </a:r>
            <a:endParaRPr sz="1600">
              <a:solidFill>
                <a:schemeClr val="dk1"/>
              </a:solidFill>
              <a:latin typeface="Urbanist"/>
              <a:ea typeface="Urbanist"/>
              <a:cs typeface="Urbanist"/>
              <a:sym typeface="Urbanist"/>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pic>
        <p:nvPicPr>
          <p:cNvPr descr="Image" id="655" name="Google Shape;655;p9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56" name="Google Shape;656;p9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Խումբ 2</a:t>
            </a:r>
            <a:endParaRPr b="0" i="0" sz="500" u="none" cap="none" strike="noStrike">
              <a:solidFill>
                <a:srgbClr val="000000"/>
              </a:solidFill>
              <a:latin typeface="Arial"/>
              <a:ea typeface="Arial"/>
              <a:cs typeface="Arial"/>
              <a:sym typeface="Arial"/>
            </a:endParaRPr>
          </a:p>
        </p:txBody>
      </p:sp>
      <p:sp>
        <p:nvSpPr>
          <p:cNvPr id="657" name="Google Shape;657;p99"/>
          <p:cNvSpPr txBox="1"/>
          <p:nvPr/>
        </p:nvSpPr>
        <p:spPr>
          <a:xfrm>
            <a:off x="152400" y="1676400"/>
            <a:ext cx="8486400" cy="225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Երկրներից մեկը մշակում է ամբողջովին ինքնավար ԱԲ ռազմական համակարգ, որը կարող է նույնականացնել թիրախներն ու որոշումներ կայացնել հարվածելու վերաբերյալ։ </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Դրական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Բացասական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Լուծումներ</a:t>
            </a:r>
            <a:endParaRPr sz="1600">
              <a:solidFill>
                <a:schemeClr val="dk1"/>
              </a:solidFill>
              <a:latin typeface="Urbanist"/>
              <a:ea typeface="Urbanist"/>
              <a:cs typeface="Urbanist"/>
              <a:sym typeface="Urbanist"/>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descr="Image" id="662" name="Google Shape;662;p10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63" name="Google Shape;663;p10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Խումբ 3</a:t>
            </a:r>
            <a:endParaRPr b="0" i="0" sz="500" u="none" cap="none" strike="noStrike">
              <a:solidFill>
                <a:srgbClr val="000000"/>
              </a:solidFill>
              <a:latin typeface="Arial"/>
              <a:ea typeface="Arial"/>
              <a:cs typeface="Arial"/>
              <a:sym typeface="Arial"/>
            </a:endParaRPr>
          </a:p>
        </p:txBody>
      </p:sp>
      <p:sp>
        <p:nvSpPr>
          <p:cNvPr id="664" name="Google Shape;664;p100"/>
          <p:cNvSpPr txBox="1"/>
          <p:nvPr/>
        </p:nvSpPr>
        <p:spPr>
          <a:xfrm>
            <a:off x="152400" y="1676400"/>
            <a:ext cx="8486400" cy="225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Լայնորեն օգտագործվում են բարձրորակ իրատեսական ԱԲ գեներացված տեսանյութեր և ձայնագրություններ, որոնք տարածում են համաշխարհային առողջապահական ճգնաժամի վերաբերյալ ապատեղեկատվություն։ </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Դրական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Բացասական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Լուծումներ</a:t>
            </a:r>
            <a:endParaRPr sz="1600">
              <a:solidFill>
                <a:schemeClr val="dk1"/>
              </a:solidFill>
              <a:latin typeface="Urbanist"/>
              <a:ea typeface="Urbanist"/>
              <a:cs typeface="Urbanist"/>
              <a:sym typeface="Urbanist"/>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pic>
        <p:nvPicPr>
          <p:cNvPr descr="Image" id="669" name="Google Shape;669;p10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70" name="Google Shape;670;p10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Խումբ 4</a:t>
            </a:r>
            <a:endParaRPr b="0" i="0" sz="500" u="none" cap="none" strike="noStrike">
              <a:solidFill>
                <a:srgbClr val="000000"/>
              </a:solidFill>
              <a:latin typeface="Arial"/>
              <a:ea typeface="Arial"/>
              <a:cs typeface="Arial"/>
              <a:sym typeface="Arial"/>
            </a:endParaRPr>
          </a:p>
        </p:txBody>
      </p:sp>
      <p:sp>
        <p:nvSpPr>
          <p:cNvPr id="671" name="Google Shape;671;p101"/>
          <p:cNvSpPr txBox="1"/>
          <p:nvPr/>
        </p:nvSpPr>
        <p:spPr>
          <a:xfrm>
            <a:off x="152400" y="1676400"/>
            <a:ext cx="8486400" cy="254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Ձեր քաղաքը ներդնում է արհեստական ​​բանականության վրա հիմնված հսկողության համակարգ, որը հսկում է հասարակական տարածքները 24/7 ռեժիմով՝ օգտագործելով դեմքի ճանաչում և կանխատեսող վերլուծություններ՝ «հնարավոր սպառնալիքները» բացահայտելու համար։ </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Դրական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Բացասական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Լուծումներ</a:t>
            </a:r>
            <a:endParaRPr sz="1600">
              <a:solidFill>
                <a:schemeClr val="dk1"/>
              </a:solidFill>
              <a:latin typeface="Urbanist"/>
              <a:ea typeface="Urbanist"/>
              <a:cs typeface="Urbanist"/>
              <a:sym typeface="Urbanis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pic>
        <p:nvPicPr>
          <p:cNvPr descr="Image" id="676" name="Google Shape;676;p10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77" name="Google Shape;677;p10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Խումբ 5</a:t>
            </a:r>
            <a:endParaRPr b="0" i="0" sz="500" u="none" cap="none" strike="noStrike">
              <a:solidFill>
                <a:srgbClr val="000000"/>
              </a:solidFill>
              <a:latin typeface="Arial"/>
              <a:ea typeface="Arial"/>
              <a:cs typeface="Arial"/>
              <a:sym typeface="Arial"/>
            </a:endParaRPr>
          </a:p>
        </p:txBody>
      </p:sp>
      <p:sp>
        <p:nvSpPr>
          <p:cNvPr id="678" name="Google Shape;678;p102"/>
          <p:cNvSpPr txBox="1"/>
          <p:nvPr/>
        </p:nvSpPr>
        <p:spPr>
          <a:xfrm>
            <a:off x="152400" y="1676400"/>
            <a:ext cx="8486400" cy="282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Արհեստական բանականության վրա հիմնված դասավանդման հարթակը հարմարեցնում է դասերը՝ ելնելով աշակերտների առաջադիմությունից։ Ժամանակի ընթացքում այն սկսում է ցածր առաջադիմություն ունեցող աշակերտներին տրամադրել ավելի պարզեցված և սահմանափակ բովանդակություն, իսկ առաջադեմ աշակերտներին՝ դեպի խորացված ու մասնագիտացված նյութեր։ </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Դրական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Բացասական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Լուծումներ</a:t>
            </a:r>
            <a:endParaRPr sz="1600">
              <a:solidFill>
                <a:schemeClr val="dk1"/>
              </a:solidFill>
              <a:latin typeface="Urbanist"/>
              <a:ea typeface="Urbanist"/>
              <a:cs typeface="Urbanist"/>
              <a:sym typeface="Urbanist"/>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pic>
        <p:nvPicPr>
          <p:cNvPr descr="Image" id="683" name="Google Shape;683;p10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84" name="Google Shape;684;p10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Խումբ 6</a:t>
            </a:r>
            <a:endParaRPr b="0" i="0" sz="500" u="none" cap="none" strike="noStrike">
              <a:solidFill>
                <a:srgbClr val="000000"/>
              </a:solidFill>
              <a:latin typeface="Arial"/>
              <a:ea typeface="Arial"/>
              <a:cs typeface="Arial"/>
              <a:sym typeface="Arial"/>
            </a:endParaRPr>
          </a:p>
        </p:txBody>
      </p:sp>
      <p:sp>
        <p:nvSpPr>
          <p:cNvPr id="685" name="Google Shape;685;p103"/>
          <p:cNvSpPr txBox="1"/>
          <p:nvPr/>
        </p:nvSpPr>
        <p:spPr>
          <a:xfrm>
            <a:off x="152400" y="1676400"/>
            <a:ext cx="8486400" cy="254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Արհեստական բանականությամբ գեներացված արվեստի գործերը ունեն բավականին մեծ կիրառություն։ Դրանք օգտագործվում են գովազդում, ֆիլմարտադրությունում, տեսախաղերում և նույնիսկ պատկերազարդ գրքերում։ Շատ կազմակերպություններ նախընտրում են այս լուծումները՝ ժամանակ և ռեսուրսներ խնայելու համար։</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Դրական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Բացասական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Լուծումներ</a:t>
            </a:r>
            <a:endParaRPr sz="1600">
              <a:solidFill>
                <a:schemeClr val="dk1"/>
              </a:solidFill>
              <a:latin typeface="Urbanist"/>
              <a:ea typeface="Urbanist"/>
              <a:cs typeface="Urbanist"/>
              <a:sym typeface="Urbanist"/>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pic>
        <p:nvPicPr>
          <p:cNvPr descr="Image" id="690" name="Google Shape;690;p10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691" name="Google Shape;691;p10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Խումբ 7</a:t>
            </a:r>
            <a:endParaRPr b="0" i="0" sz="500" u="none" cap="none" strike="noStrike">
              <a:solidFill>
                <a:srgbClr val="000000"/>
              </a:solidFill>
              <a:latin typeface="Arial"/>
              <a:ea typeface="Arial"/>
              <a:cs typeface="Arial"/>
              <a:sym typeface="Arial"/>
            </a:endParaRPr>
          </a:p>
        </p:txBody>
      </p:sp>
      <p:sp>
        <p:nvSpPr>
          <p:cNvPr id="692" name="Google Shape;692;p104"/>
          <p:cNvSpPr txBox="1"/>
          <p:nvPr/>
        </p:nvSpPr>
        <p:spPr>
          <a:xfrm>
            <a:off x="152400" y="1676400"/>
            <a:ext cx="8486400" cy="310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Արհեստական բանականությամբ աշխատող լեզվաբանական թարգմանիչները այժմ լայնորեն կիրառվում են պետական և միջազգային հաստատություններում՝ ապահովելով վայրկենական թարգմանություն տասնյակ լեզուներով։ Դրանք օգտագործվում են հանդիպումների, փաստաթղթերի և նույնիսկ օրենսդրական տեքստերի թարգմանության համար՝ զգալիորեն արագացնելով աշխատանքային գործընթացները։ </a:t>
            </a:r>
            <a:endParaRPr sz="1600">
              <a:solidFill>
                <a:schemeClr val="dk2"/>
              </a:solidFill>
              <a:latin typeface="Urbanist SemiBold"/>
              <a:ea typeface="Urbanist SemiBold"/>
              <a:cs typeface="Urbanist SemiBold"/>
              <a:sym typeface="Urbanist SemiBold"/>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Դրական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Բացասական կողմերը</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Լուծումներ</a:t>
            </a:r>
            <a:endParaRPr sz="1600">
              <a:solidFill>
                <a:schemeClr val="dk1"/>
              </a:solidFill>
              <a:latin typeface="Urbanist"/>
              <a:ea typeface="Urbanist"/>
              <a:cs typeface="Urbanist"/>
              <a:sym typeface="Urbanist"/>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696" name="Shape 696"/>
        <p:cNvGrpSpPr/>
        <p:nvPr/>
      </p:nvGrpSpPr>
      <p:grpSpPr>
        <a:xfrm>
          <a:off x="0" y="0"/>
          <a:ext cx="0" cy="0"/>
          <a:chOff x="0" y="0"/>
          <a:chExt cx="0" cy="0"/>
        </a:xfrm>
      </p:grpSpPr>
      <p:pic>
        <p:nvPicPr>
          <p:cNvPr descr="Image" id="697" name="Google Shape;697;p105"/>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698" name="Google Shape;698;p105"/>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699" name="Google Shape;699;p105"/>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pic>
        <p:nvPicPr>
          <p:cNvPr descr="Image" id="704" name="Google Shape;704;p10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705" name="Google Shape;705;p106"/>
          <p:cNvSpPr txBox="1"/>
          <p:nvPr/>
        </p:nvSpPr>
        <p:spPr>
          <a:xfrm>
            <a:off x="476246" y="282675"/>
            <a:ext cx="8162400" cy="11430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Թեմա 6. </a:t>
            </a:r>
            <a:r>
              <a:rPr lang="ru" sz="2400">
                <a:solidFill>
                  <a:srgbClr val="3A475A"/>
                </a:solidFill>
                <a:latin typeface="Urbanist ExtraBold"/>
                <a:ea typeface="Urbanist ExtraBold"/>
                <a:cs typeface="Urbanist ExtraBold"/>
                <a:sym typeface="Urbanist ExtraBold"/>
              </a:rPr>
              <a:t>Գործնական դաս 3. «Իմ ԱԲ ուղին» պաստառի ստեղծման և նախագծման գործնական աշխատանք- Մաս 1 </a:t>
            </a:r>
            <a:endParaRPr sz="2400">
              <a:solidFill>
                <a:srgbClr val="3A475A"/>
              </a:solidFill>
              <a:latin typeface="Urbanist ExtraBold"/>
              <a:ea typeface="Urbanist ExtraBold"/>
              <a:cs typeface="Urbanist ExtraBold"/>
              <a:sym typeface="Urbanist ExtraBold"/>
            </a:endParaRPr>
          </a:p>
        </p:txBody>
      </p:sp>
      <p:sp>
        <p:nvSpPr>
          <p:cNvPr id="706" name="Google Shape;706;p106"/>
          <p:cNvSpPr txBox="1"/>
          <p:nvPr/>
        </p:nvSpPr>
        <p:spPr>
          <a:xfrm>
            <a:off x="490525" y="1550529"/>
            <a:ext cx="8162400" cy="2699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30200" lvl="0" marL="457200" rtl="0" algn="l">
              <a:lnSpc>
                <a:spcPct val="115000"/>
              </a:lnSpc>
              <a:spcBef>
                <a:spcPts val="1200"/>
              </a:spcBef>
              <a:spcAft>
                <a:spcPts val="0"/>
              </a:spcAft>
              <a:buClr>
                <a:srgbClr val="FDC672"/>
              </a:buClr>
              <a:buSzPts val="1600"/>
              <a:buFont typeface="Urbanist"/>
              <a:buChar char="●"/>
            </a:pPr>
            <a:r>
              <a:rPr lang="ru" sz="1600">
                <a:latin typeface="Urbanist"/>
                <a:ea typeface="Urbanist"/>
                <a:cs typeface="Urbanist"/>
                <a:sym typeface="Urbanist"/>
              </a:rPr>
              <a:t>Նկարագրել ԱԲ հիմքով մասնագիտություններ</a:t>
            </a:r>
            <a:endParaRPr sz="1600">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latin typeface="Urbanist"/>
                <a:ea typeface="Urbanist"/>
                <a:cs typeface="Urbanist"/>
                <a:sym typeface="Urbanist"/>
              </a:rPr>
              <a:t>Նշել մեքենայական ուսուցման ճարտարագետի, ԱԲ հետազոտողի, ԱԲ ճարտարագետի, համակարգչային տեսողության ճարտարագետի աշխատանքից օրինակներ, նշել անհրաժեշտ տեխնիկական որակավորումները</a:t>
            </a:r>
            <a:endParaRPr sz="1600">
              <a:latin typeface="Urbanist"/>
              <a:ea typeface="Urbanist"/>
              <a:cs typeface="Urbanist"/>
              <a:sym typeface="Urbanist"/>
            </a:endParaRPr>
          </a:p>
          <a:p>
            <a:pPr indent="-330200" lvl="0" marL="457200" rtl="0" algn="l">
              <a:lnSpc>
                <a:spcPct val="115000"/>
              </a:lnSpc>
              <a:spcBef>
                <a:spcPts val="1200"/>
              </a:spcBef>
              <a:spcAft>
                <a:spcPts val="1000"/>
              </a:spcAft>
              <a:buClr>
                <a:srgbClr val="FDC672"/>
              </a:buClr>
              <a:buSzPts val="1600"/>
              <a:buFont typeface="Urbanist"/>
              <a:buChar char="●"/>
            </a:pPr>
            <a:r>
              <a:rPr lang="ru" sz="1600">
                <a:latin typeface="Urbanist"/>
                <a:ea typeface="Urbanist"/>
                <a:cs typeface="Urbanist"/>
                <a:sym typeface="Urbanist"/>
              </a:rPr>
              <a:t>Նշել տվյալների ճարտարապետի, տվյալների ճարտարագետի, տվյալագետի և բիզնես վերլուծաբանի աշխատանքից օրինակներ, նշել անհրաժեշտ տեխնիկական որակավորումները </a:t>
            </a:r>
            <a:endParaRPr sz="1600">
              <a:latin typeface="Urbanist"/>
              <a:ea typeface="Urbanist"/>
              <a:cs typeface="Urbanist"/>
              <a:sym typeface="Urbanist"/>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pic>
        <p:nvPicPr>
          <p:cNvPr descr="Image" id="711" name="Google Shape;711;p107"/>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712" name="Google Shape;712;p107"/>
          <p:cNvSpPr txBox="1"/>
          <p:nvPr/>
        </p:nvSpPr>
        <p:spPr>
          <a:xfrm>
            <a:off x="337675" y="1923600"/>
            <a:ext cx="6892500" cy="1050600"/>
          </a:xfrm>
          <a:prstGeom prst="rect">
            <a:avLst/>
          </a:prstGeom>
          <a:noFill/>
          <a:ln>
            <a:noFill/>
          </a:ln>
        </p:spPr>
        <p:txBody>
          <a:bodyPr anchorCtr="0" anchor="t" bIns="17150" lIns="17150" spcFirstLastPara="1" rIns="17150" wrap="square" tIns="17150">
            <a:spAutoFit/>
          </a:bodyPr>
          <a:lstStyle/>
          <a:p>
            <a:pPr indent="0" lvl="0" marL="0" marR="381000" rtl="0" algn="l">
              <a:lnSpc>
                <a:spcPct val="120000"/>
              </a:lnSpc>
              <a:spcBef>
                <a:spcPts val="0"/>
              </a:spcBef>
              <a:spcAft>
                <a:spcPts val="0"/>
              </a:spcAft>
              <a:buClr>
                <a:schemeClr val="dk1"/>
              </a:buClr>
              <a:buSzPts val="1100"/>
              <a:buFont typeface="Arial"/>
              <a:buNone/>
            </a:pPr>
            <a:r>
              <a:rPr b="1" i="1" lang="ru" sz="3000">
                <a:solidFill>
                  <a:schemeClr val="dk2"/>
                </a:solidFill>
                <a:latin typeface="Urbanist"/>
                <a:ea typeface="Urbanist"/>
                <a:cs typeface="Urbanist"/>
                <a:sym typeface="Urbanist"/>
              </a:rPr>
              <a:t>Ի՞նչ ԱԲ հիմքով մասնագիտությունների եք ծանոթ։</a:t>
            </a:r>
            <a:endParaRPr i="1" sz="3000">
              <a:solidFill>
                <a:schemeClr val="dk2"/>
              </a:solidFill>
              <a:latin typeface="Urbanist ExtraBold"/>
              <a:ea typeface="Urbanist ExtraBold"/>
              <a:cs typeface="Urbanist ExtraBold"/>
              <a:sym typeface="Urbanist ExtraBo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pic>
        <p:nvPicPr>
          <p:cNvPr descr="Image" id="717" name="Google Shape;717;p10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718" name="Google Shape;718;p10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ԱԲ հիմքով մասնագիտություններ</a:t>
            </a:r>
            <a:endParaRPr b="0" i="0" sz="500" u="none" cap="none" strike="noStrike">
              <a:solidFill>
                <a:srgbClr val="000000"/>
              </a:solidFill>
              <a:latin typeface="Arial"/>
              <a:ea typeface="Arial"/>
              <a:cs typeface="Arial"/>
              <a:sym typeface="Arial"/>
            </a:endParaRPr>
          </a:p>
        </p:txBody>
      </p:sp>
      <p:pic>
        <p:nvPicPr>
          <p:cNvPr id="719" name="Google Shape;719;p108"/>
          <p:cNvPicPr preferRelativeResize="0"/>
          <p:nvPr/>
        </p:nvPicPr>
        <p:blipFill>
          <a:blip r:embed="rId4">
            <a:alphaModFix/>
          </a:blip>
          <a:stretch>
            <a:fillRect/>
          </a:stretch>
        </p:blipFill>
        <p:spPr>
          <a:xfrm>
            <a:off x="183700" y="1660000"/>
            <a:ext cx="8329750" cy="2203537"/>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09"/>
          <p:cNvSpPr txBox="1"/>
          <p:nvPr/>
        </p:nvSpPr>
        <p:spPr>
          <a:xfrm>
            <a:off x="3928749" y="2917400"/>
            <a:ext cx="4618800" cy="1130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latin typeface="Urbanist"/>
                <a:ea typeface="Urbanist"/>
                <a:cs typeface="Urbanist"/>
                <a:sym typeface="Urbanist"/>
              </a:rPr>
              <a:t>Core AI մասնագետները ստեղծում են ԱԲ ֆունկցիոնալություն և գործիքներ, որոնք մենք օգտագործում ենք մեր անձնական և մասնագիտական կյանքում։ </a:t>
            </a:r>
            <a:endParaRPr sz="1600">
              <a:latin typeface="Urbanist"/>
              <a:ea typeface="Urbanist"/>
              <a:cs typeface="Urbanist"/>
              <a:sym typeface="Urbanist"/>
            </a:endParaRPr>
          </a:p>
        </p:txBody>
      </p:sp>
      <p:sp>
        <p:nvSpPr>
          <p:cNvPr id="725" name="Google Shape;725;p109"/>
          <p:cNvSpPr txBox="1"/>
          <p:nvPr/>
        </p:nvSpPr>
        <p:spPr>
          <a:xfrm>
            <a:off x="3928750" y="1633850"/>
            <a:ext cx="4374000" cy="4041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Core-AI</a:t>
            </a:r>
            <a:endParaRPr b="0" i="0" sz="2400" u="none" cap="none" strike="noStrike">
              <a:solidFill>
                <a:srgbClr val="000000"/>
              </a:solidFill>
              <a:latin typeface="Arial"/>
              <a:ea typeface="Arial"/>
              <a:cs typeface="Arial"/>
              <a:sym typeface="Arial"/>
            </a:endParaRPr>
          </a:p>
        </p:txBody>
      </p:sp>
      <p:pic>
        <p:nvPicPr>
          <p:cNvPr descr="Image" id="726" name="Google Shape;726;p109"/>
          <p:cNvPicPr preferRelativeResize="0"/>
          <p:nvPr/>
        </p:nvPicPr>
        <p:blipFill rotWithShape="1">
          <a:blip r:embed="rId3">
            <a:alphaModFix amt="83550"/>
          </a:blip>
          <a:srcRect b="0" l="25700" r="0" t="26367"/>
          <a:stretch/>
        </p:blipFill>
        <p:spPr>
          <a:xfrm>
            <a:off x="3689494" y="0"/>
            <a:ext cx="1683705" cy="1233313"/>
          </a:xfrm>
          <a:prstGeom prst="rect">
            <a:avLst/>
          </a:prstGeom>
          <a:noFill/>
          <a:ln>
            <a:noFill/>
          </a:ln>
        </p:spPr>
      </p:pic>
      <p:pic>
        <p:nvPicPr>
          <p:cNvPr id="727" name="Google Shape;727;p109"/>
          <p:cNvPicPr preferRelativeResize="0"/>
          <p:nvPr/>
        </p:nvPicPr>
        <p:blipFill>
          <a:blip r:embed="rId4">
            <a:alphaModFix/>
          </a:blip>
          <a:stretch>
            <a:fillRect/>
          </a:stretch>
        </p:blipFill>
        <p:spPr>
          <a:xfrm>
            <a:off x="4" y="0"/>
            <a:ext cx="3689508" cy="5143501"/>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10"/>
          <p:cNvSpPr txBox="1"/>
          <p:nvPr/>
        </p:nvSpPr>
        <p:spPr>
          <a:xfrm>
            <a:off x="3928749" y="2917400"/>
            <a:ext cx="4618800" cy="1130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latin typeface="Urbanist"/>
                <a:ea typeface="Urbanist"/>
                <a:cs typeface="Urbanist"/>
                <a:sym typeface="Urbanist"/>
              </a:rPr>
              <a:t>Տվյալների մասնագետները հավաքում, կազմակերպում, պահպանում և մշակում են մեծ տվյալների հենքեր, որոնք օգտագործվում են ԱԲ մոդելների ուսուցանման համար։ </a:t>
            </a:r>
            <a:endParaRPr sz="1600">
              <a:latin typeface="Urbanist"/>
              <a:ea typeface="Urbanist"/>
              <a:cs typeface="Urbanist"/>
              <a:sym typeface="Urbanist"/>
            </a:endParaRPr>
          </a:p>
        </p:txBody>
      </p:sp>
      <p:sp>
        <p:nvSpPr>
          <p:cNvPr id="733" name="Google Shape;733;p110"/>
          <p:cNvSpPr txBox="1"/>
          <p:nvPr/>
        </p:nvSpPr>
        <p:spPr>
          <a:xfrm>
            <a:off x="3928750" y="1633850"/>
            <a:ext cx="4374000" cy="4041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Տվյալներ (Data)</a:t>
            </a:r>
            <a:endParaRPr b="0" i="0" sz="2400" u="none" cap="none" strike="noStrike">
              <a:solidFill>
                <a:srgbClr val="000000"/>
              </a:solidFill>
              <a:latin typeface="Arial"/>
              <a:ea typeface="Arial"/>
              <a:cs typeface="Arial"/>
              <a:sym typeface="Arial"/>
            </a:endParaRPr>
          </a:p>
        </p:txBody>
      </p:sp>
      <p:pic>
        <p:nvPicPr>
          <p:cNvPr descr="Image" id="734" name="Google Shape;734;p110"/>
          <p:cNvPicPr preferRelativeResize="0"/>
          <p:nvPr/>
        </p:nvPicPr>
        <p:blipFill rotWithShape="1">
          <a:blip r:embed="rId3">
            <a:alphaModFix amt="83550"/>
          </a:blip>
          <a:srcRect b="0" l="25700" r="0" t="26367"/>
          <a:stretch/>
        </p:blipFill>
        <p:spPr>
          <a:xfrm>
            <a:off x="3689494" y="0"/>
            <a:ext cx="1683705" cy="1233313"/>
          </a:xfrm>
          <a:prstGeom prst="rect">
            <a:avLst/>
          </a:prstGeom>
          <a:noFill/>
          <a:ln>
            <a:noFill/>
          </a:ln>
        </p:spPr>
      </p:pic>
      <p:pic>
        <p:nvPicPr>
          <p:cNvPr id="735" name="Google Shape;735;p110"/>
          <p:cNvPicPr preferRelativeResize="0"/>
          <p:nvPr/>
        </p:nvPicPr>
        <p:blipFill>
          <a:blip r:embed="rId4">
            <a:alphaModFix/>
          </a:blip>
          <a:stretch>
            <a:fillRect/>
          </a:stretch>
        </p:blipFill>
        <p:spPr>
          <a:xfrm>
            <a:off x="0" y="0"/>
            <a:ext cx="3716481" cy="5143499"/>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11"/>
          <p:cNvSpPr txBox="1"/>
          <p:nvPr/>
        </p:nvSpPr>
        <p:spPr>
          <a:xfrm>
            <a:off x="3928749" y="2917400"/>
            <a:ext cx="4618800" cy="8475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latin typeface="Urbanist"/>
                <a:ea typeface="Urbanist"/>
                <a:cs typeface="Urbanist"/>
                <a:sym typeface="Urbanist"/>
              </a:rPr>
              <a:t>ԱԲ լեզվական մասնագետները ստեղծում են ալգորիթմներ, որոնք թույլ են տալիս համակարգիչներին տիրապետել տարբեր լեզուների։ </a:t>
            </a:r>
            <a:endParaRPr sz="1600">
              <a:latin typeface="Urbanist"/>
              <a:ea typeface="Urbanist"/>
              <a:cs typeface="Urbanist"/>
              <a:sym typeface="Urbanist"/>
            </a:endParaRPr>
          </a:p>
        </p:txBody>
      </p:sp>
      <p:sp>
        <p:nvSpPr>
          <p:cNvPr id="741" name="Google Shape;741;p111"/>
          <p:cNvSpPr txBox="1"/>
          <p:nvPr/>
        </p:nvSpPr>
        <p:spPr>
          <a:xfrm>
            <a:off x="3928750" y="1633850"/>
            <a:ext cx="4374000" cy="4041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Լեզու </a:t>
            </a:r>
            <a:r>
              <a:rPr lang="ru" sz="2400">
                <a:solidFill>
                  <a:srgbClr val="3A475A"/>
                </a:solidFill>
                <a:latin typeface="Urbanist ExtraBold"/>
                <a:ea typeface="Urbanist ExtraBold"/>
                <a:cs typeface="Urbanist ExtraBold"/>
                <a:sym typeface="Urbanist ExtraBold"/>
              </a:rPr>
              <a:t>(Language)</a:t>
            </a:r>
            <a:endParaRPr b="0" i="0" sz="2400" u="none" cap="none" strike="noStrike">
              <a:solidFill>
                <a:srgbClr val="000000"/>
              </a:solidFill>
              <a:latin typeface="Arial"/>
              <a:ea typeface="Arial"/>
              <a:cs typeface="Arial"/>
              <a:sym typeface="Arial"/>
            </a:endParaRPr>
          </a:p>
        </p:txBody>
      </p:sp>
      <p:pic>
        <p:nvPicPr>
          <p:cNvPr descr="Image" id="742" name="Google Shape;742;p111"/>
          <p:cNvPicPr preferRelativeResize="0"/>
          <p:nvPr/>
        </p:nvPicPr>
        <p:blipFill rotWithShape="1">
          <a:blip r:embed="rId3">
            <a:alphaModFix amt="83550"/>
          </a:blip>
          <a:srcRect b="0" l="25700" r="0" t="26367"/>
          <a:stretch/>
        </p:blipFill>
        <p:spPr>
          <a:xfrm>
            <a:off x="3689494" y="0"/>
            <a:ext cx="1683705" cy="1233313"/>
          </a:xfrm>
          <a:prstGeom prst="rect">
            <a:avLst/>
          </a:prstGeom>
          <a:noFill/>
          <a:ln>
            <a:noFill/>
          </a:ln>
        </p:spPr>
      </p:pic>
      <p:pic>
        <p:nvPicPr>
          <p:cNvPr id="743" name="Google Shape;743;p111"/>
          <p:cNvPicPr preferRelativeResize="0"/>
          <p:nvPr/>
        </p:nvPicPr>
        <p:blipFill>
          <a:blip r:embed="rId4">
            <a:alphaModFix/>
          </a:blip>
          <a:stretch>
            <a:fillRect/>
          </a:stretch>
        </p:blipFill>
        <p:spPr>
          <a:xfrm>
            <a:off x="0" y="0"/>
            <a:ext cx="3716064" cy="5143501"/>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12"/>
          <p:cNvSpPr txBox="1"/>
          <p:nvPr/>
        </p:nvSpPr>
        <p:spPr>
          <a:xfrm>
            <a:off x="3928749" y="2917400"/>
            <a:ext cx="4618800" cy="1130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latin typeface="Urbanist"/>
                <a:ea typeface="Urbanist"/>
                <a:cs typeface="Urbanist"/>
                <a:sym typeface="Urbanist"/>
              </a:rPr>
              <a:t>ԱԲ արտադրանքի դիզայնի մասնագետները նախագծում, մշակում և գերծարկում են ծրագրեր՝ հաշվի առնելով օգտվողների և գործարարների կարիքներն ու պահանջները։ </a:t>
            </a:r>
            <a:endParaRPr sz="1600">
              <a:latin typeface="Urbanist"/>
              <a:ea typeface="Urbanist"/>
              <a:cs typeface="Urbanist"/>
              <a:sym typeface="Urbanist"/>
            </a:endParaRPr>
          </a:p>
        </p:txBody>
      </p:sp>
      <p:sp>
        <p:nvSpPr>
          <p:cNvPr id="749" name="Google Shape;749;p112"/>
          <p:cNvSpPr txBox="1"/>
          <p:nvPr/>
        </p:nvSpPr>
        <p:spPr>
          <a:xfrm>
            <a:off x="3928750" y="1633850"/>
            <a:ext cx="4374000" cy="7734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Արտադրանքի դիզայն </a:t>
            </a:r>
            <a:r>
              <a:rPr lang="ru" sz="2400">
                <a:solidFill>
                  <a:srgbClr val="3A475A"/>
                </a:solidFill>
                <a:latin typeface="Urbanist ExtraBold"/>
                <a:ea typeface="Urbanist ExtraBold"/>
                <a:cs typeface="Urbanist ExtraBold"/>
                <a:sym typeface="Urbanist ExtraBold"/>
              </a:rPr>
              <a:t>(Product Design)</a:t>
            </a:r>
            <a:endParaRPr b="0" i="0" sz="2400" u="none" cap="none" strike="noStrike">
              <a:solidFill>
                <a:srgbClr val="000000"/>
              </a:solidFill>
              <a:latin typeface="Arial"/>
              <a:ea typeface="Arial"/>
              <a:cs typeface="Arial"/>
              <a:sym typeface="Arial"/>
            </a:endParaRPr>
          </a:p>
        </p:txBody>
      </p:sp>
      <p:pic>
        <p:nvPicPr>
          <p:cNvPr descr="Image" id="750" name="Google Shape;750;p112"/>
          <p:cNvPicPr preferRelativeResize="0"/>
          <p:nvPr/>
        </p:nvPicPr>
        <p:blipFill rotWithShape="1">
          <a:blip r:embed="rId3">
            <a:alphaModFix amt="83550"/>
          </a:blip>
          <a:srcRect b="0" l="25700" r="0" t="26367"/>
          <a:stretch/>
        </p:blipFill>
        <p:spPr>
          <a:xfrm>
            <a:off x="3689494" y="0"/>
            <a:ext cx="1683705" cy="1233313"/>
          </a:xfrm>
          <a:prstGeom prst="rect">
            <a:avLst/>
          </a:prstGeom>
          <a:noFill/>
          <a:ln>
            <a:noFill/>
          </a:ln>
        </p:spPr>
      </p:pic>
      <p:pic>
        <p:nvPicPr>
          <p:cNvPr id="751" name="Google Shape;751;p112"/>
          <p:cNvPicPr preferRelativeResize="0"/>
          <p:nvPr/>
        </p:nvPicPr>
        <p:blipFill rotWithShape="1">
          <a:blip r:embed="rId4">
            <a:alphaModFix/>
          </a:blip>
          <a:srcRect b="0" l="0" r="0" t="616"/>
          <a:stretch/>
        </p:blipFill>
        <p:spPr>
          <a:xfrm>
            <a:off x="0" y="0"/>
            <a:ext cx="3753403" cy="514350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13"/>
          <p:cNvSpPr txBox="1"/>
          <p:nvPr/>
        </p:nvSpPr>
        <p:spPr>
          <a:xfrm>
            <a:off x="3928749" y="2917400"/>
            <a:ext cx="4618800" cy="11307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1200"/>
              </a:spcBef>
              <a:spcAft>
                <a:spcPts val="1200"/>
              </a:spcAft>
              <a:buNone/>
            </a:pPr>
            <a:r>
              <a:rPr lang="ru" sz="1600">
                <a:latin typeface="Urbanist"/>
                <a:ea typeface="Urbanist"/>
                <a:cs typeface="Urbanist"/>
                <a:sym typeface="Urbanist"/>
              </a:rPr>
              <a:t>Ռոբոտաշինության մասնագետները ստեղծում են համակարգեր, որոնք շփվում են մարդկանց հետ և ավտոմատացնում են հասարակության բազմաթիվ ոլորտներում գոյություն ունեցող աշխատանքները։ </a:t>
            </a:r>
            <a:endParaRPr sz="1600">
              <a:latin typeface="Urbanist"/>
              <a:ea typeface="Urbanist"/>
              <a:cs typeface="Urbanist"/>
              <a:sym typeface="Urbanist"/>
            </a:endParaRPr>
          </a:p>
        </p:txBody>
      </p:sp>
      <p:sp>
        <p:nvSpPr>
          <p:cNvPr id="757" name="Google Shape;757;p113"/>
          <p:cNvSpPr txBox="1"/>
          <p:nvPr/>
        </p:nvSpPr>
        <p:spPr>
          <a:xfrm>
            <a:off x="3928750" y="1633850"/>
            <a:ext cx="4374000" cy="773400"/>
          </a:xfrm>
          <a:prstGeom prst="rect">
            <a:avLst/>
          </a:prstGeom>
          <a:noFill/>
          <a:ln>
            <a:noFill/>
          </a:ln>
        </p:spPr>
        <p:txBody>
          <a:bodyPr anchorCtr="0" anchor="t" bIns="17150" lIns="17150" spcFirstLastPara="1" rIns="17150" wrap="square" tIns="17150">
            <a:spAutoFit/>
          </a:bodyPr>
          <a:lstStyle/>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Ռոբոտաշինություն</a:t>
            </a:r>
            <a:r>
              <a:rPr lang="ru" sz="2400">
                <a:solidFill>
                  <a:srgbClr val="3A475A"/>
                </a:solidFill>
                <a:latin typeface="Urbanist ExtraBold"/>
                <a:ea typeface="Urbanist ExtraBold"/>
                <a:cs typeface="Urbanist ExtraBold"/>
                <a:sym typeface="Urbanist ExtraBold"/>
              </a:rPr>
              <a:t> </a:t>
            </a:r>
            <a:endParaRPr sz="2400">
              <a:solidFill>
                <a:srgbClr val="3A475A"/>
              </a:solidFill>
              <a:latin typeface="Urbanist ExtraBold"/>
              <a:ea typeface="Urbanist ExtraBold"/>
              <a:cs typeface="Urbanist ExtraBold"/>
              <a:sym typeface="Urbanist ExtraBold"/>
            </a:endParaRPr>
          </a:p>
          <a:p>
            <a:pPr indent="0" lvl="0" marL="0" marR="0" rtl="0" algn="ctr">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(Robotics)</a:t>
            </a:r>
            <a:endParaRPr b="0" i="0" sz="2400" u="none" cap="none" strike="noStrike">
              <a:solidFill>
                <a:srgbClr val="000000"/>
              </a:solidFill>
              <a:latin typeface="Arial"/>
              <a:ea typeface="Arial"/>
              <a:cs typeface="Arial"/>
              <a:sym typeface="Arial"/>
            </a:endParaRPr>
          </a:p>
        </p:txBody>
      </p:sp>
      <p:pic>
        <p:nvPicPr>
          <p:cNvPr descr="Image" id="758" name="Google Shape;758;p113"/>
          <p:cNvPicPr preferRelativeResize="0"/>
          <p:nvPr/>
        </p:nvPicPr>
        <p:blipFill rotWithShape="1">
          <a:blip r:embed="rId3">
            <a:alphaModFix amt="83550"/>
          </a:blip>
          <a:srcRect b="0" l="25700" r="0" t="26367"/>
          <a:stretch/>
        </p:blipFill>
        <p:spPr>
          <a:xfrm>
            <a:off x="3689494" y="0"/>
            <a:ext cx="1683705" cy="1233313"/>
          </a:xfrm>
          <a:prstGeom prst="rect">
            <a:avLst/>
          </a:prstGeom>
          <a:noFill/>
          <a:ln>
            <a:noFill/>
          </a:ln>
        </p:spPr>
      </p:pic>
      <p:pic>
        <p:nvPicPr>
          <p:cNvPr id="759" name="Google Shape;759;p113"/>
          <p:cNvPicPr preferRelativeResize="0"/>
          <p:nvPr/>
        </p:nvPicPr>
        <p:blipFill rotWithShape="1">
          <a:blip r:embed="rId4">
            <a:alphaModFix/>
          </a:blip>
          <a:srcRect b="0" l="0" r="1146" t="852"/>
          <a:stretch/>
        </p:blipFill>
        <p:spPr>
          <a:xfrm>
            <a:off x="0" y="0"/>
            <a:ext cx="3721207" cy="51435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763" name="Shape 763"/>
        <p:cNvGrpSpPr/>
        <p:nvPr/>
      </p:nvGrpSpPr>
      <p:grpSpPr>
        <a:xfrm>
          <a:off x="0" y="0"/>
          <a:ext cx="0" cy="0"/>
          <a:chOff x="0" y="0"/>
          <a:chExt cx="0" cy="0"/>
        </a:xfrm>
      </p:grpSpPr>
      <p:pic>
        <p:nvPicPr>
          <p:cNvPr descr="Image" id="764" name="Google Shape;764;p114"/>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765" name="Google Shape;765;p114"/>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Զույգերով </a:t>
            </a:r>
            <a:r>
              <a:rPr lang="ru" sz="3000">
                <a:solidFill>
                  <a:srgbClr val="FFFFFF"/>
                </a:solidFill>
                <a:latin typeface="Urbanist ExtraBold"/>
                <a:ea typeface="Urbanist ExtraBold"/>
                <a:cs typeface="Urbanist ExtraBold"/>
                <a:sym typeface="Urbanist ExtraBold"/>
              </a:rPr>
              <a:t>աշխատանք</a:t>
            </a:r>
            <a:endParaRPr b="0" i="0" sz="500" u="none" cap="none" strike="noStrike">
              <a:solidFill>
                <a:srgbClr val="000000"/>
              </a:solidFill>
              <a:latin typeface="Arial"/>
              <a:ea typeface="Arial"/>
              <a:cs typeface="Arial"/>
              <a:sym typeface="Arial"/>
            </a:endParaRPr>
          </a:p>
        </p:txBody>
      </p:sp>
      <p:sp>
        <p:nvSpPr>
          <p:cNvPr id="766" name="Google Shape;766;p114"/>
          <p:cNvSpPr txBox="1"/>
          <p:nvPr/>
        </p:nvSpPr>
        <p:spPr>
          <a:xfrm>
            <a:off x="949400" y="1114425"/>
            <a:ext cx="7313700" cy="11028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0" lvl="0" marL="0" rtl="0" algn="l">
              <a:lnSpc>
                <a:spcPct val="115000"/>
              </a:lnSpc>
              <a:spcBef>
                <a:spcPts val="1200"/>
              </a:spcBef>
              <a:spcAft>
                <a:spcPts val="1200"/>
              </a:spcAft>
              <a:buNone/>
            </a:pPr>
            <a:r>
              <a:rPr lang="ru" sz="1800">
                <a:latin typeface="Urbanist"/>
                <a:ea typeface="Urbanist"/>
                <a:cs typeface="Urbanist"/>
                <a:sym typeface="Urbanist"/>
              </a:rPr>
              <a:t>Անցե՛ք հետևյալ </a:t>
            </a:r>
            <a:r>
              <a:rPr lang="ru" sz="1800" u="sng">
                <a:solidFill>
                  <a:schemeClr val="hlink"/>
                </a:solidFill>
                <a:latin typeface="Urbanist"/>
                <a:ea typeface="Urbanist"/>
                <a:cs typeface="Urbanist"/>
                <a:sym typeface="Urbanist"/>
                <a:hlinkClick r:id="rId4"/>
              </a:rPr>
              <a:t>հղմամբ</a:t>
            </a:r>
            <a:r>
              <a:rPr lang="ru" sz="1800">
                <a:latin typeface="Urbanist"/>
                <a:ea typeface="Urbanist"/>
                <a:cs typeface="Urbanist"/>
                <a:sym typeface="Urbanist"/>
              </a:rPr>
              <a:t> և ծանոթանացե՛ք Data Career Cards բաժնի քարտերին։</a:t>
            </a:r>
            <a:endParaRPr sz="1800">
              <a:latin typeface="Urbanist"/>
              <a:ea typeface="Urbanist"/>
              <a:cs typeface="Urbanist"/>
              <a:sym typeface="Urbanist"/>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pic>
        <p:nvPicPr>
          <p:cNvPr descr="Image" id="771" name="Google Shape;771;p11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772" name="Google Shape;772;p115"/>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Core AI Career Cards</a:t>
            </a:r>
            <a:endParaRPr b="0" i="0" sz="500" u="none" cap="none" strike="noStrike">
              <a:solidFill>
                <a:srgbClr val="000000"/>
              </a:solidFill>
              <a:latin typeface="Arial"/>
              <a:ea typeface="Arial"/>
              <a:cs typeface="Arial"/>
              <a:sym typeface="Arial"/>
            </a:endParaRPr>
          </a:p>
        </p:txBody>
      </p:sp>
      <p:pic>
        <p:nvPicPr>
          <p:cNvPr id="773" name="Google Shape;773;p115"/>
          <p:cNvPicPr preferRelativeResize="0"/>
          <p:nvPr/>
        </p:nvPicPr>
        <p:blipFill rotWithShape="1">
          <a:blip r:embed="rId4">
            <a:alphaModFix/>
          </a:blip>
          <a:srcRect b="0" l="4338" r="3750" t="29278"/>
          <a:stretch/>
        </p:blipFill>
        <p:spPr>
          <a:xfrm>
            <a:off x="300313" y="1707869"/>
            <a:ext cx="8543375" cy="3090075"/>
          </a:xfrm>
          <a:prstGeom prst="rect">
            <a:avLst/>
          </a:prstGeom>
          <a:noFill/>
          <a:ln>
            <a:noFill/>
          </a:ln>
        </p:spPr>
      </p:pic>
      <p:sp>
        <p:nvSpPr>
          <p:cNvPr id="774" name="Google Shape;774;p115"/>
          <p:cNvSpPr txBox="1"/>
          <p:nvPr/>
        </p:nvSpPr>
        <p:spPr>
          <a:xfrm>
            <a:off x="427750" y="1212319"/>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ՄՈՒ ճարտարագետ</a:t>
            </a:r>
            <a:endParaRPr sz="1600">
              <a:solidFill>
                <a:schemeClr val="dk1"/>
              </a:solidFill>
              <a:latin typeface="Urbanist"/>
              <a:ea typeface="Urbanist"/>
              <a:cs typeface="Urbanist"/>
              <a:sym typeface="Urbanist"/>
            </a:endParaRPr>
          </a:p>
        </p:txBody>
      </p:sp>
      <p:sp>
        <p:nvSpPr>
          <p:cNvPr id="775" name="Google Shape;775;p115"/>
          <p:cNvSpPr txBox="1"/>
          <p:nvPr/>
        </p:nvSpPr>
        <p:spPr>
          <a:xfrm>
            <a:off x="2440790"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ԱԲ հետազոտող</a:t>
            </a:r>
            <a:endParaRPr sz="1600">
              <a:solidFill>
                <a:schemeClr val="dk1"/>
              </a:solidFill>
              <a:latin typeface="Urbanist"/>
              <a:ea typeface="Urbanist"/>
              <a:cs typeface="Urbanist"/>
              <a:sym typeface="Urbanist"/>
            </a:endParaRPr>
          </a:p>
        </p:txBody>
      </p:sp>
      <p:sp>
        <p:nvSpPr>
          <p:cNvPr id="776" name="Google Shape;776;p115"/>
          <p:cNvSpPr txBox="1"/>
          <p:nvPr/>
        </p:nvSpPr>
        <p:spPr>
          <a:xfrm>
            <a:off x="4581655"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ԱԲ ճարտարապետ</a:t>
            </a:r>
            <a:endParaRPr sz="1600">
              <a:solidFill>
                <a:schemeClr val="dk1"/>
              </a:solidFill>
              <a:latin typeface="Urbanist"/>
              <a:ea typeface="Urbanist"/>
              <a:cs typeface="Urbanist"/>
              <a:sym typeface="Urbanist"/>
            </a:endParaRPr>
          </a:p>
        </p:txBody>
      </p:sp>
      <p:sp>
        <p:nvSpPr>
          <p:cNvPr id="777" name="Google Shape;777;p115"/>
          <p:cNvSpPr txBox="1"/>
          <p:nvPr/>
        </p:nvSpPr>
        <p:spPr>
          <a:xfrm>
            <a:off x="6722505" y="1212310"/>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Համակարգչային տեսողության ճարտարագետ</a:t>
            </a:r>
            <a:endParaRPr sz="1600">
              <a:solidFill>
                <a:schemeClr val="dk1"/>
              </a:solidFill>
              <a:latin typeface="Urbanist"/>
              <a:ea typeface="Urbanist"/>
              <a:cs typeface="Urbanist"/>
              <a:sym typeface="Urbanist"/>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descr="Image" id="782" name="Google Shape;782;p11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783" name="Google Shape;783;p11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Core AI Career Cards</a:t>
            </a:r>
            <a:endParaRPr b="0" i="0" sz="500" u="none" cap="none" strike="noStrike">
              <a:solidFill>
                <a:srgbClr val="000000"/>
              </a:solidFill>
              <a:latin typeface="Arial"/>
              <a:ea typeface="Arial"/>
              <a:cs typeface="Arial"/>
              <a:sym typeface="Arial"/>
            </a:endParaRPr>
          </a:p>
        </p:txBody>
      </p:sp>
      <p:pic>
        <p:nvPicPr>
          <p:cNvPr id="784" name="Google Shape;784;p116"/>
          <p:cNvPicPr preferRelativeResize="0"/>
          <p:nvPr/>
        </p:nvPicPr>
        <p:blipFill rotWithShape="1">
          <a:blip r:embed="rId4">
            <a:alphaModFix/>
          </a:blip>
          <a:srcRect b="0" l="4195" r="3186" t="29067"/>
          <a:stretch/>
        </p:blipFill>
        <p:spPr>
          <a:xfrm>
            <a:off x="300325" y="1707875"/>
            <a:ext cx="8543375" cy="3054039"/>
          </a:xfrm>
          <a:prstGeom prst="rect">
            <a:avLst/>
          </a:prstGeom>
          <a:noFill/>
          <a:ln>
            <a:noFill/>
          </a:ln>
        </p:spPr>
      </p:pic>
      <p:sp>
        <p:nvSpPr>
          <p:cNvPr id="785" name="Google Shape;785;p116"/>
          <p:cNvSpPr txBox="1"/>
          <p:nvPr/>
        </p:nvSpPr>
        <p:spPr>
          <a:xfrm>
            <a:off x="427750" y="1212319"/>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ՄՈՒ ճարտարագետ</a:t>
            </a:r>
            <a:endParaRPr sz="1600">
              <a:solidFill>
                <a:schemeClr val="dk1"/>
              </a:solidFill>
              <a:latin typeface="Urbanist"/>
              <a:ea typeface="Urbanist"/>
              <a:cs typeface="Urbanist"/>
              <a:sym typeface="Urbanist"/>
            </a:endParaRPr>
          </a:p>
        </p:txBody>
      </p:sp>
      <p:sp>
        <p:nvSpPr>
          <p:cNvPr id="786" name="Google Shape;786;p116"/>
          <p:cNvSpPr txBox="1"/>
          <p:nvPr/>
        </p:nvSpPr>
        <p:spPr>
          <a:xfrm>
            <a:off x="2440790"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ԱԲ հետազոտող</a:t>
            </a:r>
            <a:endParaRPr sz="1600">
              <a:solidFill>
                <a:schemeClr val="dk1"/>
              </a:solidFill>
              <a:latin typeface="Urbanist"/>
              <a:ea typeface="Urbanist"/>
              <a:cs typeface="Urbanist"/>
              <a:sym typeface="Urbanist"/>
            </a:endParaRPr>
          </a:p>
        </p:txBody>
      </p:sp>
      <p:sp>
        <p:nvSpPr>
          <p:cNvPr id="787" name="Google Shape;787;p116"/>
          <p:cNvSpPr txBox="1"/>
          <p:nvPr/>
        </p:nvSpPr>
        <p:spPr>
          <a:xfrm>
            <a:off x="4581655"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ԱԲ ճարտարապետ</a:t>
            </a:r>
            <a:endParaRPr sz="1600">
              <a:solidFill>
                <a:schemeClr val="dk1"/>
              </a:solidFill>
              <a:latin typeface="Urbanist"/>
              <a:ea typeface="Urbanist"/>
              <a:cs typeface="Urbanist"/>
              <a:sym typeface="Urbanist"/>
            </a:endParaRPr>
          </a:p>
        </p:txBody>
      </p:sp>
      <p:sp>
        <p:nvSpPr>
          <p:cNvPr id="788" name="Google Shape;788;p116"/>
          <p:cNvSpPr txBox="1"/>
          <p:nvPr/>
        </p:nvSpPr>
        <p:spPr>
          <a:xfrm>
            <a:off x="6722505" y="1212310"/>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Համակարգչային տեսողության ճարտարագետ</a:t>
            </a:r>
            <a:endParaRPr sz="1600">
              <a:solidFill>
                <a:schemeClr val="dk1"/>
              </a:solidFill>
              <a:latin typeface="Urbanist"/>
              <a:ea typeface="Urbanist"/>
              <a:cs typeface="Urbanist"/>
              <a:sym typeface="Urbanist"/>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pic>
        <p:nvPicPr>
          <p:cNvPr descr="Image" id="793" name="Google Shape;793;p11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794" name="Google Shape;794;p11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Teachable Machine</a:t>
            </a:r>
            <a:endParaRPr b="0" i="0" sz="500" u="none" cap="none" strike="noStrike">
              <a:solidFill>
                <a:srgbClr val="000000"/>
              </a:solidFill>
              <a:latin typeface="Arial"/>
              <a:ea typeface="Arial"/>
              <a:cs typeface="Arial"/>
              <a:sym typeface="Arial"/>
            </a:endParaRPr>
          </a:p>
        </p:txBody>
      </p:sp>
      <p:sp>
        <p:nvSpPr>
          <p:cNvPr id="795" name="Google Shape;795;p117"/>
          <p:cNvSpPr txBox="1"/>
          <p:nvPr/>
        </p:nvSpPr>
        <p:spPr>
          <a:xfrm>
            <a:off x="152400" y="1676400"/>
            <a:ext cx="8486400" cy="16920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Ստեղծե՛ք վիզուալ դասակարգիչ՝ Google -ի Teachable Machine -ի օգնությամբ, որի համար անհրաժեշտ է անցնել հետևյալ </a:t>
            </a:r>
            <a:r>
              <a:rPr lang="ru" sz="1600" u="sng">
                <a:solidFill>
                  <a:schemeClr val="hlink"/>
                </a:solidFill>
                <a:latin typeface="Urbanist"/>
                <a:ea typeface="Urbanist"/>
                <a:cs typeface="Urbanist"/>
                <a:sym typeface="Urbanist"/>
                <a:hlinkClick r:id="rId4"/>
              </a:rPr>
              <a:t>հղմամբ</a:t>
            </a:r>
            <a:r>
              <a:rPr lang="ru" sz="1600">
                <a:solidFill>
                  <a:schemeClr val="dk1"/>
                </a:solidFill>
                <a:latin typeface="Urbanist"/>
                <a:ea typeface="Urbanist"/>
                <a:cs typeface="Urbanist"/>
                <a:sym typeface="Urbanist"/>
              </a:rPr>
              <a:t>։ </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Ընտրե՛ք, թե ինչ դասերի միջև է դասակարգում արվելու, իրականացրե՛ք տվյալների հավաքում, մոդելի ուսուցանում և փորձարկում, նախապես դիտելով</a:t>
            </a:r>
            <a:r>
              <a:rPr lang="ru" sz="1600">
                <a:solidFill>
                  <a:schemeClr val="dk1"/>
                </a:solidFill>
                <a:latin typeface="Urbanist"/>
                <a:ea typeface="Urbanist"/>
                <a:cs typeface="Urbanist"/>
                <a:sym typeface="Urbanist"/>
              </a:rPr>
              <a:t> հաջորդող սահիկներում նշված տեսանյութերը։</a:t>
            </a:r>
            <a:endParaRPr sz="1600">
              <a:solidFill>
                <a:schemeClr val="dk1"/>
              </a:solidFill>
              <a:latin typeface="Urbanist"/>
              <a:ea typeface="Urbanist"/>
              <a:cs typeface="Urbanist"/>
              <a:sym typeface="Urbanist"/>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pic>
        <p:nvPicPr>
          <p:cNvPr descr="Image" id="800" name="Google Shape;800;p11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01" name="Google Shape;801;p11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Տվյալների հավաքում</a:t>
            </a:r>
            <a:endParaRPr b="0" i="0" sz="500" u="none" cap="none" strike="noStrike">
              <a:solidFill>
                <a:srgbClr val="000000"/>
              </a:solidFill>
              <a:latin typeface="Arial"/>
              <a:ea typeface="Arial"/>
              <a:cs typeface="Arial"/>
              <a:sym typeface="Arial"/>
            </a:endParaRPr>
          </a:p>
        </p:txBody>
      </p:sp>
      <p:pic>
        <p:nvPicPr>
          <p:cNvPr descr="Gather and group your examples into classes, or categories, that you want the computer to learn. Learn more about Teachable Machine at https://g.co/teachablemachine" id="802" name="Google Shape;802;p118" title="Teachable Machine Tutorial 1: Gather">
            <a:hlinkClick r:id="rId4"/>
          </p:cNvPr>
          <p:cNvPicPr preferRelativeResize="0"/>
          <p:nvPr/>
        </p:nvPicPr>
        <p:blipFill>
          <a:blip r:embed="rId5">
            <a:alphaModFix/>
          </a:blip>
          <a:stretch>
            <a:fillRect/>
          </a:stretch>
        </p:blipFill>
        <p:spPr>
          <a:xfrm>
            <a:off x="1223087" y="1223925"/>
            <a:ext cx="6697825" cy="3767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1000"/>
                                        <p:tgtEl>
                                          <p:spTgt spid="8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pic>
        <p:nvPicPr>
          <p:cNvPr descr="Image" id="807" name="Google Shape;807;p11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08" name="Google Shape;808;p11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Մոդելի ուսուցում</a:t>
            </a:r>
            <a:endParaRPr b="0" i="0" sz="500" u="none" cap="none" strike="noStrike">
              <a:solidFill>
                <a:srgbClr val="000000"/>
              </a:solidFill>
              <a:latin typeface="Arial"/>
              <a:ea typeface="Arial"/>
              <a:cs typeface="Arial"/>
              <a:sym typeface="Arial"/>
            </a:endParaRPr>
          </a:p>
        </p:txBody>
      </p:sp>
      <p:pic>
        <p:nvPicPr>
          <p:cNvPr descr="Train your model, then instantly test it out to see whether it can correctly classify new examples. Learn more about Teachable Machine at https://g.co/teachablemachine" id="809" name="Google Shape;809;p119" title="Teachable Machine Tutorial 2: Train">
            <a:hlinkClick r:id="rId4"/>
          </p:cNvPr>
          <p:cNvPicPr preferRelativeResize="0"/>
          <p:nvPr/>
        </p:nvPicPr>
        <p:blipFill>
          <a:blip r:embed="rId5">
            <a:alphaModFix/>
          </a:blip>
          <a:stretch>
            <a:fillRect/>
          </a:stretch>
        </p:blipFill>
        <p:spPr>
          <a:xfrm>
            <a:off x="1214125" y="1223935"/>
            <a:ext cx="6715734" cy="3777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
                                        </p:tgtEl>
                                        <p:attrNameLst>
                                          <p:attrName>style.visibility</p:attrName>
                                        </p:attrNameLst>
                                      </p:cBhvr>
                                      <p:to>
                                        <p:strVal val="visible"/>
                                      </p:to>
                                    </p:set>
                                    <p:animEffect filter="fade" transition="in">
                                      <p:cBhvr>
                                        <p:cTn dur="1000"/>
                                        <p:tgtEl>
                                          <p:spTgt spid="8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pic>
        <p:nvPicPr>
          <p:cNvPr descr="Image" id="814" name="Google Shape;814;p12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15" name="Google Shape;815;p12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Փորձարկում</a:t>
            </a:r>
            <a:endParaRPr b="0" i="0" sz="500" u="none" cap="none" strike="noStrike">
              <a:solidFill>
                <a:srgbClr val="000000"/>
              </a:solidFill>
              <a:latin typeface="Arial"/>
              <a:ea typeface="Arial"/>
              <a:cs typeface="Arial"/>
              <a:sym typeface="Arial"/>
            </a:endParaRPr>
          </a:p>
        </p:txBody>
      </p:sp>
      <p:pic>
        <p:nvPicPr>
          <p:cNvPr descr="Export your model for your projects: sites, apps, and more. You can download your model or host it online for free. Learn more about Teachable Machine at https://g.co/teachablemachine" id="816" name="Google Shape;816;p120" title="Teachable Machine Tutorial 3: Export">
            <a:hlinkClick r:id="rId4"/>
          </p:cNvPr>
          <p:cNvPicPr preferRelativeResize="0"/>
          <p:nvPr/>
        </p:nvPicPr>
        <p:blipFill>
          <a:blip r:embed="rId5">
            <a:alphaModFix/>
          </a:blip>
          <a:stretch>
            <a:fillRect/>
          </a:stretch>
        </p:blipFill>
        <p:spPr>
          <a:xfrm>
            <a:off x="1228075" y="1223925"/>
            <a:ext cx="6687844" cy="3761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6"/>
                                        </p:tgtEl>
                                        <p:attrNameLst>
                                          <p:attrName>style.visibility</p:attrName>
                                        </p:attrNameLst>
                                      </p:cBhvr>
                                      <p:to>
                                        <p:strVal val="visible"/>
                                      </p:to>
                                    </p:set>
                                    <p:animEffect filter="fade" transition="in">
                                      <p:cBhvr>
                                        <p:cTn dur="1000"/>
                                        <p:tgtEl>
                                          <p:spTgt spid="8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820" name="Shape 820"/>
        <p:cNvGrpSpPr/>
        <p:nvPr/>
      </p:nvGrpSpPr>
      <p:grpSpPr>
        <a:xfrm>
          <a:off x="0" y="0"/>
          <a:ext cx="0" cy="0"/>
          <a:chOff x="0" y="0"/>
          <a:chExt cx="0" cy="0"/>
        </a:xfrm>
      </p:grpSpPr>
      <p:pic>
        <p:nvPicPr>
          <p:cNvPr descr="Image" id="821" name="Google Shape;821;p121"/>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822" name="Google Shape;822;p121"/>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Զույգերով աշխատանք</a:t>
            </a:r>
            <a:endParaRPr b="0" i="0" sz="500" u="none" cap="none" strike="noStrike">
              <a:solidFill>
                <a:srgbClr val="000000"/>
              </a:solidFill>
              <a:latin typeface="Arial"/>
              <a:ea typeface="Arial"/>
              <a:cs typeface="Arial"/>
              <a:sym typeface="Arial"/>
            </a:endParaRPr>
          </a:p>
        </p:txBody>
      </p:sp>
      <p:sp>
        <p:nvSpPr>
          <p:cNvPr id="823" name="Google Shape;823;p121"/>
          <p:cNvSpPr txBox="1"/>
          <p:nvPr/>
        </p:nvSpPr>
        <p:spPr>
          <a:xfrm>
            <a:off x="949400" y="1114425"/>
            <a:ext cx="7313700" cy="11028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0" lvl="0" marL="0" rtl="0" algn="l">
              <a:lnSpc>
                <a:spcPct val="115000"/>
              </a:lnSpc>
              <a:spcBef>
                <a:spcPts val="1200"/>
              </a:spcBef>
              <a:spcAft>
                <a:spcPts val="1200"/>
              </a:spcAft>
              <a:buNone/>
            </a:pPr>
            <a:r>
              <a:rPr lang="ru" sz="1800">
                <a:latin typeface="Urbanist"/>
                <a:ea typeface="Urbanist"/>
                <a:cs typeface="Urbanist"/>
                <a:sym typeface="Urbanist"/>
              </a:rPr>
              <a:t>Անցե՛ք հետևյալ </a:t>
            </a:r>
            <a:r>
              <a:rPr lang="ru" sz="1800" u="sng">
                <a:solidFill>
                  <a:schemeClr val="hlink"/>
                </a:solidFill>
                <a:latin typeface="Urbanist"/>
                <a:ea typeface="Urbanist"/>
                <a:cs typeface="Urbanist"/>
                <a:sym typeface="Urbanist"/>
                <a:hlinkClick r:id="rId4"/>
              </a:rPr>
              <a:t>հղմամբ</a:t>
            </a:r>
            <a:r>
              <a:rPr lang="ru" sz="1800">
                <a:latin typeface="Urbanist"/>
                <a:ea typeface="Urbanist"/>
                <a:cs typeface="Urbanist"/>
                <a:sym typeface="Urbanist"/>
              </a:rPr>
              <a:t> և ծանոթանացե՛ք Data Career Cards բաժնի քարտերին։</a:t>
            </a:r>
            <a:endParaRPr sz="1800">
              <a:latin typeface="Urbanist"/>
              <a:ea typeface="Urbanist"/>
              <a:cs typeface="Urbanist"/>
              <a:sym typeface="Urbanist"/>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pic>
        <p:nvPicPr>
          <p:cNvPr descr="Image" id="828" name="Google Shape;828;p12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29" name="Google Shape;829;p12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Data</a:t>
            </a:r>
            <a:r>
              <a:rPr lang="ru" sz="3000">
                <a:solidFill>
                  <a:srgbClr val="3A475A"/>
                </a:solidFill>
                <a:latin typeface="Urbanist ExtraBold"/>
                <a:ea typeface="Urbanist ExtraBold"/>
                <a:cs typeface="Urbanist ExtraBold"/>
                <a:sym typeface="Urbanist ExtraBold"/>
              </a:rPr>
              <a:t> Career Cards</a:t>
            </a:r>
            <a:endParaRPr b="0" i="0" sz="500" u="none" cap="none" strike="noStrike">
              <a:solidFill>
                <a:srgbClr val="000000"/>
              </a:solidFill>
              <a:latin typeface="Arial"/>
              <a:ea typeface="Arial"/>
              <a:cs typeface="Arial"/>
              <a:sym typeface="Arial"/>
            </a:endParaRPr>
          </a:p>
        </p:txBody>
      </p:sp>
      <p:pic>
        <p:nvPicPr>
          <p:cNvPr id="830" name="Google Shape;830;p122"/>
          <p:cNvPicPr preferRelativeResize="0"/>
          <p:nvPr/>
        </p:nvPicPr>
        <p:blipFill rotWithShape="1">
          <a:blip r:embed="rId4">
            <a:alphaModFix/>
          </a:blip>
          <a:srcRect b="0" l="4073" r="3127" t="28499"/>
          <a:stretch/>
        </p:blipFill>
        <p:spPr>
          <a:xfrm>
            <a:off x="300313" y="1608791"/>
            <a:ext cx="8543375" cy="3050878"/>
          </a:xfrm>
          <a:prstGeom prst="rect">
            <a:avLst/>
          </a:prstGeom>
          <a:noFill/>
          <a:ln>
            <a:noFill/>
          </a:ln>
        </p:spPr>
      </p:pic>
      <p:sp>
        <p:nvSpPr>
          <p:cNvPr id="831" name="Google Shape;831;p122"/>
          <p:cNvSpPr txBox="1"/>
          <p:nvPr/>
        </p:nvSpPr>
        <p:spPr>
          <a:xfrm>
            <a:off x="427750" y="1212319"/>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Տվյալների ճարտարապետ</a:t>
            </a:r>
            <a:endParaRPr sz="1600">
              <a:solidFill>
                <a:schemeClr val="dk1"/>
              </a:solidFill>
              <a:latin typeface="Urbanist"/>
              <a:ea typeface="Urbanist"/>
              <a:cs typeface="Urbanist"/>
              <a:sym typeface="Urbanist"/>
            </a:endParaRPr>
          </a:p>
        </p:txBody>
      </p:sp>
      <p:sp>
        <p:nvSpPr>
          <p:cNvPr id="832" name="Google Shape;832;p122"/>
          <p:cNvSpPr txBox="1"/>
          <p:nvPr/>
        </p:nvSpPr>
        <p:spPr>
          <a:xfrm>
            <a:off x="2440790"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Տվյալների ճ</a:t>
            </a:r>
            <a:r>
              <a:rPr lang="ru" sz="1600">
                <a:solidFill>
                  <a:schemeClr val="dk1"/>
                </a:solidFill>
                <a:latin typeface="Urbanist"/>
                <a:ea typeface="Urbanist"/>
                <a:cs typeface="Urbanist"/>
                <a:sym typeface="Urbanist"/>
              </a:rPr>
              <a:t>արտարագետ</a:t>
            </a:r>
            <a:endParaRPr sz="1600">
              <a:solidFill>
                <a:schemeClr val="dk1"/>
              </a:solidFill>
              <a:latin typeface="Urbanist"/>
              <a:ea typeface="Urbanist"/>
              <a:cs typeface="Urbanist"/>
              <a:sym typeface="Urbanist"/>
            </a:endParaRPr>
          </a:p>
        </p:txBody>
      </p:sp>
      <p:sp>
        <p:nvSpPr>
          <p:cNvPr id="833" name="Google Shape;833;p122"/>
          <p:cNvSpPr txBox="1"/>
          <p:nvPr/>
        </p:nvSpPr>
        <p:spPr>
          <a:xfrm>
            <a:off x="4581655"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Տվյալագետ</a:t>
            </a:r>
            <a:endParaRPr sz="1600">
              <a:solidFill>
                <a:schemeClr val="dk1"/>
              </a:solidFill>
              <a:latin typeface="Urbanist"/>
              <a:ea typeface="Urbanist"/>
              <a:cs typeface="Urbanist"/>
              <a:sym typeface="Urbanist"/>
            </a:endParaRPr>
          </a:p>
        </p:txBody>
      </p:sp>
      <p:sp>
        <p:nvSpPr>
          <p:cNvPr id="834" name="Google Shape;834;p122"/>
          <p:cNvSpPr txBox="1"/>
          <p:nvPr/>
        </p:nvSpPr>
        <p:spPr>
          <a:xfrm>
            <a:off x="6722505" y="1212310"/>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Բիզնես վերլուծաբան</a:t>
            </a:r>
            <a:endParaRPr sz="1600">
              <a:solidFill>
                <a:schemeClr val="dk1"/>
              </a:solidFill>
              <a:latin typeface="Urbanist"/>
              <a:ea typeface="Urbanist"/>
              <a:cs typeface="Urbanist"/>
              <a:sym typeface="Urbanist"/>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pic>
        <p:nvPicPr>
          <p:cNvPr descr="Image" id="839" name="Google Shape;839;p12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40" name="Google Shape;840;p12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Core AI Career Cards</a:t>
            </a:r>
            <a:endParaRPr b="0" i="0" sz="500" u="none" cap="none" strike="noStrike">
              <a:solidFill>
                <a:srgbClr val="000000"/>
              </a:solidFill>
              <a:latin typeface="Arial"/>
              <a:ea typeface="Arial"/>
              <a:cs typeface="Arial"/>
              <a:sym typeface="Arial"/>
            </a:endParaRPr>
          </a:p>
        </p:txBody>
      </p:sp>
      <p:pic>
        <p:nvPicPr>
          <p:cNvPr id="841" name="Google Shape;841;p123"/>
          <p:cNvPicPr preferRelativeResize="0"/>
          <p:nvPr/>
        </p:nvPicPr>
        <p:blipFill rotWithShape="1">
          <a:blip r:embed="rId4">
            <a:alphaModFix/>
          </a:blip>
          <a:srcRect b="0" l="3887" r="3321" t="28499"/>
          <a:stretch/>
        </p:blipFill>
        <p:spPr>
          <a:xfrm>
            <a:off x="300313" y="1577500"/>
            <a:ext cx="8543375" cy="3050878"/>
          </a:xfrm>
          <a:prstGeom prst="rect">
            <a:avLst/>
          </a:prstGeom>
          <a:noFill/>
          <a:ln>
            <a:noFill/>
          </a:ln>
        </p:spPr>
      </p:pic>
      <p:sp>
        <p:nvSpPr>
          <p:cNvPr id="842" name="Google Shape;842;p123"/>
          <p:cNvSpPr txBox="1"/>
          <p:nvPr/>
        </p:nvSpPr>
        <p:spPr>
          <a:xfrm>
            <a:off x="427750" y="1212319"/>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Տվյալների ճարտարապետ</a:t>
            </a:r>
            <a:endParaRPr sz="1600">
              <a:solidFill>
                <a:schemeClr val="dk1"/>
              </a:solidFill>
              <a:latin typeface="Urbanist"/>
              <a:ea typeface="Urbanist"/>
              <a:cs typeface="Urbanist"/>
              <a:sym typeface="Urbanist"/>
            </a:endParaRPr>
          </a:p>
        </p:txBody>
      </p:sp>
      <p:sp>
        <p:nvSpPr>
          <p:cNvPr id="843" name="Google Shape;843;p123"/>
          <p:cNvSpPr txBox="1"/>
          <p:nvPr/>
        </p:nvSpPr>
        <p:spPr>
          <a:xfrm>
            <a:off x="2440790"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Տվյալների ճարտարագետ</a:t>
            </a:r>
            <a:endParaRPr sz="1600">
              <a:solidFill>
                <a:schemeClr val="dk1"/>
              </a:solidFill>
              <a:latin typeface="Urbanist"/>
              <a:ea typeface="Urbanist"/>
              <a:cs typeface="Urbanist"/>
              <a:sym typeface="Urbanist"/>
            </a:endParaRPr>
          </a:p>
        </p:txBody>
      </p:sp>
      <p:sp>
        <p:nvSpPr>
          <p:cNvPr id="844" name="Google Shape;844;p123"/>
          <p:cNvSpPr txBox="1"/>
          <p:nvPr/>
        </p:nvSpPr>
        <p:spPr>
          <a:xfrm>
            <a:off x="4581655"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Տվյալագետ</a:t>
            </a:r>
            <a:endParaRPr sz="1600">
              <a:solidFill>
                <a:schemeClr val="dk1"/>
              </a:solidFill>
              <a:latin typeface="Urbanist"/>
              <a:ea typeface="Urbanist"/>
              <a:cs typeface="Urbanist"/>
              <a:sym typeface="Urbanist"/>
            </a:endParaRPr>
          </a:p>
        </p:txBody>
      </p:sp>
      <p:sp>
        <p:nvSpPr>
          <p:cNvPr id="845" name="Google Shape;845;p123"/>
          <p:cNvSpPr txBox="1"/>
          <p:nvPr/>
        </p:nvSpPr>
        <p:spPr>
          <a:xfrm>
            <a:off x="6722505" y="1212310"/>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Բիզնես վերլուծաբան</a:t>
            </a:r>
            <a:endParaRPr sz="1600">
              <a:solidFill>
                <a:schemeClr val="dk1"/>
              </a:solidFill>
              <a:latin typeface="Urbanist"/>
              <a:ea typeface="Urbanist"/>
              <a:cs typeface="Urbanist"/>
              <a:sym typeface="Urbanist"/>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pic>
        <p:nvPicPr>
          <p:cNvPr descr="Image" id="850" name="Google Shape;850;p124"/>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851" name="Google Shape;851;p124"/>
          <p:cNvSpPr txBox="1"/>
          <p:nvPr/>
        </p:nvSpPr>
        <p:spPr>
          <a:xfrm>
            <a:off x="337675" y="1923600"/>
            <a:ext cx="6892500" cy="2712900"/>
          </a:xfrm>
          <a:prstGeom prst="rect">
            <a:avLst/>
          </a:prstGeom>
          <a:noFill/>
          <a:ln>
            <a:noFill/>
          </a:ln>
        </p:spPr>
        <p:txBody>
          <a:bodyPr anchorCtr="0" anchor="t" bIns="17150" lIns="17150" spcFirstLastPara="1" rIns="17150" wrap="square" tIns="17150">
            <a:spAutoFit/>
          </a:bodyPr>
          <a:lstStyle/>
          <a:p>
            <a:pPr indent="0" lvl="0" marL="0" marR="381000" rtl="0" algn="l">
              <a:lnSpc>
                <a:spcPct val="120000"/>
              </a:lnSpc>
              <a:spcBef>
                <a:spcPts val="0"/>
              </a:spcBef>
              <a:spcAft>
                <a:spcPts val="0"/>
              </a:spcAft>
              <a:buClr>
                <a:schemeClr val="dk1"/>
              </a:buClr>
              <a:buSzPts val="1100"/>
              <a:buFont typeface="Arial"/>
              <a:buNone/>
            </a:pPr>
            <a:r>
              <a:rPr b="1" i="1" lang="ru" sz="3000">
                <a:solidFill>
                  <a:schemeClr val="dk2"/>
                </a:solidFill>
                <a:latin typeface="Urbanist"/>
                <a:ea typeface="Urbanist"/>
                <a:cs typeface="Urbanist"/>
                <a:sym typeface="Urbanist"/>
              </a:rPr>
              <a:t>Հաջորդող օրինակներից յուրաքանչյուրի դեպքում նշել, թե որ մասնագետներն են լավագույնս համապատասխանում նկարագրված գործընթացների իրականացմանը։ </a:t>
            </a:r>
            <a:endParaRPr b="1" i="1" sz="3000">
              <a:solidFill>
                <a:schemeClr val="dk2"/>
              </a:solidFill>
              <a:latin typeface="Urbanist"/>
              <a:ea typeface="Urbanist"/>
              <a:cs typeface="Urbanist"/>
              <a:sym typeface="Urbanist"/>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pic>
        <p:nvPicPr>
          <p:cNvPr descr="Image" id="856" name="Google Shape;856;p12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57" name="Google Shape;857;p125"/>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Իրավիճակ 1</a:t>
            </a:r>
            <a:endParaRPr b="0" i="0" sz="500" u="none" cap="none" strike="noStrike">
              <a:solidFill>
                <a:srgbClr val="000000"/>
              </a:solidFill>
              <a:latin typeface="Arial"/>
              <a:ea typeface="Arial"/>
              <a:cs typeface="Arial"/>
              <a:sym typeface="Arial"/>
            </a:endParaRPr>
          </a:p>
        </p:txBody>
      </p:sp>
      <p:sp>
        <p:nvSpPr>
          <p:cNvPr id="858" name="Google Shape;858;p125"/>
          <p:cNvSpPr txBox="1"/>
          <p:nvPr/>
        </p:nvSpPr>
        <p:spPr>
          <a:xfrm>
            <a:off x="152400" y="1676400"/>
            <a:ext cx="8486400" cy="313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Խոշոր մանրածախ առևտրի ընկերությունը ցանկանում է արդիականացնել տվյալների նկատմամբ իր ողջ մոտեցումը: Նրանք ունեն հաճախորդներին վաճառված ապրանքներից գրառումներ, որոնք ցրված են տարբեր համակարգերում (առցանց, խանութներում, հավատարմության ծրագիր) և ցանկանում են դրանք միավորել մեկ կենտրոնացված, կազմակերպված համակարգի մեջ, որը կարող է աջակցել հետագա վերլուծություններին:</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Հիմնականում ո՞ր մասնագետը պատասխանատու կլինի տվյալների կազմակերպման, պահպանման և օգտագործման համար պատրաստ լինելու ընդհանուր կառուցվածքի և ռազմավարության մշակման համար՝ ապահովելով դրանց մասշտաբայնությունն ու անվտանգությունը առաջիկա տարիների ընթացքում: </a:t>
            </a:r>
            <a:endParaRPr sz="1600">
              <a:solidFill>
                <a:schemeClr val="dk1"/>
              </a:solidFill>
              <a:latin typeface="Urbanist"/>
              <a:ea typeface="Urbanist"/>
              <a:cs typeface="Urbanist"/>
              <a:sym typeface="Urbanist"/>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pic>
        <p:nvPicPr>
          <p:cNvPr descr="Image" id="863" name="Google Shape;863;p12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64" name="Google Shape;864;p12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Իրավիճակ 2</a:t>
            </a:r>
            <a:endParaRPr b="0" i="0" sz="500" u="none" cap="none" strike="noStrike">
              <a:solidFill>
                <a:srgbClr val="000000"/>
              </a:solidFill>
              <a:latin typeface="Arial"/>
              <a:ea typeface="Arial"/>
              <a:cs typeface="Arial"/>
              <a:sym typeface="Arial"/>
            </a:endParaRPr>
          </a:p>
        </p:txBody>
      </p:sp>
      <p:sp>
        <p:nvSpPr>
          <p:cNvPr id="865" name="Google Shape;865;p126"/>
          <p:cNvSpPr txBox="1"/>
          <p:nvPr/>
        </p:nvSpPr>
        <p:spPr>
          <a:xfrm>
            <a:off x="152400" y="1676400"/>
            <a:ext cx="8486400" cy="256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Հետևելով տվյալների կազմակերպման ռազմավարությանը, մանրածախ առևտրի ընկերությունը այժմ պետք է կառուցի ավտոմատացված համակարգեր, որոնք կհավաքեն հաճախորդներինվաճառված ապրանքների տվյալները տարբեր աղբյուրներից, կմաքրեն դրանք (կուղղեն սխալները, կստանդարտացնեն ձևաչափերը), ապա կտեղադրեն դրանք նոր նախագծված կենտրոնական պահեստավորման համակարգում, որպեսզի դրանք պատրաստ լինեն վերլուծության համար: </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Հիմնականում ո՞ր մասնագետը պատասխանատու կլինի այս ավտոմատացված հավաքագրման համակարգերի կառուցման և պահպանման համար: </a:t>
            </a:r>
            <a:endParaRPr sz="1600">
              <a:solidFill>
                <a:schemeClr val="dk1"/>
              </a:solidFill>
              <a:latin typeface="Urbanist"/>
              <a:ea typeface="Urbanist"/>
              <a:cs typeface="Urbanist"/>
              <a:sym typeface="Urbanist"/>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descr="Image" id="870" name="Google Shape;870;p12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71" name="Google Shape;871;p12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Իրավիճակ 3</a:t>
            </a:r>
            <a:endParaRPr b="0" i="0" sz="500" u="none" cap="none" strike="noStrike">
              <a:solidFill>
                <a:srgbClr val="000000"/>
              </a:solidFill>
              <a:latin typeface="Arial"/>
              <a:ea typeface="Arial"/>
              <a:cs typeface="Arial"/>
              <a:sym typeface="Arial"/>
            </a:endParaRPr>
          </a:p>
        </p:txBody>
      </p:sp>
      <p:sp>
        <p:nvSpPr>
          <p:cNvPr id="872" name="Google Shape;872;p127"/>
          <p:cNvSpPr txBox="1"/>
          <p:nvPr/>
        </p:nvSpPr>
        <p:spPr>
          <a:xfrm>
            <a:off x="152400" y="1676400"/>
            <a:ext cx="8486400" cy="256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Հաշվի առնելով, որ հաճախորդներին վերաբերող վաճառքի տվյալներն արդեն պատրաստ են, ընկերությունն այժմ ցանկանում է պատասխանել հետևյալ բիզնես հարցին «Ո՞ր խմբին պատկանող հաճախորդներն ավելի շատ հետաքրքրված կլինեն նոր արտադրանքով և ի՞նչ չափի զեղչ կարելի է առաջարկել նրանց»։ </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Հիմնականում ո՞ր մասնագետը պատասխանատու կլինի այս տվյալների վերլուծության, վիճակագրական մեթոդների և կանխատեսողական մոդելավորման կիրառման՝ օրինաչափությունները հայտնաբերելու, ապա իրենց արդյունքների հիման վրա գործնական առաջարկություններ տրամադրելու համար։</a:t>
            </a:r>
            <a:endParaRPr sz="1600">
              <a:solidFill>
                <a:schemeClr val="dk1"/>
              </a:solidFill>
              <a:latin typeface="Urbanist"/>
              <a:ea typeface="Urbanist"/>
              <a:cs typeface="Urbanist"/>
              <a:sym typeface="Urbanist"/>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pic>
        <p:nvPicPr>
          <p:cNvPr descr="Image" id="877" name="Google Shape;877;p12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78" name="Google Shape;878;p12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Իրավիճակ 4</a:t>
            </a:r>
            <a:endParaRPr b="0" i="0" sz="500" u="none" cap="none" strike="noStrike">
              <a:solidFill>
                <a:srgbClr val="000000"/>
              </a:solidFill>
              <a:latin typeface="Arial"/>
              <a:ea typeface="Arial"/>
              <a:cs typeface="Arial"/>
              <a:sym typeface="Arial"/>
            </a:endParaRPr>
          </a:p>
        </p:txBody>
      </p:sp>
      <p:sp>
        <p:nvSpPr>
          <p:cNvPr id="879" name="Google Shape;879;p128"/>
          <p:cNvSpPr txBox="1"/>
          <p:nvPr/>
        </p:nvSpPr>
        <p:spPr>
          <a:xfrm>
            <a:off x="152400" y="1676400"/>
            <a:ext cx="8486400" cy="256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600">
                <a:solidFill>
                  <a:schemeClr val="dk2"/>
                </a:solidFill>
                <a:latin typeface="Urbanist SemiBold"/>
                <a:ea typeface="Urbanist SemiBold"/>
                <a:cs typeface="Urbanist SemiBold"/>
                <a:sym typeface="Urbanist SemiBold"/>
              </a:rPr>
              <a:t>Մինչ մանրածախ առևտրի ընկերությունը նույնիսկ սկսեց մտածել տվյալների կենտրոնացման մասին, նրանք նկատեցին հաճախորդների կողմից կրկնակի գնումների զգալի նվազում: Նրանց անհրաժեշտ է մեկը, որը կհետաքննի, թե ինչու է դա տեղի ունենում, կխոսի վաճառքի և մարքեթինգի թիմերի հետ՝ իրենց մարտահրավերները հասկանալու համար, ապա հստակ կսահմանի, թե ինչ տեղեկատվություն է անհրաժեշտ նոր տվյալների համակարգից՝ խնդիրը լուծելու համար:</a:t>
            </a:r>
            <a:endParaRPr sz="1600">
              <a:solidFill>
                <a:schemeClr val="dk2"/>
              </a:solidFill>
              <a:latin typeface="Urbanist SemiBold"/>
              <a:ea typeface="Urbanist SemiBold"/>
              <a:cs typeface="Urbanist SemiBold"/>
              <a:sym typeface="Urbanist SemiBold"/>
            </a:endParaRPr>
          </a:p>
          <a:p>
            <a:pPr indent="0" lvl="0" marL="0" rtl="0" algn="l">
              <a:lnSpc>
                <a:spcPct val="115000"/>
              </a:lnSpc>
              <a:spcBef>
                <a:spcPts val="1200"/>
              </a:spcBef>
              <a:spcAft>
                <a:spcPts val="1200"/>
              </a:spcAft>
              <a:buNone/>
            </a:pPr>
            <a:r>
              <a:rPr lang="ru" sz="1600">
                <a:solidFill>
                  <a:schemeClr val="dk1"/>
                </a:solidFill>
                <a:latin typeface="Urbanist"/>
                <a:ea typeface="Urbanist"/>
                <a:cs typeface="Urbanist"/>
                <a:sym typeface="Urbanist"/>
              </a:rPr>
              <a:t>Հիմնականում ո՞ր մասնագետը պատասխանատու կլինի բիզնես մարտահրավերը հասկանալու և այն տեխնիկական թիմերի համար պահանջների վերածելու համար: </a:t>
            </a:r>
            <a:endParaRPr sz="1600">
              <a:solidFill>
                <a:schemeClr val="dk1"/>
              </a:solidFill>
              <a:latin typeface="Urbanist"/>
              <a:ea typeface="Urbanist"/>
              <a:cs typeface="Urbanist"/>
              <a:sym typeface="Urbanist"/>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pic>
        <p:nvPicPr>
          <p:cNvPr descr="Image" id="884" name="Google Shape;884;p129"/>
          <p:cNvPicPr preferRelativeResize="0"/>
          <p:nvPr/>
        </p:nvPicPr>
        <p:blipFill rotWithShape="1">
          <a:blip r:embed="rId3">
            <a:alphaModFix amt="83550"/>
          </a:blip>
          <a:srcRect b="0" l="0" r="0" t="0"/>
          <a:stretch/>
        </p:blipFill>
        <p:spPr>
          <a:xfrm>
            <a:off x="1773927" y="959826"/>
            <a:ext cx="4361626" cy="3223849"/>
          </a:xfrm>
          <a:prstGeom prst="rect">
            <a:avLst/>
          </a:prstGeom>
          <a:noFill/>
          <a:ln>
            <a:noFill/>
          </a:ln>
        </p:spPr>
      </p:pic>
      <p:sp>
        <p:nvSpPr>
          <p:cNvPr id="885" name="Google Shape;885;p129"/>
          <p:cNvSpPr txBox="1"/>
          <p:nvPr/>
        </p:nvSpPr>
        <p:spPr>
          <a:xfrm>
            <a:off x="337675" y="1923600"/>
            <a:ext cx="6892500" cy="496500"/>
          </a:xfrm>
          <a:prstGeom prst="rect">
            <a:avLst/>
          </a:prstGeom>
          <a:noFill/>
          <a:ln>
            <a:noFill/>
          </a:ln>
        </p:spPr>
        <p:txBody>
          <a:bodyPr anchorCtr="0" anchor="t" bIns="17150" lIns="17150" spcFirstLastPara="1" rIns="17150" wrap="square" tIns="17150">
            <a:spAutoFit/>
          </a:bodyPr>
          <a:lstStyle/>
          <a:p>
            <a:pPr indent="0" lvl="0" marL="0" marR="381000" rtl="0" algn="l">
              <a:lnSpc>
                <a:spcPct val="120000"/>
              </a:lnSpc>
              <a:spcBef>
                <a:spcPts val="0"/>
              </a:spcBef>
              <a:spcAft>
                <a:spcPts val="0"/>
              </a:spcAft>
              <a:buClr>
                <a:schemeClr val="dk1"/>
              </a:buClr>
              <a:buSzPts val="1100"/>
              <a:buFont typeface="Arial"/>
              <a:buNone/>
            </a:pPr>
            <a:r>
              <a:rPr b="1" i="1" lang="ru" sz="3000">
                <a:solidFill>
                  <a:schemeClr val="dk2"/>
                </a:solidFill>
                <a:latin typeface="Urbanist"/>
                <a:ea typeface="Urbanist"/>
                <a:cs typeface="Urbanist"/>
                <a:sym typeface="Urbanist"/>
              </a:rPr>
              <a:t>Պատասխաններ</a:t>
            </a:r>
            <a:endParaRPr i="1" sz="3000">
              <a:solidFill>
                <a:schemeClr val="dk2"/>
              </a:solidFill>
              <a:latin typeface="Urbanist ExtraBold"/>
              <a:ea typeface="Urbanist ExtraBold"/>
              <a:cs typeface="Urbanist ExtraBold"/>
              <a:sym typeface="Urbanist ExtraBo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pic>
        <p:nvPicPr>
          <p:cNvPr descr="Image" id="890" name="Google Shape;890;p13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91" name="Google Shape;891;p13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Պատասխաններ</a:t>
            </a:r>
            <a:endParaRPr b="0" i="0" sz="500" u="none" cap="none" strike="noStrike">
              <a:solidFill>
                <a:srgbClr val="000000"/>
              </a:solidFill>
              <a:latin typeface="Arial"/>
              <a:ea typeface="Arial"/>
              <a:cs typeface="Arial"/>
              <a:sym typeface="Arial"/>
            </a:endParaRPr>
          </a:p>
        </p:txBody>
      </p:sp>
      <p:sp>
        <p:nvSpPr>
          <p:cNvPr id="892" name="Google Shape;892;p130"/>
          <p:cNvSpPr txBox="1"/>
          <p:nvPr/>
        </p:nvSpPr>
        <p:spPr>
          <a:xfrm>
            <a:off x="152400" y="1676400"/>
            <a:ext cx="8486400" cy="17424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Տվյալների ճարտարապետ (Data architect)</a:t>
            </a:r>
            <a:endParaRPr sz="1600">
              <a:solidFill>
                <a:schemeClr val="dk1"/>
              </a:solidFill>
              <a:latin typeface="Urbanist"/>
              <a:ea typeface="Urbanist"/>
              <a:cs typeface="Urbanist"/>
              <a:sym typeface="Urbanist"/>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Տվյալների ճարտարագետ (Data engineer)</a:t>
            </a:r>
            <a:endParaRPr sz="1600">
              <a:solidFill>
                <a:schemeClr val="dk1"/>
              </a:solidFill>
              <a:latin typeface="Urbanist"/>
              <a:ea typeface="Urbanist"/>
              <a:cs typeface="Urbanist"/>
              <a:sym typeface="Urbanist"/>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Տվյալագետ (Data scientist)</a:t>
            </a:r>
            <a:endParaRPr sz="1600">
              <a:solidFill>
                <a:schemeClr val="dk1"/>
              </a:solidFill>
              <a:latin typeface="Urbanist"/>
              <a:ea typeface="Urbanist"/>
              <a:cs typeface="Urbanist"/>
              <a:sym typeface="Urbanist"/>
            </a:endParaRPr>
          </a:p>
          <a:p>
            <a:pPr indent="-330200" lvl="0" marL="457200" rtl="0" algn="l">
              <a:lnSpc>
                <a:spcPct val="115000"/>
              </a:lnSpc>
              <a:spcBef>
                <a:spcPts val="12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Բիզնես վերլուծաբան (Business analyst)</a:t>
            </a:r>
            <a:endParaRPr sz="1600">
              <a:solidFill>
                <a:schemeClr val="dk1"/>
              </a:solidFill>
              <a:latin typeface="Urbanist"/>
              <a:ea typeface="Urbanist"/>
              <a:cs typeface="Urbanist"/>
              <a:sym typeface="Urbanist"/>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pic>
        <p:nvPicPr>
          <p:cNvPr descr="Image" id="897" name="Google Shape;897;p13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898" name="Google Shape;898;p13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Ամփոփիչ հարցեր</a:t>
            </a:r>
            <a:endParaRPr b="0" i="0" sz="500" u="none" cap="none" strike="noStrike">
              <a:solidFill>
                <a:srgbClr val="000000"/>
              </a:solidFill>
              <a:latin typeface="Arial"/>
              <a:ea typeface="Arial"/>
              <a:cs typeface="Arial"/>
              <a:sym typeface="Arial"/>
            </a:endParaRPr>
          </a:p>
        </p:txBody>
      </p:sp>
      <p:sp>
        <p:nvSpPr>
          <p:cNvPr id="899" name="Google Shape;899;p131"/>
          <p:cNvSpPr txBox="1"/>
          <p:nvPr/>
        </p:nvSpPr>
        <p:spPr>
          <a:xfrm>
            <a:off x="152400" y="1676400"/>
            <a:ext cx="8486400" cy="1845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Ի՞նչն ամենաշատը զարմացրեց նկարագրված մասնագիտությունների մեջ։</a:t>
            </a:r>
            <a:endParaRPr sz="1600">
              <a:solidFill>
                <a:schemeClr val="dk1"/>
              </a:solidFill>
              <a:latin typeface="Urbanist"/>
              <a:ea typeface="Urbanist"/>
              <a:cs typeface="Urbanist"/>
              <a:sym typeface="Urbanist"/>
            </a:endParaRPr>
          </a:p>
          <a:p>
            <a:pPr indent="-330200" lvl="0" marL="457200" rtl="0" algn="l">
              <a:lnSpc>
                <a:spcPct val="115000"/>
              </a:lnSpc>
              <a:spcBef>
                <a:spcPts val="10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Ինչպե՞ս կարող են ձեր հետաքրքրությունները հատվել այդ մասնագիտությունների պահանջների հետ։</a:t>
            </a:r>
            <a:endParaRPr sz="1600">
              <a:solidFill>
                <a:schemeClr val="dk1"/>
              </a:solidFill>
              <a:latin typeface="Urbanist"/>
              <a:ea typeface="Urbanist"/>
              <a:cs typeface="Urbanist"/>
              <a:sym typeface="Urbanist"/>
            </a:endParaRPr>
          </a:p>
          <a:p>
            <a:pPr indent="-330200" lvl="0" marL="457200" rtl="0" algn="l">
              <a:lnSpc>
                <a:spcPct val="115000"/>
              </a:lnSpc>
              <a:spcBef>
                <a:spcPts val="12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Ի՞նչ անհրաժեշտ հմտություններ են ձեզ անհրաժեշտ մասնագիտանալու համար և ի՞նչ քայլեր եք նախատեսում նախաձեռնել։ </a:t>
            </a:r>
            <a:endParaRPr sz="1600">
              <a:solidFill>
                <a:schemeClr val="dk1"/>
              </a:solidFill>
              <a:latin typeface="Urbanist"/>
              <a:ea typeface="Urbanist"/>
              <a:cs typeface="Urbanist"/>
              <a:sym typeface="Urbanist"/>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903" name="Shape 903"/>
        <p:cNvGrpSpPr/>
        <p:nvPr/>
      </p:nvGrpSpPr>
      <p:grpSpPr>
        <a:xfrm>
          <a:off x="0" y="0"/>
          <a:ext cx="0" cy="0"/>
          <a:chOff x="0" y="0"/>
          <a:chExt cx="0" cy="0"/>
        </a:xfrm>
      </p:grpSpPr>
      <p:pic>
        <p:nvPicPr>
          <p:cNvPr descr="Image" id="904" name="Google Shape;904;p132"/>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905" name="Google Shape;905;p132"/>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906" name="Google Shape;906;p132"/>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pic>
        <p:nvPicPr>
          <p:cNvPr descr="Image" id="911" name="Google Shape;911;p13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12" name="Google Shape;912;p133"/>
          <p:cNvSpPr txBox="1"/>
          <p:nvPr/>
        </p:nvSpPr>
        <p:spPr>
          <a:xfrm>
            <a:off x="476246" y="282675"/>
            <a:ext cx="8162400" cy="11430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2400">
                <a:solidFill>
                  <a:srgbClr val="3A475A"/>
                </a:solidFill>
                <a:latin typeface="Urbanist ExtraBold"/>
                <a:ea typeface="Urbanist ExtraBold"/>
                <a:cs typeface="Urbanist ExtraBold"/>
                <a:sym typeface="Urbanist ExtraBold"/>
              </a:rPr>
              <a:t>Թեմա 7. Գործնական դաս 4. «Իմ ԱԲ ուղին» պաստառի ստեղծման և նախագծման գործնական աշխատանք- Մաս 2</a:t>
            </a:r>
            <a:endParaRPr sz="2400">
              <a:solidFill>
                <a:srgbClr val="3A475A"/>
              </a:solidFill>
              <a:latin typeface="Urbanist ExtraBold"/>
              <a:ea typeface="Urbanist ExtraBold"/>
              <a:cs typeface="Urbanist ExtraBold"/>
              <a:sym typeface="Urbanist ExtraBold"/>
            </a:endParaRPr>
          </a:p>
        </p:txBody>
      </p:sp>
      <p:sp>
        <p:nvSpPr>
          <p:cNvPr id="913" name="Google Shape;913;p133"/>
          <p:cNvSpPr txBox="1"/>
          <p:nvPr/>
        </p:nvSpPr>
        <p:spPr>
          <a:xfrm>
            <a:off x="490525" y="1550529"/>
            <a:ext cx="8162400" cy="3267000"/>
          </a:xfrm>
          <a:prstGeom prst="rect">
            <a:avLst/>
          </a:prstGeom>
          <a:noFill/>
          <a:ln>
            <a:noFill/>
          </a:ln>
        </p:spPr>
        <p:txBody>
          <a:bodyPr anchorCtr="0" anchor="t" bIns="17150" lIns="17150" spcFirstLastPara="1" rIns="17150" wrap="square" tIns="17150">
            <a:spAutoFit/>
          </a:bodyPr>
          <a:lstStyle/>
          <a:p>
            <a:pPr indent="0" lvl="0" marL="0" rtl="0" algn="l">
              <a:lnSpc>
                <a:spcPct val="115000"/>
              </a:lnSpc>
              <a:spcBef>
                <a:spcPts val="0"/>
              </a:spcBef>
              <a:spcAft>
                <a:spcPts val="0"/>
              </a:spcAft>
              <a:buClr>
                <a:schemeClr val="dk1"/>
              </a:buClr>
              <a:buSzPts val="1100"/>
              <a:buFont typeface="Arial"/>
              <a:buNone/>
            </a:pPr>
            <a:r>
              <a:rPr lang="ru" sz="1600">
                <a:solidFill>
                  <a:srgbClr val="3A475A"/>
                </a:solidFill>
                <a:latin typeface="Urbanist ExtraLight"/>
                <a:ea typeface="Urbanist ExtraLight"/>
                <a:cs typeface="Urbanist ExtraLight"/>
                <a:sym typeface="Urbanist ExtraLight"/>
              </a:rPr>
              <a:t>Դասի նպատակներ՝</a:t>
            </a:r>
            <a:endParaRPr sz="1600">
              <a:solidFill>
                <a:srgbClr val="3A475A"/>
              </a:solidFill>
              <a:latin typeface="Urbanist ExtraLight"/>
              <a:ea typeface="Urbanist ExtraLight"/>
              <a:cs typeface="Urbanist ExtraLight"/>
              <a:sym typeface="Urbanist ExtraLight"/>
            </a:endParaRPr>
          </a:p>
          <a:p>
            <a:pPr indent="-330200" lvl="0" marL="457200" rtl="0" algn="l">
              <a:lnSpc>
                <a:spcPct val="115000"/>
              </a:lnSpc>
              <a:spcBef>
                <a:spcPts val="1200"/>
              </a:spcBef>
              <a:spcAft>
                <a:spcPts val="0"/>
              </a:spcAft>
              <a:buClr>
                <a:srgbClr val="FDC672"/>
              </a:buClr>
              <a:buSzPts val="1600"/>
              <a:buFont typeface="Urbanist"/>
              <a:buChar char="●"/>
            </a:pPr>
            <a:r>
              <a:rPr lang="ru" sz="1600">
                <a:latin typeface="Urbanist"/>
                <a:ea typeface="Urbanist"/>
                <a:cs typeface="Urbanist"/>
                <a:sym typeface="Urbanist"/>
              </a:rPr>
              <a:t>Նշել խոսակցական ԱԲ մասնագետի և բնական լեզվի մշակման ճարտարագետի աշխատանքից օրինակներ, նշել անհրաժեշտ տեխնիկական որակավորումները</a:t>
            </a:r>
            <a:endParaRPr sz="1600">
              <a:latin typeface="Urbanist"/>
              <a:ea typeface="Urbanist"/>
              <a:cs typeface="Urbanist"/>
              <a:sym typeface="Urbanis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Նշել արտադրանքի մենեջերի, UX դիզայների և ծրագրային ճարտարագետի աշխատանքից օրինակներ, նշել անհրաժեշտ տեխնիկական որակավորումները</a:t>
            </a:r>
            <a:endParaRPr sz="1600">
              <a:latin typeface="Urbanist"/>
              <a:ea typeface="Urbanist"/>
              <a:cs typeface="Urbanist"/>
              <a:sym typeface="Urbanis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Քննարկել ԱԲ կիրառությունը բժշկության մեջ</a:t>
            </a:r>
            <a:endParaRPr sz="1600">
              <a:latin typeface="Urbanist"/>
              <a:ea typeface="Urbanist"/>
              <a:cs typeface="Urbanist"/>
              <a:sym typeface="Urbanis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Նշել առողջապահական ոլորտի մասնագիտություններ</a:t>
            </a:r>
            <a:endParaRPr sz="1600">
              <a:latin typeface="Urbanist"/>
              <a:ea typeface="Urbanist"/>
              <a:cs typeface="Urbanist"/>
              <a:sym typeface="Urbanis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Նշել ռոբոտաշինության ճարտարագետի, ռոբոտաշինության տեխնիկի աշխատանքից օրինակներ, նշել անհրաժեշտ տեխնիկական որակավորումները</a:t>
            </a:r>
            <a:endParaRPr sz="1600">
              <a:latin typeface="Urbanist"/>
              <a:ea typeface="Urbanist"/>
              <a:cs typeface="Urbanist"/>
              <a:sym typeface="Urbanist"/>
            </a:endParaRPr>
          </a:p>
          <a:p>
            <a:pPr indent="-330200" lvl="0" marL="457200"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Նշել փափուկ հմտությունները և դրանց անհրաժեշտությունը ցանկացած աշխատանքում </a:t>
            </a:r>
            <a:endParaRPr sz="1600">
              <a:latin typeface="Urbanist"/>
              <a:ea typeface="Urbanist"/>
              <a:cs typeface="Urbanist"/>
              <a:sym typeface="Urbanist"/>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917" name="Shape 917"/>
        <p:cNvGrpSpPr/>
        <p:nvPr/>
      </p:nvGrpSpPr>
      <p:grpSpPr>
        <a:xfrm>
          <a:off x="0" y="0"/>
          <a:ext cx="0" cy="0"/>
          <a:chOff x="0" y="0"/>
          <a:chExt cx="0" cy="0"/>
        </a:xfrm>
      </p:grpSpPr>
      <p:pic>
        <p:nvPicPr>
          <p:cNvPr descr="Image" id="918" name="Google Shape;918;p134"/>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919" name="Google Shape;919;p134"/>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Զույգերով աշխատանք</a:t>
            </a:r>
            <a:endParaRPr b="0" i="0" sz="500" u="none" cap="none" strike="noStrike">
              <a:solidFill>
                <a:srgbClr val="000000"/>
              </a:solidFill>
              <a:latin typeface="Arial"/>
              <a:ea typeface="Arial"/>
              <a:cs typeface="Arial"/>
              <a:sym typeface="Arial"/>
            </a:endParaRPr>
          </a:p>
        </p:txBody>
      </p:sp>
      <p:sp>
        <p:nvSpPr>
          <p:cNvPr id="920" name="Google Shape;920;p134"/>
          <p:cNvSpPr txBox="1"/>
          <p:nvPr/>
        </p:nvSpPr>
        <p:spPr>
          <a:xfrm>
            <a:off x="949400" y="1114425"/>
            <a:ext cx="7313700" cy="11028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0" lvl="0" marL="0" rtl="0" algn="l">
              <a:lnSpc>
                <a:spcPct val="115000"/>
              </a:lnSpc>
              <a:spcBef>
                <a:spcPts val="1200"/>
              </a:spcBef>
              <a:spcAft>
                <a:spcPts val="1200"/>
              </a:spcAft>
              <a:buNone/>
            </a:pPr>
            <a:r>
              <a:rPr lang="ru" sz="1800">
                <a:latin typeface="Urbanist"/>
                <a:ea typeface="Urbanist"/>
                <a:cs typeface="Urbanist"/>
                <a:sym typeface="Urbanist"/>
              </a:rPr>
              <a:t>Անցե՛ք հետևյալ </a:t>
            </a:r>
            <a:r>
              <a:rPr lang="ru" sz="1800" u="sng">
                <a:solidFill>
                  <a:schemeClr val="hlink"/>
                </a:solidFill>
                <a:latin typeface="Urbanist"/>
                <a:ea typeface="Urbanist"/>
                <a:cs typeface="Urbanist"/>
                <a:sym typeface="Urbanist"/>
                <a:hlinkClick r:id="rId4"/>
              </a:rPr>
              <a:t>հղմամբ</a:t>
            </a:r>
            <a:r>
              <a:rPr lang="ru" sz="1800">
                <a:latin typeface="Urbanist"/>
                <a:ea typeface="Urbanist"/>
                <a:cs typeface="Urbanist"/>
                <a:sym typeface="Urbanist"/>
              </a:rPr>
              <a:t> և ծանոթանացե՛ք Language Career Cards բաժնի քարտերին։</a:t>
            </a:r>
            <a:endParaRPr sz="1800">
              <a:latin typeface="Urbanist"/>
              <a:ea typeface="Urbanist"/>
              <a:cs typeface="Urbanist"/>
              <a:sym typeface="Urbanist"/>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pic>
        <p:nvPicPr>
          <p:cNvPr descr="Image" id="925" name="Google Shape;925;p13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26" name="Google Shape;926;p135"/>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Language </a:t>
            </a:r>
            <a:r>
              <a:rPr lang="ru" sz="3000">
                <a:solidFill>
                  <a:srgbClr val="3A475A"/>
                </a:solidFill>
                <a:latin typeface="Urbanist ExtraBold"/>
                <a:ea typeface="Urbanist ExtraBold"/>
                <a:cs typeface="Urbanist ExtraBold"/>
                <a:sym typeface="Urbanist ExtraBold"/>
              </a:rPr>
              <a:t>Career Cards</a:t>
            </a:r>
            <a:endParaRPr b="0" i="0" sz="500" u="none" cap="none" strike="noStrike">
              <a:solidFill>
                <a:srgbClr val="000000"/>
              </a:solidFill>
              <a:latin typeface="Arial"/>
              <a:ea typeface="Arial"/>
              <a:cs typeface="Arial"/>
              <a:sym typeface="Arial"/>
            </a:endParaRPr>
          </a:p>
        </p:txBody>
      </p:sp>
      <p:sp>
        <p:nvSpPr>
          <p:cNvPr id="927" name="Google Shape;927;p135"/>
          <p:cNvSpPr txBox="1"/>
          <p:nvPr/>
        </p:nvSpPr>
        <p:spPr>
          <a:xfrm>
            <a:off x="1304137" y="1212319"/>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Խոսակցական ԱԲ մասնագետ</a:t>
            </a:r>
            <a:endParaRPr sz="1600">
              <a:solidFill>
                <a:schemeClr val="dk1"/>
              </a:solidFill>
              <a:latin typeface="Urbanist"/>
              <a:ea typeface="Urbanist"/>
              <a:cs typeface="Urbanist"/>
              <a:sym typeface="Urbanist"/>
            </a:endParaRPr>
          </a:p>
        </p:txBody>
      </p:sp>
      <p:sp>
        <p:nvSpPr>
          <p:cNvPr id="928" name="Google Shape;928;p135"/>
          <p:cNvSpPr txBox="1"/>
          <p:nvPr/>
        </p:nvSpPr>
        <p:spPr>
          <a:xfrm>
            <a:off x="5153936" y="1212325"/>
            <a:ext cx="24921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Բնական լեզվի մշակման ճարտարագետ</a:t>
            </a:r>
            <a:endParaRPr sz="1600">
              <a:solidFill>
                <a:schemeClr val="dk1"/>
              </a:solidFill>
              <a:latin typeface="Urbanist"/>
              <a:ea typeface="Urbanist"/>
              <a:cs typeface="Urbanist"/>
              <a:sym typeface="Urbanist"/>
            </a:endParaRPr>
          </a:p>
        </p:txBody>
      </p:sp>
      <p:pic>
        <p:nvPicPr>
          <p:cNvPr id="929" name="Google Shape;929;p135"/>
          <p:cNvPicPr preferRelativeResize="0"/>
          <p:nvPr/>
        </p:nvPicPr>
        <p:blipFill rotWithShape="1">
          <a:blip r:embed="rId4">
            <a:alphaModFix/>
          </a:blip>
          <a:srcRect b="0" l="0" r="49091" t="0"/>
          <a:stretch/>
        </p:blipFill>
        <p:spPr>
          <a:xfrm>
            <a:off x="162837" y="1871825"/>
            <a:ext cx="2131900" cy="2975200"/>
          </a:xfrm>
          <a:prstGeom prst="rect">
            <a:avLst/>
          </a:prstGeom>
          <a:noFill/>
          <a:ln>
            <a:noFill/>
          </a:ln>
        </p:spPr>
      </p:pic>
      <p:pic>
        <p:nvPicPr>
          <p:cNvPr id="930" name="Google Shape;930;p135"/>
          <p:cNvPicPr preferRelativeResize="0"/>
          <p:nvPr/>
        </p:nvPicPr>
        <p:blipFill>
          <a:blip r:embed="rId5">
            <a:alphaModFix/>
          </a:blip>
          <a:stretch>
            <a:fillRect/>
          </a:stretch>
        </p:blipFill>
        <p:spPr>
          <a:xfrm>
            <a:off x="2248923" y="1871824"/>
            <a:ext cx="2131900" cy="3018135"/>
          </a:xfrm>
          <a:prstGeom prst="rect">
            <a:avLst/>
          </a:prstGeom>
          <a:noFill/>
          <a:ln>
            <a:noFill/>
          </a:ln>
        </p:spPr>
      </p:pic>
      <p:pic>
        <p:nvPicPr>
          <p:cNvPr id="931" name="Google Shape;931;p135"/>
          <p:cNvPicPr preferRelativeResize="0"/>
          <p:nvPr/>
        </p:nvPicPr>
        <p:blipFill>
          <a:blip r:embed="rId6">
            <a:alphaModFix/>
          </a:blip>
          <a:stretch>
            <a:fillRect/>
          </a:stretch>
        </p:blipFill>
        <p:spPr>
          <a:xfrm>
            <a:off x="4595814" y="1871825"/>
            <a:ext cx="2131899" cy="3086836"/>
          </a:xfrm>
          <a:prstGeom prst="rect">
            <a:avLst/>
          </a:prstGeom>
          <a:noFill/>
          <a:ln>
            <a:noFill/>
          </a:ln>
        </p:spPr>
      </p:pic>
      <p:pic>
        <p:nvPicPr>
          <p:cNvPr id="932" name="Google Shape;932;p135"/>
          <p:cNvPicPr preferRelativeResize="0"/>
          <p:nvPr/>
        </p:nvPicPr>
        <p:blipFill>
          <a:blip r:embed="rId7">
            <a:alphaModFix/>
          </a:blip>
          <a:stretch>
            <a:fillRect/>
          </a:stretch>
        </p:blipFill>
        <p:spPr>
          <a:xfrm>
            <a:off x="6786207" y="1871825"/>
            <a:ext cx="2131900" cy="3030828"/>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descr="Image" id="937" name="Google Shape;937;p13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38" name="Google Shape;938;p13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Language Career Cards</a:t>
            </a:r>
            <a:endParaRPr b="0" i="0" sz="500" u="none" cap="none" strike="noStrike">
              <a:solidFill>
                <a:srgbClr val="000000"/>
              </a:solidFill>
              <a:latin typeface="Arial"/>
              <a:ea typeface="Arial"/>
              <a:cs typeface="Arial"/>
              <a:sym typeface="Arial"/>
            </a:endParaRPr>
          </a:p>
        </p:txBody>
      </p:sp>
      <p:pic>
        <p:nvPicPr>
          <p:cNvPr descr="Conversational AI, a kind of artificial intelligence, enables businesses to have natural, human-like conversations with their users. And do so in real-time with high accuracy and minimal errors!&#10;&#10;Navigate your way to the video here.&#10;00:00 - What is conversational AI?&#10;00:13 - Conversational AI functions in 3 key ways&#10;00:23 - Types of conversational AI&#10;00:28 - Main components of conversational AI&#10;00:37 -  How does conversational AI work?&#10;00:50 - Benefits of conversational AI: What do you gain from it?&#10;&#10;If you'd rather like to read this, click here 👉 https://bit.ly/3KwnXLc &#10;&#10;We would love to interact with you more. Say ‘Hi’ in the comments and let us know what you thought of the video. &#10;&#10;-------------------------------------------------------------------------------------------------------------------------------------------------&#10;Verloop.io is the world's leading customer support automation platform that helps businesses deliver delightful support experiences to their customers, across channels. &#10;&#10;Use Verloop.io to:&#10;&#10;- Automate Customer Support on Website, In-App, Facebook Messenger and WhatsApp&#10;- Generate more leads on your landing pages&#10;- Engage with your customers in real-time&#10;- Improve customer experience by assisted buying experience&#10;- Provide a true omnichannel engagement&#10;- Interact with your customers in multiple languages&#10;- Get insights into customer behaviour and improve customer service&#10;&#10;Join 15,000+ businesses in eCommerce, Real Estate, Banking and Financial Services, Insurance, Travel, Logistics, Healthcare and other industries to automate customer support. &#10;&#10;Contact us to know how we can help you get closer to your customers. &#10;Schedule a demo by visiting our website: https://verloop.io/get-demo/ &#10;&#10;--------------------------------------------------------------------------------------------------------------------------------------------------&#10;&#10;Stay connected with Verloop.io&#10;&#10;Blog: https://verloop.io/blog/ &#10;Podcast: https://verloop.io/podcasts/ &#10;Webinar: https://verloop.io/webinars/ &#10;&#10;LinkedIn: https://www.linkedin.com/company/verloopio/ &#10;Twitter: https://twitter.com/verloopio &#10;Facebook: https://www.facebook.com/verloopio &#10;Instagram: https://www.instagram.com/verloop.io/?hl=en&#10;Angellist: https://angel.co/company/verloop &#10;&#10;G2 Crowd: https://www.g2.com/products/verloop-io/reviews &#10;Capterra: https://www.capterra.com/p/172660/Verloop/ &#10;&#10;#conversationalai" id="939" name="Google Shape;939;p136" title="What is Conversational AI and How Does it Work?">
            <a:hlinkClick r:id="rId4"/>
          </p:cNvPr>
          <p:cNvPicPr preferRelativeResize="0"/>
          <p:nvPr/>
        </p:nvPicPr>
        <p:blipFill>
          <a:blip r:embed="rId5">
            <a:alphaModFix/>
          </a:blip>
          <a:stretch>
            <a:fillRect/>
          </a:stretch>
        </p:blipFill>
        <p:spPr>
          <a:xfrm>
            <a:off x="1185738" y="1171760"/>
            <a:ext cx="6743425" cy="3793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1000"/>
                                        <p:tgtEl>
                                          <p:spTgt spid="9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pic>
        <p:nvPicPr>
          <p:cNvPr descr="Image" id="944" name="Google Shape;944;p13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45" name="Google Shape;945;p13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1</a:t>
            </a:r>
            <a:endParaRPr b="0" i="0" sz="500" u="none" cap="none" strike="noStrike">
              <a:solidFill>
                <a:srgbClr val="000000"/>
              </a:solidFill>
              <a:latin typeface="Arial"/>
              <a:ea typeface="Arial"/>
              <a:cs typeface="Arial"/>
              <a:sym typeface="Arial"/>
            </a:endParaRPr>
          </a:p>
        </p:txBody>
      </p:sp>
      <p:sp>
        <p:nvSpPr>
          <p:cNvPr id="946" name="Google Shape;946;p137"/>
          <p:cNvSpPr txBox="1"/>
          <p:nvPr/>
        </p:nvSpPr>
        <p:spPr>
          <a:xfrm>
            <a:off x="152400" y="1676400"/>
            <a:ext cx="8486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000"/>
              </a:spcAft>
              <a:buNone/>
            </a:pPr>
            <a:r>
              <a:rPr lang="ru" sz="1800">
                <a:solidFill>
                  <a:schemeClr val="dk2"/>
                </a:solidFill>
                <a:latin typeface="Urbanist SemiBold"/>
                <a:ea typeface="Urbanist SemiBold"/>
                <a:cs typeface="Urbanist SemiBold"/>
                <a:sym typeface="Urbanist SemiBold"/>
              </a:rPr>
              <a:t>Ո՞րն է խոսակցական ԱԲ մասնագիտության նպատակը։</a:t>
            </a:r>
            <a:endParaRPr sz="1800">
              <a:solidFill>
                <a:schemeClr val="dk2"/>
              </a:solidFill>
              <a:latin typeface="Urbanist SemiBold"/>
              <a:ea typeface="Urbanist SemiBold"/>
              <a:cs typeface="Urbanist SemiBold"/>
              <a:sym typeface="Urbanist SemiBo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pic>
        <p:nvPicPr>
          <p:cNvPr descr="Image" id="951" name="Google Shape;951;p138"/>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52" name="Google Shape;952;p138"/>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Պատասխան </a:t>
            </a:r>
            <a:r>
              <a:rPr lang="ru" sz="3000">
                <a:solidFill>
                  <a:srgbClr val="3A475A"/>
                </a:solidFill>
                <a:latin typeface="Urbanist ExtraBold"/>
                <a:ea typeface="Urbanist ExtraBold"/>
                <a:cs typeface="Urbanist ExtraBold"/>
                <a:sym typeface="Urbanist ExtraBold"/>
              </a:rPr>
              <a:t>1</a:t>
            </a:r>
            <a:endParaRPr b="0" i="0" sz="500" u="none" cap="none" strike="noStrike">
              <a:solidFill>
                <a:srgbClr val="000000"/>
              </a:solidFill>
              <a:latin typeface="Arial"/>
              <a:ea typeface="Arial"/>
              <a:cs typeface="Arial"/>
              <a:sym typeface="Arial"/>
            </a:endParaRPr>
          </a:p>
        </p:txBody>
      </p:sp>
      <p:sp>
        <p:nvSpPr>
          <p:cNvPr id="953" name="Google Shape;953;p138"/>
          <p:cNvSpPr txBox="1"/>
          <p:nvPr/>
        </p:nvSpPr>
        <p:spPr>
          <a:xfrm>
            <a:off x="152400" y="1676400"/>
            <a:ext cx="8486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800">
                <a:solidFill>
                  <a:schemeClr val="dk2"/>
                </a:solidFill>
                <a:latin typeface="Urbanist"/>
                <a:ea typeface="Urbanist"/>
                <a:cs typeface="Urbanist"/>
                <a:sym typeface="Urbanist"/>
              </a:rPr>
              <a:t>Սովորեցնել նմանակել մարդկային զրույցները։</a:t>
            </a:r>
            <a:endParaRPr sz="1800">
              <a:solidFill>
                <a:schemeClr val="dk2"/>
              </a:solidFill>
              <a:latin typeface="Urbanist SemiBold"/>
              <a:ea typeface="Urbanist SemiBold"/>
              <a:cs typeface="Urbanist SemiBold"/>
              <a:sym typeface="Urbanist SemiBo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pic>
        <p:nvPicPr>
          <p:cNvPr descr="Image" id="958" name="Google Shape;958;p13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59" name="Google Shape;959;p13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2</a:t>
            </a:r>
            <a:endParaRPr b="0" i="0" sz="500" u="none" cap="none" strike="noStrike">
              <a:solidFill>
                <a:srgbClr val="000000"/>
              </a:solidFill>
              <a:latin typeface="Arial"/>
              <a:ea typeface="Arial"/>
              <a:cs typeface="Arial"/>
              <a:sym typeface="Arial"/>
            </a:endParaRPr>
          </a:p>
        </p:txBody>
      </p:sp>
      <p:sp>
        <p:nvSpPr>
          <p:cNvPr id="960" name="Google Shape;960;p139"/>
          <p:cNvSpPr txBox="1"/>
          <p:nvPr/>
        </p:nvSpPr>
        <p:spPr>
          <a:xfrm>
            <a:off x="152400" y="1676400"/>
            <a:ext cx="84864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000"/>
              </a:spcAft>
              <a:buNone/>
            </a:pPr>
            <a:r>
              <a:rPr lang="ru" sz="1800">
                <a:solidFill>
                  <a:schemeClr val="dk2"/>
                </a:solidFill>
                <a:latin typeface="Urbanist SemiBold"/>
                <a:ea typeface="Urbanist SemiBold"/>
                <a:cs typeface="Urbanist SemiBold"/>
                <a:sym typeface="Urbanist SemiBold"/>
              </a:rPr>
              <a:t>Քանի՞ քայլով է</a:t>
            </a:r>
            <a:r>
              <a:rPr lang="ru" sz="1800">
                <a:solidFill>
                  <a:schemeClr val="dk2"/>
                </a:solidFill>
                <a:latin typeface="Urbanist SemiBold"/>
                <a:ea typeface="Urbanist SemiBold"/>
                <a:cs typeface="Urbanist SemiBold"/>
                <a:sym typeface="Urbanist SemiBold"/>
              </a:rPr>
              <a:t> նկարագրվում խոսակցական ԱԲ մասնագիտության նպատակը։ Որո՞նք են։</a:t>
            </a:r>
            <a:endParaRPr sz="1800">
              <a:solidFill>
                <a:schemeClr val="dk2"/>
              </a:solidFill>
              <a:latin typeface="Urbanist SemiBold"/>
              <a:ea typeface="Urbanist SemiBold"/>
              <a:cs typeface="Urbanist SemiBold"/>
              <a:sym typeface="Urbanist SemiBo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pic>
        <p:nvPicPr>
          <p:cNvPr descr="Image" id="965" name="Google Shape;965;p14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66" name="Google Shape;966;p14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Պատասխան 2</a:t>
            </a:r>
            <a:endParaRPr b="0" i="0" sz="500" u="none" cap="none" strike="noStrike">
              <a:solidFill>
                <a:srgbClr val="000000"/>
              </a:solidFill>
              <a:latin typeface="Arial"/>
              <a:ea typeface="Arial"/>
              <a:cs typeface="Arial"/>
              <a:sym typeface="Arial"/>
            </a:endParaRPr>
          </a:p>
        </p:txBody>
      </p:sp>
      <p:pic>
        <p:nvPicPr>
          <p:cNvPr id="967" name="Google Shape;967;p140"/>
          <p:cNvPicPr preferRelativeResize="0"/>
          <p:nvPr/>
        </p:nvPicPr>
        <p:blipFill>
          <a:blip r:embed="rId4">
            <a:alphaModFix/>
          </a:blip>
          <a:stretch>
            <a:fillRect/>
          </a:stretch>
        </p:blipFill>
        <p:spPr>
          <a:xfrm>
            <a:off x="1302975" y="1300800"/>
            <a:ext cx="6538050" cy="369135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pic>
        <p:nvPicPr>
          <p:cNvPr descr="Image" id="972" name="Google Shape;972;p14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73" name="Google Shape;973;p14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3</a:t>
            </a:r>
            <a:endParaRPr b="0" i="0" sz="500" u="none" cap="none" strike="noStrike">
              <a:solidFill>
                <a:srgbClr val="000000"/>
              </a:solidFill>
              <a:latin typeface="Arial"/>
              <a:ea typeface="Arial"/>
              <a:cs typeface="Arial"/>
              <a:sym typeface="Arial"/>
            </a:endParaRPr>
          </a:p>
        </p:txBody>
      </p:sp>
      <p:sp>
        <p:nvSpPr>
          <p:cNvPr id="974" name="Google Shape;974;p141"/>
          <p:cNvSpPr txBox="1"/>
          <p:nvPr/>
        </p:nvSpPr>
        <p:spPr>
          <a:xfrm>
            <a:off x="152400" y="1676400"/>
            <a:ext cx="8486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000"/>
              </a:spcAft>
              <a:buNone/>
            </a:pPr>
            <a:r>
              <a:rPr lang="ru" sz="1800">
                <a:solidFill>
                  <a:schemeClr val="dk2"/>
                </a:solidFill>
                <a:latin typeface="Urbanist SemiBold"/>
                <a:ea typeface="Urbanist SemiBold"/>
                <a:cs typeface="Urbanist SemiBold"/>
                <a:sym typeface="Urbanist SemiBold"/>
              </a:rPr>
              <a:t>Քանի՞ խոսակցական ԱԲ տեսակ կա։ Որո՞նք են։</a:t>
            </a:r>
            <a:endParaRPr sz="1800">
              <a:solidFill>
                <a:schemeClr val="dk2"/>
              </a:solidFill>
              <a:latin typeface="Urbanist SemiBold"/>
              <a:ea typeface="Urbanist SemiBold"/>
              <a:cs typeface="Urbanist SemiBold"/>
              <a:sym typeface="Urbanist SemiBo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pic>
        <p:nvPicPr>
          <p:cNvPr descr="Image" id="979" name="Google Shape;979;p14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80" name="Google Shape;980;p14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Պատասխան 3</a:t>
            </a:r>
            <a:endParaRPr b="0" i="0" sz="500" u="none" cap="none" strike="noStrike">
              <a:solidFill>
                <a:srgbClr val="000000"/>
              </a:solidFill>
              <a:latin typeface="Arial"/>
              <a:ea typeface="Arial"/>
              <a:cs typeface="Arial"/>
              <a:sym typeface="Arial"/>
            </a:endParaRPr>
          </a:p>
        </p:txBody>
      </p:sp>
      <p:pic>
        <p:nvPicPr>
          <p:cNvPr id="981" name="Google Shape;981;p142"/>
          <p:cNvPicPr preferRelativeResize="0"/>
          <p:nvPr/>
        </p:nvPicPr>
        <p:blipFill>
          <a:blip r:embed="rId4">
            <a:alphaModFix/>
          </a:blip>
          <a:stretch>
            <a:fillRect/>
          </a:stretch>
        </p:blipFill>
        <p:spPr>
          <a:xfrm>
            <a:off x="2472913" y="893150"/>
            <a:ext cx="4198175" cy="403025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pic>
        <p:nvPicPr>
          <p:cNvPr descr="Image" id="986" name="Google Shape;986;p14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87" name="Google Shape;987;p14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Հարց 4</a:t>
            </a:r>
            <a:endParaRPr b="0" i="0" sz="500" u="none" cap="none" strike="noStrike">
              <a:solidFill>
                <a:srgbClr val="000000"/>
              </a:solidFill>
              <a:latin typeface="Arial"/>
              <a:ea typeface="Arial"/>
              <a:cs typeface="Arial"/>
              <a:sym typeface="Arial"/>
            </a:endParaRPr>
          </a:p>
        </p:txBody>
      </p:sp>
      <p:sp>
        <p:nvSpPr>
          <p:cNvPr id="988" name="Google Shape;988;p143"/>
          <p:cNvSpPr txBox="1"/>
          <p:nvPr/>
        </p:nvSpPr>
        <p:spPr>
          <a:xfrm>
            <a:off x="152400" y="1676400"/>
            <a:ext cx="84864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800">
                <a:solidFill>
                  <a:schemeClr val="dk2"/>
                </a:solidFill>
                <a:latin typeface="Urbanist SemiBold"/>
                <a:ea typeface="Urbanist SemiBold"/>
                <a:cs typeface="Urbanist SemiBold"/>
                <a:sym typeface="Urbanist SemiBold"/>
              </a:rPr>
              <a:t>Ի՞նչ քայլերով է խոսակցական ԱԲ-ն գործում յուրաքանչյուր մուտքային տվյալի համար։</a:t>
            </a:r>
            <a:endParaRPr sz="1800">
              <a:solidFill>
                <a:schemeClr val="dk2"/>
              </a:solidFill>
              <a:latin typeface="Urbanist SemiBold"/>
              <a:ea typeface="Urbanist SemiBold"/>
              <a:cs typeface="Urbanist SemiBold"/>
              <a:sym typeface="Urbanist SemiBo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pic>
        <p:nvPicPr>
          <p:cNvPr descr="Image" id="993" name="Google Shape;993;p14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994" name="Google Shape;994;p14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Պատասխան 4</a:t>
            </a:r>
            <a:endParaRPr b="0" i="0" sz="500" u="none" cap="none" strike="noStrike">
              <a:solidFill>
                <a:srgbClr val="000000"/>
              </a:solidFill>
              <a:latin typeface="Arial"/>
              <a:ea typeface="Arial"/>
              <a:cs typeface="Arial"/>
              <a:sym typeface="Arial"/>
            </a:endParaRPr>
          </a:p>
        </p:txBody>
      </p:sp>
      <p:pic>
        <p:nvPicPr>
          <p:cNvPr id="995" name="Google Shape;995;p144"/>
          <p:cNvPicPr preferRelativeResize="0"/>
          <p:nvPr/>
        </p:nvPicPr>
        <p:blipFill>
          <a:blip r:embed="rId4">
            <a:alphaModFix/>
          </a:blip>
          <a:stretch>
            <a:fillRect/>
          </a:stretch>
        </p:blipFill>
        <p:spPr>
          <a:xfrm>
            <a:off x="531075" y="1570725"/>
            <a:ext cx="8081850" cy="27924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999" name="Shape 999"/>
        <p:cNvGrpSpPr/>
        <p:nvPr/>
      </p:nvGrpSpPr>
      <p:grpSpPr>
        <a:xfrm>
          <a:off x="0" y="0"/>
          <a:ext cx="0" cy="0"/>
          <a:chOff x="0" y="0"/>
          <a:chExt cx="0" cy="0"/>
        </a:xfrm>
      </p:grpSpPr>
      <p:pic>
        <p:nvPicPr>
          <p:cNvPr descr="Image" id="1000" name="Google Shape;1000;p145"/>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1001" name="Google Shape;1001;p145"/>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Խմբերով </a:t>
            </a:r>
            <a:r>
              <a:rPr lang="ru" sz="3000">
                <a:solidFill>
                  <a:srgbClr val="FFFFFF"/>
                </a:solidFill>
                <a:latin typeface="Urbanist ExtraBold"/>
                <a:ea typeface="Urbanist ExtraBold"/>
                <a:cs typeface="Urbanist ExtraBold"/>
                <a:sym typeface="Urbanist ExtraBold"/>
              </a:rPr>
              <a:t>աշխատանք</a:t>
            </a:r>
            <a:endParaRPr b="0" i="0" sz="500" u="none" cap="none" strike="noStrike">
              <a:solidFill>
                <a:srgbClr val="000000"/>
              </a:solidFill>
              <a:latin typeface="Arial"/>
              <a:ea typeface="Arial"/>
              <a:cs typeface="Arial"/>
              <a:sym typeface="Arial"/>
            </a:endParaRPr>
          </a:p>
        </p:txBody>
      </p:sp>
      <p:sp>
        <p:nvSpPr>
          <p:cNvPr id="1002" name="Google Shape;1002;p145"/>
          <p:cNvSpPr txBox="1"/>
          <p:nvPr/>
        </p:nvSpPr>
        <p:spPr>
          <a:xfrm>
            <a:off x="949400" y="1114425"/>
            <a:ext cx="7313700" cy="11028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0" lvl="0" marL="0" rtl="0" algn="l">
              <a:lnSpc>
                <a:spcPct val="115000"/>
              </a:lnSpc>
              <a:spcBef>
                <a:spcPts val="1200"/>
              </a:spcBef>
              <a:spcAft>
                <a:spcPts val="1200"/>
              </a:spcAft>
              <a:buNone/>
            </a:pPr>
            <a:r>
              <a:rPr lang="ru" sz="1800">
                <a:latin typeface="Urbanist"/>
                <a:ea typeface="Urbanist"/>
                <a:cs typeface="Urbanist"/>
                <a:sym typeface="Urbanist"/>
              </a:rPr>
              <a:t>Բաժանվե՛ք երեք հոգանոց խմբերի, ա</a:t>
            </a:r>
            <a:r>
              <a:rPr lang="ru" sz="1800">
                <a:latin typeface="Urbanist"/>
                <a:ea typeface="Urbanist"/>
                <a:cs typeface="Urbanist"/>
                <a:sym typeface="Urbanist"/>
              </a:rPr>
              <a:t>նցե՛ք հետևյալ </a:t>
            </a:r>
            <a:r>
              <a:rPr lang="ru" sz="1800" u="sng">
                <a:solidFill>
                  <a:schemeClr val="hlink"/>
                </a:solidFill>
                <a:latin typeface="Urbanist"/>
                <a:ea typeface="Urbanist"/>
                <a:cs typeface="Urbanist"/>
                <a:sym typeface="Urbanist"/>
                <a:hlinkClick r:id="rId4"/>
              </a:rPr>
              <a:t>հղմամբ</a:t>
            </a:r>
            <a:r>
              <a:rPr lang="ru" sz="1800">
                <a:latin typeface="Urbanist"/>
                <a:ea typeface="Urbanist"/>
                <a:cs typeface="Urbanist"/>
                <a:sym typeface="Urbanist"/>
              </a:rPr>
              <a:t> և ծանոթանացե՛ք Product Design Career Cards բաժնի քարտերին։</a:t>
            </a:r>
            <a:endParaRPr sz="1800">
              <a:latin typeface="Urbanist"/>
              <a:ea typeface="Urbanist"/>
              <a:cs typeface="Urbanist"/>
              <a:sym typeface="Urbanist"/>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pic>
        <p:nvPicPr>
          <p:cNvPr descr="Image" id="1007" name="Google Shape;1007;p14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08" name="Google Shape;1008;p14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Product Design </a:t>
            </a:r>
            <a:r>
              <a:rPr lang="ru" sz="3000">
                <a:solidFill>
                  <a:srgbClr val="3A475A"/>
                </a:solidFill>
                <a:latin typeface="Urbanist ExtraBold"/>
                <a:ea typeface="Urbanist ExtraBold"/>
                <a:cs typeface="Urbanist ExtraBold"/>
                <a:sym typeface="Urbanist ExtraBold"/>
              </a:rPr>
              <a:t>Career Cards</a:t>
            </a:r>
            <a:endParaRPr b="0" i="0" sz="500" u="none" cap="none" strike="noStrike">
              <a:solidFill>
                <a:srgbClr val="000000"/>
              </a:solidFill>
              <a:latin typeface="Arial"/>
              <a:ea typeface="Arial"/>
              <a:cs typeface="Arial"/>
              <a:sym typeface="Arial"/>
            </a:endParaRPr>
          </a:p>
        </p:txBody>
      </p:sp>
      <p:pic>
        <p:nvPicPr>
          <p:cNvPr id="1009" name="Google Shape;1009;p146"/>
          <p:cNvPicPr preferRelativeResize="0"/>
          <p:nvPr/>
        </p:nvPicPr>
        <p:blipFill rotWithShape="1">
          <a:blip r:embed="rId4">
            <a:alphaModFix/>
          </a:blip>
          <a:srcRect b="0" l="2514" r="26057" t="28871"/>
          <a:stretch/>
        </p:blipFill>
        <p:spPr>
          <a:xfrm>
            <a:off x="972700" y="1660950"/>
            <a:ext cx="7198600" cy="3369875"/>
          </a:xfrm>
          <a:prstGeom prst="rect">
            <a:avLst/>
          </a:prstGeom>
          <a:noFill/>
          <a:ln>
            <a:noFill/>
          </a:ln>
        </p:spPr>
      </p:pic>
      <p:sp>
        <p:nvSpPr>
          <p:cNvPr id="1010" name="Google Shape;1010;p146"/>
          <p:cNvSpPr txBox="1"/>
          <p:nvPr/>
        </p:nvSpPr>
        <p:spPr>
          <a:xfrm>
            <a:off x="1377159" y="1212319"/>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Արտադրանքի մենեջեր</a:t>
            </a:r>
            <a:endParaRPr sz="1600">
              <a:solidFill>
                <a:schemeClr val="dk1"/>
              </a:solidFill>
              <a:latin typeface="Urbanist"/>
              <a:ea typeface="Urbanist"/>
              <a:cs typeface="Urbanist"/>
              <a:sym typeface="Urbanist"/>
            </a:endParaRPr>
          </a:p>
        </p:txBody>
      </p:sp>
      <p:sp>
        <p:nvSpPr>
          <p:cNvPr id="1011" name="Google Shape;1011;p146"/>
          <p:cNvSpPr txBox="1"/>
          <p:nvPr/>
        </p:nvSpPr>
        <p:spPr>
          <a:xfrm>
            <a:off x="3586049"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UX դիզայներ</a:t>
            </a:r>
            <a:endParaRPr sz="1600">
              <a:solidFill>
                <a:schemeClr val="dk1"/>
              </a:solidFill>
              <a:latin typeface="Urbanist"/>
              <a:ea typeface="Urbanist"/>
              <a:cs typeface="Urbanist"/>
              <a:sym typeface="Urbanist"/>
            </a:endParaRPr>
          </a:p>
        </p:txBody>
      </p:sp>
      <p:sp>
        <p:nvSpPr>
          <p:cNvPr id="1012" name="Google Shape;1012;p146"/>
          <p:cNvSpPr txBox="1"/>
          <p:nvPr/>
        </p:nvSpPr>
        <p:spPr>
          <a:xfrm>
            <a:off x="5794950" y="1218650"/>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Ծրագրային ճարտարագետ</a:t>
            </a:r>
            <a:endParaRPr sz="1600">
              <a:solidFill>
                <a:schemeClr val="dk1"/>
              </a:solidFill>
              <a:latin typeface="Urbanist"/>
              <a:ea typeface="Urbanist"/>
              <a:cs typeface="Urbanist"/>
              <a:sym typeface="Urbanist"/>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pic>
        <p:nvPicPr>
          <p:cNvPr descr="Image" id="1017" name="Google Shape;1017;p14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18" name="Google Shape;1018;p14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Product Design Career Cards</a:t>
            </a:r>
            <a:endParaRPr b="0" i="0" sz="500" u="none" cap="none" strike="noStrike">
              <a:solidFill>
                <a:srgbClr val="000000"/>
              </a:solidFill>
              <a:latin typeface="Arial"/>
              <a:ea typeface="Arial"/>
              <a:cs typeface="Arial"/>
              <a:sym typeface="Arial"/>
            </a:endParaRPr>
          </a:p>
        </p:txBody>
      </p:sp>
      <p:sp>
        <p:nvSpPr>
          <p:cNvPr id="1019" name="Google Shape;1019;p147"/>
          <p:cNvSpPr txBox="1"/>
          <p:nvPr/>
        </p:nvSpPr>
        <p:spPr>
          <a:xfrm>
            <a:off x="1377159" y="1212319"/>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Արտադրանքի մենեջեր</a:t>
            </a:r>
            <a:endParaRPr sz="1600">
              <a:solidFill>
                <a:schemeClr val="dk1"/>
              </a:solidFill>
              <a:latin typeface="Urbanist"/>
              <a:ea typeface="Urbanist"/>
              <a:cs typeface="Urbanist"/>
              <a:sym typeface="Urbanist"/>
            </a:endParaRPr>
          </a:p>
        </p:txBody>
      </p:sp>
      <p:sp>
        <p:nvSpPr>
          <p:cNvPr id="1020" name="Google Shape;1020;p147"/>
          <p:cNvSpPr txBox="1"/>
          <p:nvPr/>
        </p:nvSpPr>
        <p:spPr>
          <a:xfrm>
            <a:off x="3586049" y="1218656"/>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UX դիզայներ</a:t>
            </a:r>
            <a:endParaRPr sz="1600">
              <a:solidFill>
                <a:schemeClr val="dk1"/>
              </a:solidFill>
              <a:latin typeface="Urbanist"/>
              <a:ea typeface="Urbanist"/>
              <a:cs typeface="Urbanist"/>
              <a:sym typeface="Urbanist"/>
            </a:endParaRPr>
          </a:p>
        </p:txBody>
      </p:sp>
      <p:sp>
        <p:nvSpPr>
          <p:cNvPr id="1021" name="Google Shape;1021;p147"/>
          <p:cNvSpPr txBox="1"/>
          <p:nvPr/>
        </p:nvSpPr>
        <p:spPr>
          <a:xfrm>
            <a:off x="5794950" y="1218650"/>
            <a:ext cx="1971900" cy="32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u" sz="1600">
                <a:solidFill>
                  <a:schemeClr val="dk1"/>
                </a:solidFill>
                <a:latin typeface="Urbanist"/>
                <a:ea typeface="Urbanist"/>
                <a:cs typeface="Urbanist"/>
                <a:sym typeface="Urbanist"/>
              </a:rPr>
              <a:t>Ծրագրային ճարտարագետ</a:t>
            </a:r>
            <a:endParaRPr sz="1600">
              <a:solidFill>
                <a:schemeClr val="dk1"/>
              </a:solidFill>
              <a:latin typeface="Urbanist"/>
              <a:ea typeface="Urbanist"/>
              <a:cs typeface="Urbanist"/>
              <a:sym typeface="Urbanist"/>
            </a:endParaRPr>
          </a:p>
        </p:txBody>
      </p:sp>
      <p:pic>
        <p:nvPicPr>
          <p:cNvPr id="1022" name="Google Shape;1022;p147"/>
          <p:cNvPicPr preferRelativeResize="0"/>
          <p:nvPr/>
        </p:nvPicPr>
        <p:blipFill rotWithShape="1">
          <a:blip r:embed="rId4">
            <a:alphaModFix/>
          </a:blip>
          <a:srcRect b="0" l="3485" r="26240" t="28668"/>
          <a:stretch/>
        </p:blipFill>
        <p:spPr>
          <a:xfrm>
            <a:off x="1061400" y="1702650"/>
            <a:ext cx="7021200" cy="337405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BC4F"/>
        </a:solidFill>
      </p:bgPr>
    </p:bg>
    <p:spTree>
      <p:nvGrpSpPr>
        <p:cNvPr id="1026" name="Shape 1026"/>
        <p:cNvGrpSpPr/>
        <p:nvPr/>
      </p:nvGrpSpPr>
      <p:grpSpPr>
        <a:xfrm>
          <a:off x="0" y="0"/>
          <a:ext cx="0" cy="0"/>
          <a:chOff x="0" y="0"/>
          <a:chExt cx="0" cy="0"/>
        </a:xfrm>
      </p:grpSpPr>
      <p:pic>
        <p:nvPicPr>
          <p:cNvPr descr="Image" id="1027" name="Google Shape;1027;p148"/>
          <p:cNvPicPr preferRelativeResize="0"/>
          <p:nvPr/>
        </p:nvPicPr>
        <p:blipFill rotWithShape="1">
          <a:blip r:embed="rId3">
            <a:alphaModFix/>
          </a:blip>
          <a:srcRect b="0" l="17898" r="0" t="23365"/>
          <a:stretch/>
        </p:blipFill>
        <p:spPr>
          <a:xfrm>
            <a:off x="-13412" y="-7809"/>
            <a:ext cx="1695545" cy="1169820"/>
          </a:xfrm>
          <a:prstGeom prst="rect">
            <a:avLst/>
          </a:prstGeom>
          <a:noFill/>
          <a:ln>
            <a:noFill/>
          </a:ln>
        </p:spPr>
      </p:pic>
      <p:sp>
        <p:nvSpPr>
          <p:cNvPr id="1028" name="Google Shape;1028;p148"/>
          <p:cNvSpPr txBox="1"/>
          <p:nvPr/>
        </p:nvSpPr>
        <p:spPr>
          <a:xfrm>
            <a:off x="476248" y="282675"/>
            <a:ext cx="5585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3000"/>
              <a:buFont typeface="Urbanist ExtraBold"/>
              <a:buNone/>
            </a:pPr>
            <a:r>
              <a:rPr lang="ru" sz="3000">
                <a:solidFill>
                  <a:srgbClr val="FFFFFF"/>
                </a:solidFill>
                <a:latin typeface="Urbanist ExtraBold"/>
                <a:ea typeface="Urbanist ExtraBold"/>
                <a:cs typeface="Urbanist ExtraBold"/>
                <a:sym typeface="Urbanist ExtraBold"/>
              </a:rPr>
              <a:t>Խմբերով աշխատանք</a:t>
            </a:r>
            <a:endParaRPr b="0" i="0" sz="500" u="none" cap="none" strike="noStrike">
              <a:solidFill>
                <a:srgbClr val="000000"/>
              </a:solidFill>
              <a:latin typeface="Arial"/>
              <a:ea typeface="Arial"/>
              <a:cs typeface="Arial"/>
              <a:sym typeface="Arial"/>
            </a:endParaRPr>
          </a:p>
        </p:txBody>
      </p:sp>
      <p:sp>
        <p:nvSpPr>
          <p:cNvPr id="1029" name="Google Shape;1029;p148"/>
          <p:cNvSpPr txBox="1"/>
          <p:nvPr/>
        </p:nvSpPr>
        <p:spPr>
          <a:xfrm>
            <a:off x="949400" y="1114425"/>
            <a:ext cx="7313700" cy="784200"/>
          </a:xfrm>
          <a:prstGeom prst="rect">
            <a:avLst/>
          </a:prstGeom>
          <a:noFill/>
          <a:ln>
            <a:noFill/>
          </a:ln>
        </p:spPr>
        <p:txBody>
          <a:bodyPr anchorCtr="0" anchor="t" bIns="17150" lIns="17150" spcFirstLastPara="1" rIns="17150" wrap="square" tIns="17150">
            <a:spAutoFit/>
          </a:bodyPr>
          <a:lstStyle/>
          <a:p>
            <a:pPr indent="0" lvl="0" marL="0" marR="0" rtl="0" algn="l">
              <a:lnSpc>
                <a:spcPct val="115000"/>
              </a:lnSpc>
              <a:spcBef>
                <a:spcPts val="0"/>
              </a:spcBef>
              <a:spcAft>
                <a:spcPts val="0"/>
              </a:spcAft>
              <a:buClr>
                <a:srgbClr val="3A475A"/>
              </a:buClr>
              <a:buSzPts val="1500"/>
              <a:buFont typeface="Urbanist Light"/>
              <a:buNone/>
            </a:pPr>
            <a:r>
              <a:rPr b="1" lang="ru" sz="1800">
                <a:solidFill>
                  <a:srgbClr val="3A475A"/>
                </a:solidFill>
                <a:latin typeface="Urbanist"/>
                <a:ea typeface="Urbanist"/>
                <a:cs typeface="Urbanist"/>
                <a:sym typeface="Urbanist"/>
              </a:rPr>
              <a:t>Հրահանգներ՝</a:t>
            </a:r>
            <a:endParaRPr b="1" sz="1800">
              <a:solidFill>
                <a:srgbClr val="3A475A"/>
              </a:solidFill>
              <a:latin typeface="Urbanist"/>
              <a:ea typeface="Urbanist"/>
              <a:cs typeface="Urbanist"/>
              <a:sym typeface="Urbanist"/>
            </a:endParaRPr>
          </a:p>
          <a:p>
            <a:pPr indent="0" lvl="0" marL="0" rtl="0" algn="l">
              <a:lnSpc>
                <a:spcPct val="115000"/>
              </a:lnSpc>
              <a:spcBef>
                <a:spcPts val="1200"/>
              </a:spcBef>
              <a:spcAft>
                <a:spcPts val="1200"/>
              </a:spcAft>
              <a:buNone/>
            </a:pPr>
            <a:r>
              <a:rPr lang="ru" sz="1800">
                <a:solidFill>
                  <a:schemeClr val="dk1"/>
                </a:solidFill>
                <a:latin typeface="Urbanist"/>
                <a:ea typeface="Urbanist"/>
                <a:cs typeface="Urbanist"/>
                <a:sym typeface="Urbanist"/>
              </a:rPr>
              <a:t>Կատարե՛ք հետևյալ </a:t>
            </a:r>
            <a:r>
              <a:rPr lang="ru" sz="1800" u="sng">
                <a:solidFill>
                  <a:schemeClr val="hlink"/>
                </a:solidFill>
                <a:latin typeface="Urbanist"/>
                <a:ea typeface="Urbanist"/>
                <a:cs typeface="Urbanist"/>
                <a:sym typeface="Urbanist"/>
                <a:hlinkClick r:id="rId4"/>
              </a:rPr>
              <a:t>հղմամբ</a:t>
            </a:r>
            <a:r>
              <a:rPr lang="ru" sz="1800">
                <a:solidFill>
                  <a:schemeClr val="dk1"/>
                </a:solidFill>
                <a:latin typeface="Urbanist"/>
                <a:ea typeface="Urbanist"/>
                <a:cs typeface="Urbanist"/>
                <a:sym typeface="Urbanist"/>
              </a:rPr>
              <a:t> հասանելի առաջադրանքները։</a:t>
            </a:r>
            <a:endParaRPr sz="1800">
              <a:solidFill>
                <a:schemeClr val="dk1"/>
              </a:solidFill>
              <a:latin typeface="Urbanist"/>
              <a:ea typeface="Urbanist"/>
              <a:cs typeface="Urbanist"/>
              <a:sym typeface="Urbanist"/>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pic>
        <p:nvPicPr>
          <p:cNvPr descr="Image" id="1034" name="Google Shape;1034;p149"/>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35" name="Google Shape;1035;p149"/>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1․</a:t>
            </a:r>
            <a:endParaRPr b="0" i="0" sz="500" u="none" cap="none" strike="noStrike">
              <a:solidFill>
                <a:srgbClr val="000000"/>
              </a:solidFill>
              <a:latin typeface="Arial"/>
              <a:ea typeface="Arial"/>
              <a:cs typeface="Arial"/>
              <a:sym typeface="Arial"/>
            </a:endParaRPr>
          </a:p>
        </p:txBody>
      </p:sp>
      <p:sp>
        <p:nvSpPr>
          <p:cNvPr id="1036" name="Google Shape;1036;p149"/>
          <p:cNvSpPr txBox="1"/>
          <p:nvPr/>
        </p:nvSpPr>
        <p:spPr>
          <a:xfrm>
            <a:off x="152400" y="1269511"/>
            <a:ext cx="8486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800">
                <a:solidFill>
                  <a:schemeClr val="dk2"/>
                </a:solidFill>
                <a:latin typeface="Urbanist SemiBold"/>
                <a:ea typeface="Urbanist SemiBold"/>
                <a:cs typeface="Urbanist SemiBold"/>
                <a:sym typeface="Urbanist SemiBold"/>
              </a:rPr>
              <a:t>Պարտականությունների համապատասխանեցում՝ Արտադրանքի մենեջեր</a:t>
            </a:r>
            <a:endParaRPr sz="1800">
              <a:solidFill>
                <a:schemeClr val="dk2"/>
              </a:solidFill>
              <a:latin typeface="Urbanist SemiBold"/>
              <a:ea typeface="Urbanist SemiBold"/>
              <a:cs typeface="Urbanist SemiBold"/>
              <a:sym typeface="Urbanist SemiBold"/>
            </a:endParaRPr>
          </a:p>
        </p:txBody>
      </p:sp>
      <p:graphicFrame>
        <p:nvGraphicFramePr>
          <p:cNvPr id="1037" name="Google Shape;1037;p149"/>
          <p:cNvGraphicFramePr/>
          <p:nvPr/>
        </p:nvGraphicFramePr>
        <p:xfrm>
          <a:off x="1112225" y="2155550"/>
          <a:ext cx="3000000" cy="3000000"/>
        </p:xfrm>
        <a:graphic>
          <a:graphicData uri="http://schemas.openxmlformats.org/drawingml/2006/table">
            <a:tbl>
              <a:tblPr>
                <a:noFill/>
                <a:tableStyleId>{41B8CB50-37E8-4FF0-90C8-70755F0B0C13}</a:tableStyleId>
              </a:tblPr>
              <a:tblGrid>
                <a:gridCol w="2281275"/>
                <a:gridCol w="5040400"/>
              </a:tblGrid>
              <a:tr h="12700">
                <a:tc>
                  <a:txBody>
                    <a:bodyPr/>
                    <a:lstStyle/>
                    <a:p>
                      <a:pPr indent="0" lvl="0" marL="89999" marR="91199" rtl="0" algn="ctr">
                        <a:lnSpc>
                          <a:spcPct val="115000"/>
                        </a:lnSpc>
                        <a:spcBef>
                          <a:spcPts val="0"/>
                        </a:spcBef>
                        <a:spcAft>
                          <a:spcPts val="0"/>
                        </a:spcAft>
                        <a:buNone/>
                      </a:pPr>
                      <a:r>
                        <a:rPr lang="ru" sz="1600">
                          <a:latin typeface="Urbanist"/>
                          <a:ea typeface="Urbanist"/>
                          <a:cs typeface="Urbanist"/>
                          <a:sym typeface="Urbanist"/>
                        </a:rPr>
                        <a:t>Մասնագիտություն</a:t>
                      </a:r>
                      <a:endParaRPr sz="1600">
                        <a:latin typeface="Urbanist"/>
                        <a:ea typeface="Urbanist"/>
                        <a:cs typeface="Urbanist"/>
                        <a:sym typeface="Urbanist"/>
                      </a:endParaRPr>
                    </a:p>
                  </a:txBody>
                  <a:tcPr marT="63500" marB="63500" marR="63500" marL="63500">
                    <a:solidFill>
                      <a:srgbClr val="FDC672"/>
                    </a:solidFill>
                  </a:tcPr>
                </a:tc>
                <a:tc>
                  <a:txBody>
                    <a:bodyPr/>
                    <a:lstStyle/>
                    <a:p>
                      <a:pPr indent="0" lvl="0" marL="89999" marR="91199" rtl="0" algn="ctr">
                        <a:lnSpc>
                          <a:spcPct val="115000"/>
                        </a:lnSpc>
                        <a:spcBef>
                          <a:spcPts val="0"/>
                        </a:spcBef>
                        <a:spcAft>
                          <a:spcPts val="0"/>
                        </a:spcAft>
                        <a:buNone/>
                      </a:pPr>
                      <a:r>
                        <a:rPr lang="ru" sz="1600">
                          <a:latin typeface="Urbanist"/>
                          <a:ea typeface="Urbanist"/>
                          <a:cs typeface="Urbanist"/>
                          <a:sym typeface="Urbanist"/>
                        </a:rPr>
                        <a:t>Աշխատանքի նկարագրություն</a:t>
                      </a:r>
                      <a:endParaRPr sz="1600">
                        <a:latin typeface="Urbanist"/>
                        <a:ea typeface="Urbanist"/>
                        <a:cs typeface="Urbanist"/>
                        <a:sym typeface="Urbanist"/>
                      </a:endParaRPr>
                    </a:p>
                  </a:txBody>
                  <a:tcPr marT="63500" marB="63500" marR="63500" marL="63500">
                    <a:solidFill>
                      <a:srgbClr val="FDC672"/>
                    </a:solidFill>
                  </a:tcPr>
                </a:tc>
              </a:tr>
              <a:tr h="12700">
                <a:tc>
                  <a:txBody>
                    <a:bodyPr/>
                    <a:lstStyle/>
                    <a:p>
                      <a:pPr indent="0" lvl="0" marL="89999" marR="91199" rtl="0" algn="l">
                        <a:lnSpc>
                          <a:spcPct val="115000"/>
                        </a:lnSpc>
                        <a:spcBef>
                          <a:spcPts val="0"/>
                        </a:spcBef>
                        <a:spcAft>
                          <a:spcPts val="0"/>
                        </a:spcAft>
                        <a:buNone/>
                      </a:pPr>
                      <a:r>
                        <a:rPr lang="ru" sz="1600">
                          <a:latin typeface="Urbanist"/>
                          <a:ea typeface="Urbanist"/>
                          <a:cs typeface="Urbanist"/>
                          <a:sym typeface="Urbanist"/>
                        </a:rPr>
                        <a:t>Արտադրանքի մենեջեր</a:t>
                      </a:r>
                      <a:endParaRPr sz="1600">
                        <a:latin typeface="Urbanist"/>
                        <a:ea typeface="Urbanist"/>
                        <a:cs typeface="Urbanist"/>
                        <a:sym typeface="Urbanist"/>
                      </a:endParaRPr>
                    </a:p>
                  </a:txBody>
                  <a:tcPr marT="63500" marB="63500" marR="63500" marL="63500"/>
                </a:tc>
                <a:tc>
                  <a:txBody>
                    <a:bodyPr/>
                    <a:lstStyle/>
                    <a:p>
                      <a:pPr indent="-330200" lvl="0" marL="457200" marR="91199" rtl="0" algn="l">
                        <a:lnSpc>
                          <a:spcPct val="115000"/>
                        </a:lnSpc>
                        <a:spcBef>
                          <a:spcPts val="0"/>
                        </a:spcBef>
                        <a:spcAft>
                          <a:spcPts val="0"/>
                        </a:spcAft>
                        <a:buClr>
                          <a:srgbClr val="FDC672"/>
                        </a:buClr>
                        <a:buSzPts val="1600"/>
                        <a:buFont typeface="Urbanist"/>
                        <a:buChar char="●"/>
                      </a:pPr>
                      <a:r>
                        <a:rPr lang="ru" sz="1600">
                          <a:latin typeface="Urbanist"/>
                          <a:ea typeface="Urbanist"/>
                          <a:cs typeface="Urbanist"/>
                          <a:sym typeface="Urbanist"/>
                        </a:rPr>
                        <a:t>Պատասխանատու է արտադրանքի ռազմավարության, պլանավորման և զարգացման ամբողջ ցիկլի համար։</a:t>
                      </a:r>
                      <a:endParaRPr sz="1600">
                        <a:latin typeface="Urbanist"/>
                        <a:ea typeface="Urbanist"/>
                        <a:cs typeface="Urbanist"/>
                        <a:sym typeface="Urbanist"/>
                      </a:endParaRPr>
                    </a:p>
                    <a:p>
                      <a:pPr indent="-330200" lvl="0" marL="457200" marR="91199" rtl="0" algn="l">
                        <a:lnSpc>
                          <a:spcPct val="115000"/>
                        </a:lnSpc>
                        <a:spcBef>
                          <a:spcPts val="1000"/>
                        </a:spcBef>
                        <a:spcAft>
                          <a:spcPts val="1000"/>
                        </a:spcAft>
                        <a:buClr>
                          <a:srgbClr val="FDC672"/>
                        </a:buClr>
                        <a:buSzPts val="1600"/>
                        <a:buFont typeface="Urbanist"/>
                        <a:buChar char="●"/>
                      </a:pPr>
                      <a:r>
                        <a:rPr lang="ru" sz="1600">
                          <a:latin typeface="Urbanist"/>
                          <a:ea typeface="Urbanist"/>
                          <a:cs typeface="Urbanist"/>
                          <a:sym typeface="Urbanist"/>
                        </a:rPr>
                        <a:t>Ուսումնասիրում է շուկան, հաճախորդների կարիքները և համակարգում է թիմերի աշխատանքը՝ ստեղծելու մրցունակ և օգտատերերին համապատասխանող լուծումներ։</a:t>
                      </a:r>
                      <a:endParaRPr sz="1600">
                        <a:latin typeface="Urbanist"/>
                        <a:ea typeface="Urbanist"/>
                        <a:cs typeface="Urbanist"/>
                        <a:sym typeface="Urbanist"/>
                      </a:endParaRPr>
                    </a:p>
                  </a:txBody>
                  <a:tcPr marT="63500" marB="63500" marR="63500" marL="63500"/>
                </a:tc>
              </a:tr>
            </a:tbl>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pic>
        <p:nvPicPr>
          <p:cNvPr descr="Image" id="1042" name="Google Shape;1042;p150"/>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43" name="Google Shape;1043;p150"/>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1․</a:t>
            </a:r>
            <a:endParaRPr b="0" i="0" sz="500" u="none" cap="none" strike="noStrike">
              <a:solidFill>
                <a:srgbClr val="000000"/>
              </a:solidFill>
              <a:latin typeface="Arial"/>
              <a:ea typeface="Arial"/>
              <a:cs typeface="Arial"/>
              <a:sym typeface="Arial"/>
            </a:endParaRPr>
          </a:p>
        </p:txBody>
      </p:sp>
      <p:sp>
        <p:nvSpPr>
          <p:cNvPr id="1044" name="Google Shape;1044;p150"/>
          <p:cNvSpPr txBox="1"/>
          <p:nvPr/>
        </p:nvSpPr>
        <p:spPr>
          <a:xfrm>
            <a:off x="152400" y="1269511"/>
            <a:ext cx="8486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800">
                <a:solidFill>
                  <a:schemeClr val="dk2"/>
                </a:solidFill>
                <a:latin typeface="Urbanist SemiBold"/>
                <a:ea typeface="Urbanist SemiBold"/>
                <a:cs typeface="Urbanist SemiBold"/>
                <a:sym typeface="Urbanist SemiBold"/>
              </a:rPr>
              <a:t>Պարտականությունների համապատասխանեցում՝ UX դիզայներ</a:t>
            </a:r>
            <a:endParaRPr sz="1800">
              <a:solidFill>
                <a:schemeClr val="dk2"/>
              </a:solidFill>
              <a:latin typeface="Urbanist SemiBold"/>
              <a:ea typeface="Urbanist SemiBold"/>
              <a:cs typeface="Urbanist SemiBold"/>
              <a:sym typeface="Urbanist SemiBold"/>
            </a:endParaRPr>
          </a:p>
        </p:txBody>
      </p:sp>
      <p:graphicFrame>
        <p:nvGraphicFramePr>
          <p:cNvPr id="1045" name="Google Shape;1045;p150"/>
          <p:cNvGraphicFramePr/>
          <p:nvPr/>
        </p:nvGraphicFramePr>
        <p:xfrm>
          <a:off x="1112225" y="2155550"/>
          <a:ext cx="3000000" cy="3000000"/>
        </p:xfrm>
        <a:graphic>
          <a:graphicData uri="http://schemas.openxmlformats.org/drawingml/2006/table">
            <a:tbl>
              <a:tblPr>
                <a:noFill/>
                <a:tableStyleId>{41B8CB50-37E8-4FF0-90C8-70755F0B0C13}</a:tableStyleId>
              </a:tblPr>
              <a:tblGrid>
                <a:gridCol w="2281275"/>
                <a:gridCol w="5040400"/>
              </a:tblGrid>
              <a:tr h="12700">
                <a:tc>
                  <a:txBody>
                    <a:bodyPr/>
                    <a:lstStyle/>
                    <a:p>
                      <a:pPr indent="0" lvl="0" marL="89999" marR="91199" rtl="0" algn="ctr">
                        <a:lnSpc>
                          <a:spcPct val="115000"/>
                        </a:lnSpc>
                        <a:spcBef>
                          <a:spcPts val="0"/>
                        </a:spcBef>
                        <a:spcAft>
                          <a:spcPts val="0"/>
                        </a:spcAft>
                        <a:buNone/>
                      </a:pPr>
                      <a:r>
                        <a:rPr lang="ru" sz="1600">
                          <a:latin typeface="Urbanist"/>
                          <a:ea typeface="Urbanist"/>
                          <a:cs typeface="Urbanist"/>
                          <a:sym typeface="Urbanist"/>
                        </a:rPr>
                        <a:t>Մասնագիտություն</a:t>
                      </a:r>
                      <a:endParaRPr sz="1600">
                        <a:latin typeface="Urbanist"/>
                        <a:ea typeface="Urbanist"/>
                        <a:cs typeface="Urbanist"/>
                        <a:sym typeface="Urbanist"/>
                      </a:endParaRPr>
                    </a:p>
                  </a:txBody>
                  <a:tcPr marT="63500" marB="63500" marR="63500" marL="63500">
                    <a:solidFill>
                      <a:srgbClr val="FDC672"/>
                    </a:solidFill>
                  </a:tcPr>
                </a:tc>
                <a:tc>
                  <a:txBody>
                    <a:bodyPr/>
                    <a:lstStyle/>
                    <a:p>
                      <a:pPr indent="0" lvl="0" marL="89999" marR="91199" rtl="0" algn="ctr">
                        <a:lnSpc>
                          <a:spcPct val="115000"/>
                        </a:lnSpc>
                        <a:spcBef>
                          <a:spcPts val="0"/>
                        </a:spcBef>
                        <a:spcAft>
                          <a:spcPts val="0"/>
                        </a:spcAft>
                        <a:buNone/>
                      </a:pPr>
                      <a:r>
                        <a:rPr lang="ru" sz="1600">
                          <a:latin typeface="Urbanist"/>
                          <a:ea typeface="Urbanist"/>
                          <a:cs typeface="Urbanist"/>
                          <a:sym typeface="Urbanist"/>
                        </a:rPr>
                        <a:t>Աշխատանքի նկարագրություն</a:t>
                      </a:r>
                      <a:endParaRPr sz="1600">
                        <a:latin typeface="Urbanist"/>
                        <a:ea typeface="Urbanist"/>
                        <a:cs typeface="Urbanist"/>
                        <a:sym typeface="Urbanist"/>
                      </a:endParaRPr>
                    </a:p>
                  </a:txBody>
                  <a:tcPr marT="63500" marB="63500" marR="63500" marL="63500">
                    <a:solidFill>
                      <a:srgbClr val="FDC672"/>
                    </a:solidFill>
                  </a:tcPr>
                </a:tc>
              </a:tr>
              <a:tr h="12700">
                <a:tc>
                  <a:txBody>
                    <a:bodyPr/>
                    <a:lstStyle/>
                    <a:p>
                      <a:pPr indent="0" lvl="0" marL="89999" marR="91199" rtl="0" algn="l">
                        <a:lnSpc>
                          <a:spcPct val="115000"/>
                        </a:lnSpc>
                        <a:spcBef>
                          <a:spcPts val="0"/>
                        </a:spcBef>
                        <a:spcAft>
                          <a:spcPts val="0"/>
                        </a:spcAft>
                        <a:buNone/>
                      </a:pPr>
                      <a:r>
                        <a:rPr lang="ru" sz="1600">
                          <a:latin typeface="Urbanist"/>
                          <a:ea typeface="Urbanist"/>
                          <a:cs typeface="Urbanist"/>
                          <a:sym typeface="Urbanist"/>
                        </a:rPr>
                        <a:t>UX դիզայներ</a:t>
                      </a:r>
                      <a:endParaRPr sz="1600">
                        <a:latin typeface="Urbanist"/>
                        <a:ea typeface="Urbanist"/>
                        <a:cs typeface="Urbanist"/>
                        <a:sym typeface="Urbanist"/>
                      </a:endParaRPr>
                    </a:p>
                  </a:txBody>
                  <a:tcPr marT="63500" marB="63500" marR="63500" marL="63500"/>
                </a:tc>
                <a:tc>
                  <a:txBody>
                    <a:bodyPr/>
                    <a:lstStyle/>
                    <a:p>
                      <a:pPr indent="-330200" lvl="0" marL="457200" marR="91199" rtl="0" algn="l">
                        <a:lnSpc>
                          <a:spcPct val="115000"/>
                        </a:lnSpc>
                        <a:spcBef>
                          <a:spcPts val="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Նախագծում է կայքեր և հավելվածներ՝ այնպես, որ օգտագործումը լինի հարմար, հասանելի և հաճելի։ </a:t>
                      </a:r>
                      <a:endParaRPr sz="1600">
                        <a:solidFill>
                          <a:schemeClr val="dk1"/>
                        </a:solidFill>
                        <a:latin typeface="Urbanist"/>
                        <a:ea typeface="Urbanist"/>
                        <a:cs typeface="Urbanist"/>
                        <a:sym typeface="Urbanist"/>
                      </a:endParaRPr>
                    </a:p>
                    <a:p>
                      <a:pPr indent="-330200" lvl="0" marL="457200" marR="91199" rtl="0" algn="l">
                        <a:lnSpc>
                          <a:spcPct val="115000"/>
                        </a:lnSpc>
                        <a:spcBef>
                          <a:spcPts val="1000"/>
                        </a:spcBef>
                        <a:spcAft>
                          <a:spcPts val="1000"/>
                        </a:spcAft>
                        <a:buClr>
                          <a:srgbClr val="FDC672"/>
                        </a:buClr>
                        <a:buSzPts val="1600"/>
                        <a:buFont typeface="Urbanist"/>
                        <a:buChar char="●"/>
                      </a:pPr>
                      <a:r>
                        <a:rPr lang="ru" sz="1600">
                          <a:solidFill>
                            <a:schemeClr val="dk1"/>
                          </a:solidFill>
                          <a:latin typeface="Urbanist"/>
                          <a:ea typeface="Urbanist"/>
                          <a:cs typeface="Urbanist"/>
                          <a:sym typeface="Urbanist"/>
                        </a:rPr>
                        <a:t>Ստեղծում է միջերեսի մոդելներ (wireframes), թեստավորում է փորձը և բարելավում այն՝ ըստ օգտագործողների արձագանքների։</a:t>
                      </a:r>
                      <a:endParaRPr sz="2000">
                        <a:latin typeface="Urbanist"/>
                        <a:ea typeface="Urbanist"/>
                        <a:cs typeface="Urbanist"/>
                        <a:sym typeface="Urbanist"/>
                      </a:endParaRPr>
                    </a:p>
                  </a:txBody>
                  <a:tcPr marT="63500" marB="63500" marR="63500" marL="63500"/>
                </a:tc>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pic>
        <p:nvPicPr>
          <p:cNvPr descr="Image" id="1050" name="Google Shape;1050;p151"/>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51" name="Google Shape;1051;p151"/>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1․</a:t>
            </a:r>
            <a:endParaRPr b="0" i="0" sz="500" u="none" cap="none" strike="noStrike">
              <a:solidFill>
                <a:srgbClr val="000000"/>
              </a:solidFill>
              <a:latin typeface="Arial"/>
              <a:ea typeface="Arial"/>
              <a:cs typeface="Arial"/>
              <a:sym typeface="Arial"/>
            </a:endParaRPr>
          </a:p>
        </p:txBody>
      </p:sp>
      <p:sp>
        <p:nvSpPr>
          <p:cNvPr id="1052" name="Google Shape;1052;p151"/>
          <p:cNvSpPr txBox="1"/>
          <p:nvPr/>
        </p:nvSpPr>
        <p:spPr>
          <a:xfrm>
            <a:off x="152400" y="1269511"/>
            <a:ext cx="84864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800">
                <a:solidFill>
                  <a:schemeClr val="dk2"/>
                </a:solidFill>
                <a:latin typeface="Urbanist SemiBold"/>
                <a:ea typeface="Urbanist SemiBold"/>
                <a:cs typeface="Urbanist SemiBold"/>
                <a:sym typeface="Urbanist SemiBold"/>
              </a:rPr>
              <a:t>Պարտականությունների համապատասխանեցում՝ Ծրագրային ճարտարագետ</a:t>
            </a:r>
            <a:endParaRPr sz="1800">
              <a:solidFill>
                <a:schemeClr val="dk2"/>
              </a:solidFill>
              <a:latin typeface="Urbanist SemiBold"/>
              <a:ea typeface="Urbanist SemiBold"/>
              <a:cs typeface="Urbanist SemiBold"/>
              <a:sym typeface="Urbanist SemiBold"/>
            </a:endParaRPr>
          </a:p>
        </p:txBody>
      </p:sp>
      <p:graphicFrame>
        <p:nvGraphicFramePr>
          <p:cNvPr id="1053" name="Google Shape;1053;p151"/>
          <p:cNvGraphicFramePr/>
          <p:nvPr/>
        </p:nvGraphicFramePr>
        <p:xfrm>
          <a:off x="1112225" y="2155550"/>
          <a:ext cx="3000000" cy="3000000"/>
        </p:xfrm>
        <a:graphic>
          <a:graphicData uri="http://schemas.openxmlformats.org/drawingml/2006/table">
            <a:tbl>
              <a:tblPr>
                <a:noFill/>
                <a:tableStyleId>{41B8CB50-37E8-4FF0-90C8-70755F0B0C13}</a:tableStyleId>
              </a:tblPr>
              <a:tblGrid>
                <a:gridCol w="2281275"/>
                <a:gridCol w="5040400"/>
              </a:tblGrid>
              <a:tr h="12700">
                <a:tc>
                  <a:txBody>
                    <a:bodyPr/>
                    <a:lstStyle/>
                    <a:p>
                      <a:pPr indent="0" lvl="0" marL="89999" marR="91199" rtl="0" algn="ctr">
                        <a:lnSpc>
                          <a:spcPct val="115000"/>
                        </a:lnSpc>
                        <a:spcBef>
                          <a:spcPts val="0"/>
                        </a:spcBef>
                        <a:spcAft>
                          <a:spcPts val="0"/>
                        </a:spcAft>
                        <a:buNone/>
                      </a:pPr>
                      <a:r>
                        <a:rPr lang="ru" sz="1600">
                          <a:latin typeface="Urbanist"/>
                          <a:ea typeface="Urbanist"/>
                          <a:cs typeface="Urbanist"/>
                          <a:sym typeface="Urbanist"/>
                        </a:rPr>
                        <a:t>Մասնագիտություն</a:t>
                      </a:r>
                      <a:endParaRPr sz="1600">
                        <a:latin typeface="Urbanist"/>
                        <a:ea typeface="Urbanist"/>
                        <a:cs typeface="Urbanist"/>
                        <a:sym typeface="Urbanist"/>
                      </a:endParaRPr>
                    </a:p>
                  </a:txBody>
                  <a:tcPr marT="63500" marB="63500" marR="63500" marL="63500">
                    <a:solidFill>
                      <a:srgbClr val="FDC672"/>
                    </a:solidFill>
                  </a:tcPr>
                </a:tc>
                <a:tc>
                  <a:txBody>
                    <a:bodyPr/>
                    <a:lstStyle/>
                    <a:p>
                      <a:pPr indent="0" lvl="0" marL="89999" marR="91199" rtl="0" algn="ctr">
                        <a:lnSpc>
                          <a:spcPct val="115000"/>
                        </a:lnSpc>
                        <a:spcBef>
                          <a:spcPts val="0"/>
                        </a:spcBef>
                        <a:spcAft>
                          <a:spcPts val="0"/>
                        </a:spcAft>
                        <a:buNone/>
                      </a:pPr>
                      <a:r>
                        <a:rPr lang="ru" sz="1600">
                          <a:latin typeface="Urbanist"/>
                          <a:ea typeface="Urbanist"/>
                          <a:cs typeface="Urbanist"/>
                          <a:sym typeface="Urbanist"/>
                        </a:rPr>
                        <a:t>Աշխատանքի նկարագրություն</a:t>
                      </a:r>
                      <a:endParaRPr sz="1600">
                        <a:latin typeface="Urbanist"/>
                        <a:ea typeface="Urbanist"/>
                        <a:cs typeface="Urbanist"/>
                        <a:sym typeface="Urbanist"/>
                      </a:endParaRPr>
                    </a:p>
                  </a:txBody>
                  <a:tcPr marT="63500" marB="63500" marR="63500" marL="63500">
                    <a:solidFill>
                      <a:srgbClr val="FDC672"/>
                    </a:solidFill>
                  </a:tcPr>
                </a:tc>
              </a:tr>
              <a:tr h="12700">
                <a:tc>
                  <a:txBody>
                    <a:bodyPr/>
                    <a:lstStyle/>
                    <a:p>
                      <a:pPr indent="0" lvl="0" marL="89999" marR="91199" rtl="0" algn="l">
                        <a:lnSpc>
                          <a:spcPct val="115000"/>
                        </a:lnSpc>
                        <a:spcBef>
                          <a:spcPts val="0"/>
                        </a:spcBef>
                        <a:spcAft>
                          <a:spcPts val="0"/>
                        </a:spcAft>
                        <a:buNone/>
                      </a:pPr>
                      <a:r>
                        <a:rPr lang="ru" sz="1600">
                          <a:latin typeface="Urbanist"/>
                          <a:ea typeface="Urbanist"/>
                          <a:cs typeface="Urbanist"/>
                          <a:sym typeface="Urbanist"/>
                        </a:rPr>
                        <a:t>Ծրագրային ճարտարագետ</a:t>
                      </a:r>
                      <a:endParaRPr sz="1600">
                        <a:latin typeface="Urbanist"/>
                        <a:ea typeface="Urbanist"/>
                        <a:cs typeface="Urbanist"/>
                        <a:sym typeface="Urbanist"/>
                      </a:endParaRPr>
                    </a:p>
                  </a:txBody>
                  <a:tcPr marT="63500" marB="63500" marR="63500" marL="63500"/>
                </a:tc>
                <a:tc>
                  <a:txBody>
                    <a:bodyPr/>
                    <a:lstStyle/>
                    <a:p>
                      <a:pPr indent="-330200" lvl="0" marL="457200" rtl="0" algn="l">
                        <a:lnSpc>
                          <a:spcPct val="115000"/>
                        </a:lnSpc>
                        <a:spcBef>
                          <a:spcPts val="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Նախագծում, մշակում և սպասարկում է ծրագրային ապահովում։</a:t>
                      </a:r>
                      <a:endParaRPr sz="1600">
                        <a:solidFill>
                          <a:schemeClr val="dk1"/>
                        </a:solidFill>
                        <a:latin typeface="Urbanist"/>
                        <a:ea typeface="Urbanist"/>
                        <a:cs typeface="Urbanist"/>
                        <a:sym typeface="Urbanist"/>
                      </a:endParaRPr>
                    </a:p>
                    <a:p>
                      <a:pPr indent="-330200" lvl="0" marL="457200" rtl="0" algn="l">
                        <a:lnSpc>
                          <a:spcPct val="115000"/>
                        </a:lnSpc>
                        <a:spcBef>
                          <a:spcPts val="1200"/>
                        </a:spcBef>
                        <a:spcAft>
                          <a:spcPts val="0"/>
                        </a:spcAft>
                        <a:buClr>
                          <a:srgbClr val="FDC672"/>
                        </a:buClr>
                        <a:buSzPts val="1600"/>
                        <a:buFont typeface="Urbanist"/>
                        <a:buChar char="●"/>
                      </a:pPr>
                      <a:r>
                        <a:rPr lang="ru" sz="1600">
                          <a:solidFill>
                            <a:schemeClr val="dk1"/>
                          </a:solidFill>
                          <a:latin typeface="Urbanist"/>
                          <a:ea typeface="Urbanist"/>
                          <a:cs typeface="Urbanist"/>
                          <a:sym typeface="Urbanist"/>
                        </a:rPr>
                        <a:t>Գրում է կոդ, համագործակցում է այլ ճարտարագետների և մասնագետների հետ, լուծում է տեխնիկական խնդիրներ և ապահովում է համակարգերի արդյունավետ և անվտանգ աշխատանքը։</a:t>
                      </a:r>
                      <a:endParaRPr sz="1600">
                        <a:solidFill>
                          <a:schemeClr val="dk1"/>
                        </a:solidFill>
                        <a:latin typeface="Urbanist"/>
                        <a:ea typeface="Urbanist"/>
                        <a:cs typeface="Urbanist"/>
                        <a:sym typeface="Urbanist"/>
                      </a:endParaRPr>
                    </a:p>
                  </a:txBody>
                  <a:tcPr marT="63500" marB="63500" marR="63500" marL="63500"/>
                </a:tc>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pic>
        <p:nvPicPr>
          <p:cNvPr descr="Image" id="1058" name="Google Shape;1058;p152"/>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59" name="Google Shape;1059;p152"/>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2․</a:t>
            </a:r>
            <a:endParaRPr b="0" i="0" sz="500" u="none" cap="none" strike="noStrike">
              <a:solidFill>
                <a:srgbClr val="000000"/>
              </a:solidFill>
              <a:latin typeface="Arial"/>
              <a:ea typeface="Arial"/>
              <a:cs typeface="Arial"/>
              <a:sym typeface="Arial"/>
            </a:endParaRPr>
          </a:p>
        </p:txBody>
      </p:sp>
      <p:sp>
        <p:nvSpPr>
          <p:cNvPr id="1060" name="Google Shape;1060;p152"/>
          <p:cNvSpPr txBox="1"/>
          <p:nvPr/>
        </p:nvSpPr>
        <p:spPr>
          <a:xfrm>
            <a:off x="152400" y="1269511"/>
            <a:ext cx="8486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800">
                <a:solidFill>
                  <a:schemeClr val="dk2"/>
                </a:solidFill>
                <a:latin typeface="Urbanist SemiBold"/>
                <a:ea typeface="Urbanist SemiBold"/>
                <a:cs typeface="Urbanist SemiBold"/>
                <a:sym typeface="Urbanist SemiBold"/>
              </a:rPr>
              <a:t>Մասնագետի ընտրություն</a:t>
            </a:r>
            <a:endParaRPr sz="1800">
              <a:solidFill>
                <a:schemeClr val="dk2"/>
              </a:solidFill>
              <a:latin typeface="Urbanist SemiBold"/>
              <a:ea typeface="Urbanist SemiBold"/>
              <a:cs typeface="Urbanist SemiBold"/>
              <a:sym typeface="Urbanist SemiBold"/>
            </a:endParaRPr>
          </a:p>
        </p:txBody>
      </p:sp>
      <p:graphicFrame>
        <p:nvGraphicFramePr>
          <p:cNvPr id="1061" name="Google Shape;1061;p152"/>
          <p:cNvGraphicFramePr/>
          <p:nvPr/>
        </p:nvGraphicFramePr>
        <p:xfrm>
          <a:off x="778375" y="1825105"/>
          <a:ext cx="3000000" cy="3000000"/>
        </p:xfrm>
        <a:graphic>
          <a:graphicData uri="http://schemas.openxmlformats.org/drawingml/2006/table">
            <a:tbl>
              <a:tblPr>
                <a:noFill/>
                <a:tableStyleId>{41B8CB50-37E8-4FF0-90C8-70755F0B0C13}</a:tableStyleId>
              </a:tblPr>
              <a:tblGrid>
                <a:gridCol w="3457175"/>
                <a:gridCol w="3457175"/>
              </a:tblGrid>
              <a:tr h="314325">
                <a:tc>
                  <a:txBody>
                    <a:bodyPr/>
                    <a:lstStyle/>
                    <a:p>
                      <a:pPr indent="0" lvl="0" marL="89999" marR="8174" rtl="0" algn="ctr">
                        <a:lnSpc>
                          <a:spcPct val="115000"/>
                        </a:lnSpc>
                        <a:spcBef>
                          <a:spcPts val="0"/>
                        </a:spcBef>
                        <a:spcAft>
                          <a:spcPts val="0"/>
                        </a:spcAft>
                        <a:buNone/>
                      </a:pPr>
                      <a:r>
                        <a:rPr lang="ru" sz="1600">
                          <a:latin typeface="Urbanist"/>
                          <a:ea typeface="Urbanist"/>
                          <a:cs typeface="Urbanist"/>
                          <a:sym typeface="Urbanist"/>
                        </a:rPr>
                        <a:t>Իրավիճակի նկարագրություն</a:t>
                      </a:r>
                      <a:endParaRPr sz="16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672"/>
                    </a:solidFill>
                  </a:tcPr>
                </a:tc>
                <a:tc>
                  <a:txBody>
                    <a:bodyPr/>
                    <a:lstStyle/>
                    <a:p>
                      <a:pPr indent="0" lvl="0" marL="89999" marR="8174" rtl="0" algn="ctr">
                        <a:lnSpc>
                          <a:spcPct val="115000"/>
                        </a:lnSpc>
                        <a:spcBef>
                          <a:spcPts val="0"/>
                        </a:spcBef>
                        <a:spcAft>
                          <a:spcPts val="0"/>
                        </a:spcAft>
                        <a:buNone/>
                      </a:pPr>
                      <a:r>
                        <a:rPr lang="ru" sz="1600">
                          <a:latin typeface="Urbanist"/>
                          <a:ea typeface="Urbanist"/>
                          <a:cs typeface="Urbanist"/>
                          <a:sym typeface="Urbanist"/>
                        </a:rPr>
                        <a:t>Մասնագետ</a:t>
                      </a:r>
                      <a:endParaRPr sz="16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672"/>
                    </a:solidFill>
                  </a:tcPr>
                </a:tc>
              </a:tr>
              <a:tr h="1171575">
                <a:tc>
                  <a:txBody>
                    <a:bodyPr/>
                    <a:lstStyle/>
                    <a:p>
                      <a:pPr indent="0" lvl="0" marL="0" rtl="0" algn="l">
                        <a:lnSpc>
                          <a:spcPct val="115000"/>
                        </a:lnSpc>
                        <a:spcBef>
                          <a:spcPts val="0"/>
                        </a:spcBef>
                        <a:spcAft>
                          <a:spcPts val="0"/>
                        </a:spcAft>
                        <a:buNone/>
                      </a:pPr>
                      <a:r>
                        <a:rPr lang="ru" sz="1600">
                          <a:latin typeface="Urbanist"/>
                          <a:ea typeface="Urbanist"/>
                          <a:cs typeface="Urbanist"/>
                          <a:sym typeface="Urbanist"/>
                        </a:rPr>
                        <a:t>Թիմը քննարկում է՝ արդյոք ֆունկցիաները օգտատիրոջ համար հեշտ և տրամաբանական են կիրառելիս։</a:t>
                      </a:r>
                      <a:endParaRPr sz="1600">
                        <a:latin typeface="Urbanist"/>
                        <a:ea typeface="Urbanist"/>
                        <a:cs typeface="Urbanist"/>
                        <a:sym typeface="Urbanist"/>
                      </a:endParaRPr>
                    </a:p>
                  </a:txBody>
                  <a:tcPr marT="63500" marB="63500" marR="63500" marL="6350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ru" sz="1600">
                          <a:latin typeface="Urbanist"/>
                          <a:ea typeface="Urbanist"/>
                          <a:cs typeface="Urbanist"/>
                          <a:sym typeface="Urbanist"/>
                        </a:rPr>
                        <a:t>UX դիզայներ</a:t>
                      </a:r>
                      <a:endParaRPr sz="16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0650">
                <a:tc>
                  <a:txBody>
                    <a:bodyPr/>
                    <a:lstStyle/>
                    <a:p>
                      <a:pPr indent="0" lvl="0" marL="0" rtl="0" algn="l">
                        <a:lnSpc>
                          <a:spcPct val="115000"/>
                        </a:lnSpc>
                        <a:spcBef>
                          <a:spcPts val="0"/>
                        </a:spcBef>
                        <a:spcAft>
                          <a:spcPts val="0"/>
                        </a:spcAft>
                        <a:buNone/>
                      </a:pPr>
                      <a:r>
                        <a:rPr lang="ru" sz="1600">
                          <a:latin typeface="Urbanist"/>
                          <a:ea typeface="Urbanist"/>
                          <a:cs typeface="Urbanist"/>
                          <a:sym typeface="Urbanist"/>
                        </a:rPr>
                        <a:t>Հիմնական շահառուից ստացվել է նոր ֆունկցիայի առաջարկ, սակայն պարզ չէ՝ արդյոք այն համապատասխանում է արտադրանքի տեսլականին։</a:t>
                      </a:r>
                      <a:endParaRPr sz="1600">
                        <a:latin typeface="Urbanist"/>
                        <a:ea typeface="Urbanist"/>
                        <a:cs typeface="Urbanist"/>
                        <a:sym typeface="Urbanist"/>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ru" sz="1600">
                          <a:latin typeface="Urbanist"/>
                          <a:ea typeface="Urbanist"/>
                          <a:cs typeface="Urbanist"/>
                          <a:sym typeface="Urbanist"/>
                        </a:rPr>
                        <a:t>Արտադրանքի մենեջեր</a:t>
                      </a:r>
                      <a:endParaRPr sz="1600">
                        <a:latin typeface="Urbanist"/>
                        <a:ea typeface="Urbanist"/>
                        <a:cs typeface="Urbanist"/>
                        <a:sym typeface="Urbanist"/>
                      </a:endParaRPr>
                    </a:p>
                    <a:p>
                      <a:pPr indent="0" lvl="0" marL="0" marR="8174" rtl="0" algn="l">
                        <a:lnSpc>
                          <a:spcPct val="115000"/>
                        </a:lnSpc>
                        <a:spcBef>
                          <a:spcPts val="0"/>
                        </a:spcBef>
                        <a:spcAft>
                          <a:spcPts val="0"/>
                        </a:spcAft>
                        <a:buNone/>
                      </a:pPr>
                      <a:r>
                        <a:t/>
                      </a:r>
                      <a:endParaRPr sz="1600" strike="sngStrike">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pic>
        <p:nvPicPr>
          <p:cNvPr descr="Image" id="1066" name="Google Shape;1066;p153"/>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67" name="Google Shape;1067;p153"/>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2․</a:t>
            </a:r>
            <a:endParaRPr b="0" i="0" sz="500" u="none" cap="none" strike="noStrike">
              <a:solidFill>
                <a:srgbClr val="000000"/>
              </a:solidFill>
              <a:latin typeface="Arial"/>
              <a:ea typeface="Arial"/>
              <a:cs typeface="Arial"/>
              <a:sym typeface="Arial"/>
            </a:endParaRPr>
          </a:p>
        </p:txBody>
      </p:sp>
      <p:sp>
        <p:nvSpPr>
          <p:cNvPr id="1068" name="Google Shape;1068;p153"/>
          <p:cNvSpPr txBox="1"/>
          <p:nvPr/>
        </p:nvSpPr>
        <p:spPr>
          <a:xfrm>
            <a:off x="152400" y="1269511"/>
            <a:ext cx="8486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800">
                <a:solidFill>
                  <a:schemeClr val="dk2"/>
                </a:solidFill>
                <a:latin typeface="Urbanist SemiBold"/>
                <a:ea typeface="Urbanist SemiBold"/>
                <a:cs typeface="Urbanist SemiBold"/>
                <a:sym typeface="Urbanist SemiBold"/>
              </a:rPr>
              <a:t>Մասնագետի ընտրություն</a:t>
            </a:r>
            <a:endParaRPr sz="1800">
              <a:solidFill>
                <a:schemeClr val="dk2"/>
              </a:solidFill>
              <a:latin typeface="Urbanist SemiBold"/>
              <a:ea typeface="Urbanist SemiBold"/>
              <a:cs typeface="Urbanist SemiBold"/>
              <a:sym typeface="Urbanist SemiBold"/>
            </a:endParaRPr>
          </a:p>
        </p:txBody>
      </p:sp>
      <p:graphicFrame>
        <p:nvGraphicFramePr>
          <p:cNvPr id="1069" name="Google Shape;1069;p153"/>
          <p:cNvGraphicFramePr/>
          <p:nvPr/>
        </p:nvGraphicFramePr>
        <p:xfrm>
          <a:off x="778375" y="1825105"/>
          <a:ext cx="3000000" cy="3000000"/>
        </p:xfrm>
        <a:graphic>
          <a:graphicData uri="http://schemas.openxmlformats.org/drawingml/2006/table">
            <a:tbl>
              <a:tblPr>
                <a:noFill/>
                <a:tableStyleId>{41B8CB50-37E8-4FF0-90C8-70755F0B0C13}</a:tableStyleId>
              </a:tblPr>
              <a:tblGrid>
                <a:gridCol w="3457175"/>
                <a:gridCol w="3457175"/>
              </a:tblGrid>
              <a:tr h="314325">
                <a:tc>
                  <a:txBody>
                    <a:bodyPr/>
                    <a:lstStyle/>
                    <a:p>
                      <a:pPr indent="0" lvl="0" marL="89999" marR="8174" rtl="0" algn="ctr">
                        <a:lnSpc>
                          <a:spcPct val="115000"/>
                        </a:lnSpc>
                        <a:spcBef>
                          <a:spcPts val="0"/>
                        </a:spcBef>
                        <a:spcAft>
                          <a:spcPts val="0"/>
                        </a:spcAft>
                        <a:buNone/>
                      </a:pPr>
                      <a:r>
                        <a:rPr lang="ru" sz="1600">
                          <a:latin typeface="Urbanist"/>
                          <a:ea typeface="Urbanist"/>
                          <a:cs typeface="Urbanist"/>
                          <a:sym typeface="Urbanist"/>
                        </a:rPr>
                        <a:t>Իրավիճակի նկարագրություն</a:t>
                      </a:r>
                      <a:endParaRPr sz="16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672"/>
                    </a:solidFill>
                  </a:tcPr>
                </a:tc>
                <a:tc>
                  <a:txBody>
                    <a:bodyPr/>
                    <a:lstStyle/>
                    <a:p>
                      <a:pPr indent="0" lvl="0" marL="89999" marR="8174" rtl="0" algn="ctr">
                        <a:lnSpc>
                          <a:spcPct val="115000"/>
                        </a:lnSpc>
                        <a:spcBef>
                          <a:spcPts val="0"/>
                        </a:spcBef>
                        <a:spcAft>
                          <a:spcPts val="0"/>
                        </a:spcAft>
                        <a:buNone/>
                      </a:pPr>
                      <a:r>
                        <a:rPr lang="ru" sz="1600">
                          <a:latin typeface="Urbanist"/>
                          <a:ea typeface="Urbanist"/>
                          <a:cs typeface="Urbanist"/>
                          <a:sym typeface="Urbanist"/>
                        </a:rPr>
                        <a:t>Մասնագետ</a:t>
                      </a:r>
                      <a:endParaRPr sz="16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672"/>
                    </a:solidFill>
                  </a:tcPr>
                </a:tc>
              </a:tr>
              <a:tr h="1171575">
                <a:tc>
                  <a:txBody>
                    <a:bodyPr/>
                    <a:lstStyle/>
                    <a:p>
                      <a:pPr indent="0" lvl="0" marL="0" rtl="0" algn="l">
                        <a:lnSpc>
                          <a:spcPct val="115000"/>
                        </a:lnSpc>
                        <a:spcBef>
                          <a:spcPts val="0"/>
                        </a:spcBef>
                        <a:spcAft>
                          <a:spcPts val="0"/>
                        </a:spcAft>
                        <a:buNone/>
                      </a:pPr>
                      <a:r>
                        <a:rPr lang="ru" sz="1600">
                          <a:latin typeface="Urbanist"/>
                          <a:ea typeface="Urbanist"/>
                          <a:cs typeface="Urbanist"/>
                          <a:sym typeface="Urbanist"/>
                        </a:rPr>
                        <a:t>Վերջին թարմացումից հետո ձայնային օգնականի աշխատանքում նկատվում է արտադրողականության անկման խնդիր։ </a:t>
                      </a:r>
                      <a:endParaRPr sz="1600">
                        <a:latin typeface="Urbanist"/>
                        <a:ea typeface="Urbanist"/>
                        <a:cs typeface="Urbanist"/>
                        <a:sym typeface="Urbanist"/>
                      </a:endParaRPr>
                    </a:p>
                  </a:txBody>
                  <a:tcPr marT="63500" marB="63500" marR="63500" marL="6350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ru" sz="1600">
                          <a:latin typeface="Urbanist"/>
                          <a:ea typeface="Urbanist"/>
                          <a:cs typeface="Urbanist"/>
                          <a:sym typeface="Urbanist"/>
                        </a:rPr>
                        <a:t>Ծրագրային ճարտարագետ</a:t>
                      </a:r>
                      <a:endParaRPr sz="16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0650">
                <a:tc>
                  <a:txBody>
                    <a:bodyPr/>
                    <a:lstStyle/>
                    <a:p>
                      <a:pPr indent="0" lvl="0" marL="0" rtl="0" algn="l">
                        <a:lnSpc>
                          <a:spcPct val="115000"/>
                        </a:lnSpc>
                        <a:spcBef>
                          <a:spcPts val="0"/>
                        </a:spcBef>
                        <a:spcAft>
                          <a:spcPts val="0"/>
                        </a:spcAft>
                        <a:buNone/>
                      </a:pPr>
                      <a:r>
                        <a:rPr lang="ru" sz="1600">
                          <a:latin typeface="Urbanist"/>
                          <a:ea typeface="Urbanist"/>
                          <a:cs typeface="Urbanist"/>
                          <a:sym typeface="Urbanist"/>
                        </a:rPr>
                        <a:t>Օգտատերերը շփոթվում են՝ ինչպես է կառուցված նոր կարգավորումների ընտրացանկը։</a:t>
                      </a:r>
                      <a:endParaRPr sz="1600">
                        <a:latin typeface="Urbanist"/>
                        <a:ea typeface="Urbanist"/>
                        <a:cs typeface="Urbanist"/>
                        <a:sym typeface="Urbanist"/>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ru" sz="1600">
                          <a:latin typeface="Urbanist"/>
                          <a:ea typeface="Urbanist"/>
                          <a:cs typeface="Urbanist"/>
                          <a:sym typeface="Urbanist"/>
                        </a:rPr>
                        <a:t>UX դիզայներ</a:t>
                      </a:r>
                      <a:endParaRPr sz="1600">
                        <a:latin typeface="Urbanist"/>
                        <a:ea typeface="Urbanist"/>
                        <a:cs typeface="Urbanist"/>
                        <a:sym typeface="Urbanist"/>
                      </a:endParaRPr>
                    </a:p>
                    <a:p>
                      <a:pPr indent="0" lvl="0" marL="0" marR="8174" rtl="0" algn="l">
                        <a:lnSpc>
                          <a:spcPct val="115000"/>
                        </a:lnSpc>
                        <a:spcBef>
                          <a:spcPts val="0"/>
                        </a:spcBef>
                        <a:spcAft>
                          <a:spcPts val="0"/>
                        </a:spcAft>
                        <a:buNone/>
                      </a:pPr>
                      <a:r>
                        <a:t/>
                      </a:r>
                      <a:endParaRPr sz="1600" strike="sngStrike">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pic>
        <p:nvPicPr>
          <p:cNvPr descr="Image" id="1074" name="Google Shape;1074;p154"/>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75" name="Google Shape;1075;p154"/>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Առաջադրանք 2․</a:t>
            </a:r>
            <a:endParaRPr b="0" i="0" sz="500" u="none" cap="none" strike="noStrike">
              <a:solidFill>
                <a:srgbClr val="000000"/>
              </a:solidFill>
              <a:latin typeface="Arial"/>
              <a:ea typeface="Arial"/>
              <a:cs typeface="Arial"/>
              <a:sym typeface="Arial"/>
            </a:endParaRPr>
          </a:p>
        </p:txBody>
      </p:sp>
      <p:sp>
        <p:nvSpPr>
          <p:cNvPr id="1076" name="Google Shape;1076;p154"/>
          <p:cNvSpPr txBox="1"/>
          <p:nvPr/>
        </p:nvSpPr>
        <p:spPr>
          <a:xfrm>
            <a:off x="152400" y="1269511"/>
            <a:ext cx="8486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800">
                <a:solidFill>
                  <a:schemeClr val="dk2"/>
                </a:solidFill>
                <a:latin typeface="Urbanist SemiBold"/>
                <a:ea typeface="Urbanist SemiBold"/>
                <a:cs typeface="Urbanist SemiBold"/>
                <a:sym typeface="Urbanist SemiBold"/>
              </a:rPr>
              <a:t>Մասնագետի ընտրություն</a:t>
            </a:r>
            <a:endParaRPr sz="1800">
              <a:solidFill>
                <a:schemeClr val="dk2"/>
              </a:solidFill>
              <a:latin typeface="Urbanist SemiBold"/>
              <a:ea typeface="Urbanist SemiBold"/>
              <a:cs typeface="Urbanist SemiBold"/>
              <a:sym typeface="Urbanist SemiBold"/>
            </a:endParaRPr>
          </a:p>
        </p:txBody>
      </p:sp>
      <p:graphicFrame>
        <p:nvGraphicFramePr>
          <p:cNvPr id="1077" name="Google Shape;1077;p154"/>
          <p:cNvGraphicFramePr/>
          <p:nvPr/>
        </p:nvGraphicFramePr>
        <p:xfrm>
          <a:off x="778375" y="1825105"/>
          <a:ext cx="3000000" cy="3000000"/>
        </p:xfrm>
        <a:graphic>
          <a:graphicData uri="http://schemas.openxmlformats.org/drawingml/2006/table">
            <a:tbl>
              <a:tblPr>
                <a:noFill/>
                <a:tableStyleId>{41B8CB50-37E8-4FF0-90C8-70755F0B0C13}</a:tableStyleId>
              </a:tblPr>
              <a:tblGrid>
                <a:gridCol w="3457175"/>
                <a:gridCol w="3457175"/>
              </a:tblGrid>
              <a:tr h="364075">
                <a:tc>
                  <a:txBody>
                    <a:bodyPr/>
                    <a:lstStyle/>
                    <a:p>
                      <a:pPr indent="0" lvl="0" marL="89999" marR="8174" rtl="0" algn="ctr">
                        <a:lnSpc>
                          <a:spcPct val="115000"/>
                        </a:lnSpc>
                        <a:spcBef>
                          <a:spcPts val="0"/>
                        </a:spcBef>
                        <a:spcAft>
                          <a:spcPts val="0"/>
                        </a:spcAft>
                        <a:buNone/>
                      </a:pPr>
                      <a:r>
                        <a:rPr lang="ru" sz="1600">
                          <a:latin typeface="Urbanist"/>
                          <a:ea typeface="Urbanist"/>
                          <a:cs typeface="Urbanist"/>
                          <a:sym typeface="Urbanist"/>
                        </a:rPr>
                        <a:t>Իրավիճակի նկարագրություն</a:t>
                      </a:r>
                      <a:endParaRPr sz="16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672"/>
                    </a:solidFill>
                  </a:tcPr>
                </a:tc>
                <a:tc>
                  <a:txBody>
                    <a:bodyPr/>
                    <a:lstStyle/>
                    <a:p>
                      <a:pPr indent="0" lvl="0" marL="89999" marR="8174" rtl="0" algn="ctr">
                        <a:lnSpc>
                          <a:spcPct val="115000"/>
                        </a:lnSpc>
                        <a:spcBef>
                          <a:spcPts val="0"/>
                        </a:spcBef>
                        <a:spcAft>
                          <a:spcPts val="0"/>
                        </a:spcAft>
                        <a:buNone/>
                      </a:pPr>
                      <a:r>
                        <a:rPr lang="ru" sz="1600">
                          <a:latin typeface="Urbanist"/>
                          <a:ea typeface="Urbanist"/>
                          <a:cs typeface="Urbanist"/>
                          <a:sym typeface="Urbanist"/>
                        </a:rPr>
                        <a:t>Մասնագետ</a:t>
                      </a:r>
                      <a:endParaRPr sz="1600">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672"/>
                    </a:solidFill>
                  </a:tcPr>
                </a:tc>
              </a:tr>
              <a:tr h="862850">
                <a:tc>
                  <a:txBody>
                    <a:bodyPr/>
                    <a:lstStyle/>
                    <a:p>
                      <a:pPr indent="0" lvl="0" marL="0" rtl="0" algn="l">
                        <a:lnSpc>
                          <a:spcPct val="115000"/>
                        </a:lnSpc>
                        <a:spcBef>
                          <a:spcPts val="0"/>
                        </a:spcBef>
                        <a:spcAft>
                          <a:spcPts val="0"/>
                        </a:spcAft>
                        <a:buNone/>
                      </a:pPr>
                      <a:r>
                        <a:rPr lang="ru">
                          <a:latin typeface="Urbanist"/>
                          <a:ea typeface="Urbanist"/>
                          <a:cs typeface="Urbanist"/>
                          <a:sym typeface="Urbanist"/>
                        </a:rPr>
                        <a:t>Թիմը պետք է որոշի՝ առաջիկա երեք ամիսների ընթացքում որ ֆունկցիաներն են կառուցվելու:</a:t>
                      </a:r>
                      <a:endParaRPr>
                        <a:latin typeface="Urbanist"/>
                        <a:ea typeface="Urbanist"/>
                        <a:cs typeface="Urbanist"/>
                        <a:sym typeface="Urbanist"/>
                      </a:endParaRPr>
                    </a:p>
                  </a:txBody>
                  <a:tcPr marT="63500" marB="63500" marR="63500" marL="6350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ru">
                          <a:latin typeface="Urbanist"/>
                          <a:ea typeface="Urbanist"/>
                          <a:cs typeface="Urbanist"/>
                          <a:sym typeface="Urbanist"/>
                        </a:rPr>
                        <a:t>Արտադրանքի մենեջեր</a:t>
                      </a:r>
                      <a:endParaRPr>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03800">
                <a:tc>
                  <a:txBody>
                    <a:bodyPr/>
                    <a:lstStyle/>
                    <a:p>
                      <a:pPr indent="0" lvl="0" marL="0" rtl="0" algn="l">
                        <a:lnSpc>
                          <a:spcPct val="115000"/>
                        </a:lnSpc>
                        <a:spcBef>
                          <a:spcPts val="0"/>
                        </a:spcBef>
                        <a:spcAft>
                          <a:spcPts val="0"/>
                        </a:spcAft>
                        <a:buNone/>
                      </a:pPr>
                      <a:r>
                        <a:rPr lang="ru">
                          <a:latin typeface="Urbanist"/>
                          <a:ea typeface="Urbanist"/>
                          <a:cs typeface="Urbanist"/>
                          <a:sym typeface="Urbanist"/>
                        </a:rPr>
                        <a:t>Ապրանքը թեստավորվում է տարեց օգտատերերի խմբի հետ, հավաքվում են արձագանքներ:</a:t>
                      </a:r>
                      <a:endParaRPr>
                        <a:latin typeface="Urbanist"/>
                        <a:ea typeface="Urbanist"/>
                        <a:cs typeface="Urbanist"/>
                        <a:sym typeface="Urbanist"/>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ru">
                          <a:latin typeface="Urbanist"/>
                          <a:ea typeface="Urbanist"/>
                          <a:cs typeface="Urbanist"/>
                          <a:sym typeface="Urbanist"/>
                        </a:rPr>
                        <a:t>UX դիզայներ</a:t>
                      </a:r>
                      <a:endParaRPr>
                        <a:latin typeface="Urbanist"/>
                        <a:ea typeface="Urbanist"/>
                        <a:cs typeface="Urbanist"/>
                        <a:sym typeface="Urbanist"/>
                      </a:endParaRPr>
                    </a:p>
                    <a:p>
                      <a:pPr indent="0" lvl="0" marL="0" marR="8174" rtl="0" algn="l">
                        <a:lnSpc>
                          <a:spcPct val="115000"/>
                        </a:lnSpc>
                        <a:spcBef>
                          <a:spcPts val="0"/>
                        </a:spcBef>
                        <a:spcAft>
                          <a:spcPts val="0"/>
                        </a:spcAft>
                        <a:buNone/>
                      </a:pPr>
                      <a:r>
                        <a:t/>
                      </a:r>
                      <a:endParaRPr strike="sngStrike">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03800">
                <a:tc>
                  <a:txBody>
                    <a:bodyPr/>
                    <a:lstStyle/>
                    <a:p>
                      <a:pPr indent="0" lvl="0" marL="0" rtl="0" algn="l">
                        <a:lnSpc>
                          <a:spcPct val="115000"/>
                        </a:lnSpc>
                        <a:spcBef>
                          <a:spcPts val="0"/>
                        </a:spcBef>
                        <a:spcAft>
                          <a:spcPts val="0"/>
                        </a:spcAft>
                        <a:buNone/>
                      </a:pPr>
                      <a:r>
                        <a:rPr lang="ru">
                          <a:latin typeface="Urbanist"/>
                          <a:ea typeface="Urbanist"/>
                          <a:cs typeface="Urbanist"/>
                          <a:sym typeface="Urbanist"/>
                        </a:rPr>
                        <a:t>Քննարկվում է՝ արդյոք տեխնիկապես հնարավոր է նոր ֆունկցիան իրականացնել սահմանված ժամկետում: </a:t>
                      </a:r>
                      <a:endParaRPr>
                        <a:latin typeface="Urbanist"/>
                        <a:ea typeface="Urbanist"/>
                        <a:cs typeface="Urbanist"/>
                        <a:sym typeface="Urbanist"/>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ru">
                          <a:latin typeface="Urbanist"/>
                          <a:ea typeface="Urbanist"/>
                          <a:cs typeface="Urbanist"/>
                          <a:sym typeface="Urbanist"/>
                        </a:rPr>
                        <a:t>Ծրագրային ճարտարագետ</a:t>
                      </a:r>
                      <a:endParaRPr>
                        <a:latin typeface="Urbanist"/>
                        <a:ea typeface="Urbanist"/>
                        <a:cs typeface="Urbanist"/>
                        <a:sym typeface="Urbanis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pic>
        <p:nvPicPr>
          <p:cNvPr descr="Image" id="1082" name="Google Shape;1082;p155"/>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83" name="Google Shape;1083;p155"/>
          <p:cNvSpPr txBox="1"/>
          <p:nvPr/>
        </p:nvSpPr>
        <p:spPr>
          <a:xfrm>
            <a:off x="476246" y="282675"/>
            <a:ext cx="8162400" cy="9582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Ինչպես է ԱԲ-ն հեղափոխություն մտցնում բժշկության մեջ</a:t>
            </a:r>
            <a:endParaRPr b="0" i="0" sz="500" u="none" cap="none" strike="noStrike">
              <a:solidFill>
                <a:srgbClr val="000000"/>
              </a:solidFill>
              <a:latin typeface="Arial"/>
              <a:ea typeface="Arial"/>
              <a:cs typeface="Arial"/>
              <a:sym typeface="Arial"/>
            </a:endParaRPr>
          </a:p>
        </p:txBody>
      </p:sp>
      <p:pic>
        <p:nvPicPr>
          <p:cNvPr descr="Dr. Rohan Khera, a data scientist and cardiologist, is using artificial intelligence technology created in his lab at Yale to find abnormalities in cardiovascular imaging scans that are invisible to the naked eye. We’ll learn about a variety of ways AI is being tailored to bring costly and invasive medical procedures to the general public, and what its limitations may be.&#10;&#10;00:00:00:00 - Cold open&#10;00:00:40:13 - AI in Medicine&#10;00:04:28:20 - Inside the CarDS LAB&#10;00:06:08:00 - The Future of Healthcare&#10;&#10;--------&#10;Like this video? Subscribe: http://www.youtube.com/Bloomberg?sub_confirmation=1&#10;&#10;Get unlimited access to Bloomberg.com for $1.99/month for the first 3 months: https://www.bloomberg.com/subscriptions?in_source=YoutubeOriginals&#10;&#10;Bloomberg Originals offers bold takes for curious minds on today’s biggest topics. Hosted by experts covering stories you haven’t seen and viewpoints you haven’t heard, you’ll discover cinematic, data-led shows that investigate the intersection of business and culture. Exploring every angle of climate change, technology, finance, sports and beyond, Bloomberg Originals is business as you’ve never seen it. &#10;&#10;Subscribe for business news, but not as you've known it: exclusive interviews, fascinating profiles, data-driven analysis, and the latest in tech innovation from around the world.&#10;&#10;Visit our partner channel Bloomberg Quicktake for global news and insight in an instant." id="1084" name="Google Shape;1084;p155" title="How AI is Revolutionizing Medicine">
            <a:hlinkClick r:id="rId4"/>
          </p:cNvPr>
          <p:cNvPicPr preferRelativeResize="0"/>
          <p:nvPr/>
        </p:nvPicPr>
        <p:blipFill>
          <a:blip r:embed="rId5">
            <a:alphaModFix/>
          </a:blip>
          <a:stretch>
            <a:fillRect/>
          </a:stretch>
        </p:blipFill>
        <p:spPr>
          <a:xfrm>
            <a:off x="1368088" y="1424581"/>
            <a:ext cx="6378725" cy="3588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4"/>
                                        </p:tgtEl>
                                        <p:attrNameLst>
                                          <p:attrName>style.visibility</p:attrName>
                                        </p:attrNameLst>
                                      </p:cBhvr>
                                      <p:to>
                                        <p:strVal val="visible"/>
                                      </p:to>
                                    </p:set>
                                    <p:animEffect filter="fade" transition="in">
                                      <p:cBhvr>
                                        <p:cTn dur="1000"/>
                                        <p:tgtEl>
                                          <p:spTgt spid="10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pic>
        <p:nvPicPr>
          <p:cNvPr descr="Image" id="1089" name="Google Shape;1089;p156"/>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90" name="Google Shape;1090;p156"/>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Մասնագիտություններ</a:t>
            </a:r>
            <a:endParaRPr b="0" i="0" sz="500" u="none" cap="none" strike="noStrike">
              <a:solidFill>
                <a:srgbClr val="000000"/>
              </a:solidFill>
              <a:latin typeface="Arial"/>
              <a:ea typeface="Arial"/>
              <a:cs typeface="Arial"/>
              <a:sym typeface="Arial"/>
            </a:endParaRPr>
          </a:p>
        </p:txBody>
      </p:sp>
      <p:sp>
        <p:nvSpPr>
          <p:cNvPr id="1091" name="Google Shape;1091;p156"/>
          <p:cNvSpPr txBox="1"/>
          <p:nvPr/>
        </p:nvSpPr>
        <p:spPr>
          <a:xfrm>
            <a:off x="152400" y="1269511"/>
            <a:ext cx="8486400" cy="185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800">
                <a:solidFill>
                  <a:schemeClr val="dk2"/>
                </a:solidFill>
                <a:latin typeface="Urbanist SemiBold"/>
                <a:ea typeface="Urbanist SemiBold"/>
                <a:cs typeface="Urbanist SemiBold"/>
                <a:sym typeface="Urbanist SemiBold"/>
              </a:rPr>
              <a:t>Առողջապահության ոլորտի մասնագիտություններ</a:t>
            </a:r>
            <a:endParaRPr sz="1800">
              <a:solidFill>
                <a:schemeClr val="dk2"/>
              </a:solidFill>
              <a:latin typeface="Urbanist SemiBold"/>
              <a:ea typeface="Urbanist SemiBold"/>
              <a:cs typeface="Urbanist SemiBold"/>
              <a:sym typeface="Urbanist SemiBold"/>
            </a:endParaRPr>
          </a:p>
          <a:p>
            <a:pPr indent="-342900" lvl="0" marL="457200" rtl="0" algn="l">
              <a:lnSpc>
                <a:spcPct val="115000"/>
              </a:lnSpc>
              <a:spcBef>
                <a:spcPts val="1200"/>
              </a:spcBef>
              <a:spcAft>
                <a:spcPts val="0"/>
              </a:spcAft>
              <a:buClr>
                <a:srgbClr val="FDC672"/>
              </a:buClr>
              <a:buSzPts val="1800"/>
              <a:buFont typeface="Urbanist"/>
              <a:buChar char="●"/>
            </a:pPr>
            <a:r>
              <a:rPr lang="ru" sz="1800">
                <a:solidFill>
                  <a:schemeClr val="dk1"/>
                </a:solidFill>
                <a:latin typeface="Urbanist"/>
                <a:ea typeface="Urbanist"/>
                <a:cs typeface="Urbanist"/>
                <a:sym typeface="Urbanist"/>
              </a:rPr>
              <a:t>Բժշկական վիզուալիզացման ԱԲ մասնագետ</a:t>
            </a:r>
            <a:endParaRPr sz="1800">
              <a:solidFill>
                <a:schemeClr val="dk1"/>
              </a:solidFill>
              <a:latin typeface="Urbanist"/>
              <a:ea typeface="Urbanist"/>
              <a:cs typeface="Urbanist"/>
              <a:sym typeface="Urbanist"/>
            </a:endParaRPr>
          </a:p>
          <a:p>
            <a:pPr indent="-342900" lvl="0" marL="457200" rtl="0" algn="l">
              <a:lnSpc>
                <a:spcPct val="115000"/>
              </a:lnSpc>
              <a:spcBef>
                <a:spcPts val="1000"/>
              </a:spcBef>
              <a:spcAft>
                <a:spcPts val="0"/>
              </a:spcAft>
              <a:buClr>
                <a:srgbClr val="FDC672"/>
              </a:buClr>
              <a:buSzPts val="1800"/>
              <a:buFont typeface="Urbanist"/>
              <a:buChar char="●"/>
            </a:pPr>
            <a:r>
              <a:rPr lang="ru" sz="1800">
                <a:solidFill>
                  <a:schemeClr val="dk1"/>
                </a:solidFill>
                <a:latin typeface="Urbanist"/>
                <a:ea typeface="Urbanist"/>
                <a:cs typeface="Urbanist"/>
                <a:sym typeface="Urbanist"/>
              </a:rPr>
              <a:t>Առողջապահության ինֆորմատիկ</a:t>
            </a:r>
            <a:endParaRPr sz="1800">
              <a:solidFill>
                <a:schemeClr val="dk1"/>
              </a:solidFill>
              <a:latin typeface="Urbanist"/>
              <a:ea typeface="Urbanist"/>
              <a:cs typeface="Urbanist"/>
              <a:sym typeface="Urbanist"/>
            </a:endParaRPr>
          </a:p>
          <a:p>
            <a:pPr indent="-342900" lvl="0" marL="457200" rtl="0" algn="l">
              <a:lnSpc>
                <a:spcPct val="115000"/>
              </a:lnSpc>
              <a:spcBef>
                <a:spcPts val="1200"/>
              </a:spcBef>
              <a:spcAft>
                <a:spcPts val="1000"/>
              </a:spcAft>
              <a:buClr>
                <a:srgbClr val="FDC672"/>
              </a:buClr>
              <a:buSzPts val="1800"/>
              <a:buFont typeface="Urbanist"/>
              <a:buChar char="●"/>
            </a:pPr>
            <a:r>
              <a:rPr lang="ru" sz="1800">
                <a:solidFill>
                  <a:schemeClr val="dk1"/>
                </a:solidFill>
                <a:latin typeface="Urbanist"/>
                <a:ea typeface="Urbanist"/>
                <a:cs typeface="Urbanist"/>
                <a:sym typeface="Urbanist"/>
              </a:rPr>
              <a:t>Բիոինֆորմատիկ </a:t>
            </a:r>
            <a:endParaRPr sz="1800">
              <a:solidFill>
                <a:schemeClr val="dk1"/>
              </a:solidFill>
              <a:latin typeface="Urbanist"/>
              <a:ea typeface="Urbanist"/>
              <a:cs typeface="Urbanist"/>
              <a:sym typeface="Urbanist"/>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pic>
        <p:nvPicPr>
          <p:cNvPr descr="Image" id="1096" name="Google Shape;1096;p157"/>
          <p:cNvPicPr preferRelativeResize="0"/>
          <p:nvPr/>
        </p:nvPicPr>
        <p:blipFill rotWithShape="1">
          <a:blip r:embed="rId3">
            <a:alphaModFix amt="83550"/>
          </a:blip>
          <a:srcRect b="0" l="25700" r="0" t="26367"/>
          <a:stretch/>
        </p:blipFill>
        <p:spPr>
          <a:xfrm>
            <a:off x="-11906" y="-9375"/>
            <a:ext cx="1683705" cy="1233313"/>
          </a:xfrm>
          <a:prstGeom prst="rect">
            <a:avLst/>
          </a:prstGeom>
          <a:noFill/>
          <a:ln>
            <a:noFill/>
          </a:ln>
        </p:spPr>
      </p:pic>
      <p:sp>
        <p:nvSpPr>
          <p:cNvPr id="1097" name="Google Shape;1097;p157"/>
          <p:cNvSpPr txBox="1"/>
          <p:nvPr/>
        </p:nvSpPr>
        <p:spPr>
          <a:xfrm>
            <a:off x="476246" y="282675"/>
            <a:ext cx="81624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3A475A"/>
              </a:buClr>
              <a:buSzPts val="3000"/>
              <a:buFont typeface="Urbanist ExtraBold"/>
              <a:buNone/>
            </a:pPr>
            <a:r>
              <a:rPr lang="ru" sz="3000">
                <a:solidFill>
                  <a:srgbClr val="3A475A"/>
                </a:solidFill>
                <a:latin typeface="Urbanist ExtraBold"/>
                <a:ea typeface="Urbanist ExtraBold"/>
                <a:cs typeface="Urbanist ExtraBold"/>
                <a:sym typeface="Urbanist ExtraBold"/>
              </a:rPr>
              <a:t>Մասնագիտություններ</a:t>
            </a:r>
            <a:endParaRPr b="0" i="0" sz="500" u="none" cap="none" strike="noStrike">
              <a:solidFill>
                <a:srgbClr val="000000"/>
              </a:solidFill>
              <a:latin typeface="Arial"/>
              <a:ea typeface="Arial"/>
              <a:cs typeface="Arial"/>
              <a:sym typeface="Arial"/>
            </a:endParaRPr>
          </a:p>
        </p:txBody>
      </p:sp>
      <p:graphicFrame>
        <p:nvGraphicFramePr>
          <p:cNvPr id="1098" name="Google Shape;1098;p157"/>
          <p:cNvGraphicFramePr/>
          <p:nvPr/>
        </p:nvGraphicFramePr>
        <p:xfrm>
          <a:off x="596350" y="1359550"/>
          <a:ext cx="3000000" cy="3000000"/>
        </p:xfrm>
        <a:graphic>
          <a:graphicData uri="http://schemas.openxmlformats.org/drawingml/2006/table">
            <a:tbl>
              <a:tblPr>
                <a:noFill/>
                <a:tableStyleId>{41B8CB50-37E8-4FF0-90C8-70755F0B0C13}</a:tableStyleId>
              </a:tblPr>
              <a:tblGrid>
                <a:gridCol w="2578850"/>
                <a:gridCol w="5583550"/>
              </a:tblGrid>
              <a:tr h="12700">
                <a:tc>
                  <a:txBody>
                    <a:bodyPr/>
                    <a:lstStyle/>
                    <a:p>
                      <a:pPr indent="0" lvl="0" marL="89999" marR="24150" rtl="0" algn="ctr">
                        <a:lnSpc>
                          <a:spcPct val="115000"/>
                        </a:lnSpc>
                        <a:spcBef>
                          <a:spcPts val="0"/>
                        </a:spcBef>
                        <a:spcAft>
                          <a:spcPts val="0"/>
                        </a:spcAft>
                        <a:buNone/>
                      </a:pPr>
                      <a:r>
                        <a:rPr lang="ru" sz="1600">
                          <a:latin typeface="Urbanist"/>
                          <a:ea typeface="Urbanist"/>
                          <a:cs typeface="Urbanist"/>
                          <a:sym typeface="Urbanist"/>
                        </a:rPr>
                        <a:t>Մասնագիտություն</a:t>
                      </a:r>
                      <a:endParaRPr sz="1600">
                        <a:latin typeface="Urbanist"/>
                        <a:ea typeface="Urbanist"/>
                        <a:cs typeface="Urbanist"/>
                        <a:sym typeface="Urbanist"/>
                      </a:endParaRPr>
                    </a:p>
                  </a:txBody>
                  <a:tcPr marT="63500" marB="63500" marR="63500" marL="63500">
                    <a:solidFill>
                      <a:srgbClr val="FDC672"/>
                    </a:solidFill>
                  </a:tcPr>
                </a:tc>
                <a:tc>
                  <a:txBody>
                    <a:bodyPr/>
                    <a:lstStyle/>
                    <a:p>
                      <a:pPr indent="0" lvl="0" marL="89999" marR="24150" rtl="0" algn="ctr">
                        <a:lnSpc>
                          <a:spcPct val="115000"/>
                        </a:lnSpc>
                        <a:spcBef>
                          <a:spcPts val="0"/>
                        </a:spcBef>
                        <a:spcAft>
                          <a:spcPts val="0"/>
                        </a:spcAft>
                        <a:buNone/>
                      </a:pPr>
                      <a:r>
                        <a:rPr lang="ru" sz="1600">
                          <a:latin typeface="Urbanist"/>
                          <a:ea typeface="Urbanist"/>
                          <a:cs typeface="Urbanist"/>
                          <a:sym typeface="Urbanist"/>
                        </a:rPr>
                        <a:t>Նկարագրություն</a:t>
                      </a:r>
                      <a:endParaRPr sz="1600">
                        <a:latin typeface="Urbanist"/>
                        <a:ea typeface="Urbanist"/>
                        <a:cs typeface="Urbanist"/>
                        <a:sym typeface="Urbanist"/>
                      </a:endParaRPr>
                    </a:p>
                  </a:txBody>
                  <a:tcPr marT="63500" marB="63500" marR="63500" marL="63500">
                    <a:solidFill>
                      <a:srgbClr val="FDC672"/>
                    </a:solidFill>
                  </a:tcPr>
                </a:tc>
              </a:tr>
              <a:tr h="12700">
                <a:tc>
                  <a:txBody>
                    <a:bodyPr/>
                    <a:lstStyle/>
                    <a:p>
                      <a:pPr indent="0" lvl="0" marL="89999" marR="24150" rtl="0" algn="l">
                        <a:lnSpc>
                          <a:spcPct val="115000"/>
                        </a:lnSpc>
                        <a:spcBef>
                          <a:spcPts val="1000"/>
                        </a:spcBef>
                        <a:spcAft>
                          <a:spcPts val="1000"/>
                        </a:spcAft>
                        <a:buNone/>
                      </a:pPr>
                      <a:r>
                        <a:rPr lang="ru" sz="1600">
                          <a:latin typeface="Urbanist"/>
                          <a:ea typeface="Urbanist"/>
                          <a:cs typeface="Urbanist"/>
                          <a:sym typeface="Urbanist"/>
                        </a:rPr>
                        <a:t>Բժշկական վիզուալիզացման ԱԲ մասնագետ</a:t>
                      </a:r>
                      <a:endParaRPr sz="1600">
                        <a:latin typeface="Urbanist"/>
                        <a:ea typeface="Urbanist"/>
                        <a:cs typeface="Urbanist"/>
                        <a:sym typeface="Urbanist"/>
                      </a:endParaRPr>
                    </a:p>
                  </a:txBody>
                  <a:tcPr marT="63500" marB="63500" marR="63500" marL="63500"/>
                </a:tc>
                <a:tc>
                  <a:txBody>
                    <a:bodyPr/>
                    <a:lstStyle/>
                    <a:p>
                      <a:pPr indent="0" lvl="0" marL="89999" marR="24150" rtl="0" algn="l">
                        <a:lnSpc>
                          <a:spcPct val="115000"/>
                        </a:lnSpc>
                        <a:spcBef>
                          <a:spcPts val="0"/>
                        </a:spcBef>
                        <a:spcAft>
                          <a:spcPts val="0"/>
                        </a:spcAft>
                        <a:buNone/>
                      </a:pPr>
                      <a:r>
                        <a:rPr lang="ru" sz="1600">
                          <a:latin typeface="Urbanist"/>
                          <a:ea typeface="Urbanist"/>
                          <a:cs typeface="Urbanist"/>
                          <a:sym typeface="Urbanist"/>
                        </a:rPr>
                        <a:t>Ռադիոլոգ, համակարգչային գիտնական և ճարտարագետ, ով աշխատում է ախտորոշման և պատկերների վերլուծման ԱԲ բժշկական հավելվածների վրա։</a:t>
                      </a:r>
                      <a:endParaRPr sz="1600">
                        <a:latin typeface="Urbanist"/>
                        <a:ea typeface="Urbanist"/>
                        <a:cs typeface="Urbanist"/>
                        <a:sym typeface="Urbanist"/>
                      </a:endParaRPr>
                    </a:p>
                  </a:txBody>
                  <a:tcPr marT="63500" marB="63500" marR="63500" marL="63500"/>
                </a:tc>
              </a:tr>
              <a:tr h="12700">
                <a:tc>
                  <a:txBody>
                    <a:bodyPr/>
                    <a:lstStyle/>
                    <a:p>
                      <a:pPr indent="0" lvl="0" marL="89999" marR="24150" rtl="0" algn="l">
                        <a:lnSpc>
                          <a:spcPct val="115000"/>
                        </a:lnSpc>
                        <a:spcBef>
                          <a:spcPts val="1000"/>
                        </a:spcBef>
                        <a:spcAft>
                          <a:spcPts val="1000"/>
                        </a:spcAft>
                        <a:buNone/>
                      </a:pPr>
                      <a:r>
                        <a:rPr lang="ru" sz="1600">
                          <a:latin typeface="Urbanist"/>
                          <a:ea typeface="Urbanist"/>
                          <a:cs typeface="Urbanist"/>
                          <a:sym typeface="Urbanist"/>
                        </a:rPr>
                        <a:t>Առողջապահության ինֆորմատիկ </a:t>
                      </a:r>
                      <a:endParaRPr sz="1600">
                        <a:latin typeface="Urbanist"/>
                        <a:ea typeface="Urbanist"/>
                        <a:cs typeface="Urbanist"/>
                        <a:sym typeface="Urbanist"/>
                      </a:endParaRPr>
                    </a:p>
                  </a:txBody>
                  <a:tcPr marT="63500" marB="63500" marR="63500" marL="63500"/>
                </a:tc>
                <a:tc>
                  <a:txBody>
                    <a:bodyPr/>
                    <a:lstStyle/>
                    <a:p>
                      <a:pPr indent="0" lvl="0" marL="89999" marR="24150" rtl="0" algn="l">
                        <a:lnSpc>
                          <a:spcPct val="115000"/>
                        </a:lnSpc>
                        <a:spcBef>
                          <a:spcPts val="0"/>
                        </a:spcBef>
                        <a:spcAft>
                          <a:spcPts val="0"/>
                        </a:spcAft>
                        <a:buNone/>
                      </a:pPr>
                      <a:r>
                        <a:rPr lang="ru" sz="1600">
                          <a:latin typeface="Urbanist"/>
                          <a:ea typeface="Urbanist"/>
                          <a:cs typeface="Urbanist"/>
                          <a:sym typeface="Urbanist"/>
                        </a:rPr>
                        <a:t>Մասնագիտացված են առողջապահական ինֆորմացիոն համակարգերում, ներառյալ ԱԲ տեխնոլոգիաների մշակումն ու ինտեգրացիան։</a:t>
                      </a:r>
                      <a:endParaRPr sz="1600">
                        <a:latin typeface="Urbanist"/>
                        <a:ea typeface="Urbanist"/>
                        <a:cs typeface="Urbanist"/>
                        <a:sym typeface="Urbanist"/>
                      </a:endParaRPr>
                    </a:p>
                  </a:txBody>
                  <a:tcPr marT="63500" marB="63500" marR="63500" marL="63500"/>
                </a:tc>
              </a:tr>
              <a:tr h="12700">
                <a:tc>
                  <a:txBody>
                    <a:bodyPr/>
                    <a:lstStyle/>
                    <a:p>
                      <a:pPr indent="0" lvl="0" marL="89999" marR="24150" rtl="0" algn="l">
                        <a:lnSpc>
                          <a:spcPct val="115000"/>
                        </a:lnSpc>
                        <a:spcBef>
                          <a:spcPts val="1000"/>
                        </a:spcBef>
                        <a:spcAft>
                          <a:spcPts val="1000"/>
                        </a:spcAft>
                        <a:buNone/>
                      </a:pPr>
                      <a:r>
                        <a:rPr lang="ru" sz="1600">
                          <a:latin typeface="Urbanist"/>
                          <a:ea typeface="Urbanist"/>
                          <a:cs typeface="Urbanist"/>
                          <a:sym typeface="Urbanist"/>
                        </a:rPr>
                        <a:t>Բիոինֆորմատիկ </a:t>
                      </a:r>
                      <a:endParaRPr sz="1600">
                        <a:latin typeface="Urbanist"/>
                        <a:ea typeface="Urbanist"/>
                        <a:cs typeface="Urbanist"/>
                        <a:sym typeface="Urbanist"/>
                      </a:endParaRPr>
                    </a:p>
                  </a:txBody>
                  <a:tcPr marT="63500" marB="63500" marR="63500" marL="63500"/>
                </a:tc>
                <a:tc>
                  <a:txBody>
                    <a:bodyPr/>
                    <a:lstStyle/>
                    <a:p>
                      <a:pPr indent="0" lvl="0" marL="89999" marR="24150" rtl="0" algn="l">
                        <a:lnSpc>
                          <a:spcPct val="115000"/>
                        </a:lnSpc>
                        <a:spcBef>
                          <a:spcPts val="0"/>
                        </a:spcBef>
                        <a:spcAft>
                          <a:spcPts val="0"/>
                        </a:spcAft>
                        <a:buNone/>
                      </a:pPr>
                      <a:r>
                        <a:rPr lang="ru" sz="1600">
                          <a:latin typeface="Urbanist"/>
                          <a:ea typeface="Urbanist"/>
                          <a:cs typeface="Urbanist"/>
                          <a:sym typeface="Urbanist"/>
                        </a:rPr>
                        <a:t>Կիրառելով հաշվողական տեխնոլոգիաները, նպաստում են գենետիկայի և անհատականացված բժշկության զարգացմանը։</a:t>
                      </a:r>
                      <a:endParaRPr sz="1600">
                        <a:latin typeface="Urbanist"/>
                        <a:ea typeface="Urbanist"/>
                        <a:cs typeface="Urbanist"/>
                        <a:sym typeface="Urbanist"/>
                      </a:endParaRPr>
                    </a:p>
                  </a:txBody>
                  <a:tcPr marT="63500" marB="63500" marR="63500" marL="63500"/>
                </a:tc>
              </a:tr>
            </a:tbl>
          </a:graphicData>
        </a:graphic>
      </p:graphicFrame>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586D"/>
        </a:solidFill>
      </p:bgPr>
    </p:bg>
    <p:spTree>
      <p:nvGrpSpPr>
        <p:cNvPr id="1102" name="Shape 1102"/>
        <p:cNvGrpSpPr/>
        <p:nvPr/>
      </p:nvGrpSpPr>
      <p:grpSpPr>
        <a:xfrm>
          <a:off x="0" y="0"/>
          <a:ext cx="0" cy="0"/>
          <a:chOff x="0" y="0"/>
          <a:chExt cx="0" cy="0"/>
        </a:xfrm>
      </p:grpSpPr>
      <p:pic>
        <p:nvPicPr>
          <p:cNvPr descr="Image" id="1103" name="Google Shape;1103;p158"/>
          <p:cNvPicPr preferRelativeResize="0"/>
          <p:nvPr/>
        </p:nvPicPr>
        <p:blipFill rotWithShape="1">
          <a:blip r:embed="rId3">
            <a:alphaModFix/>
          </a:blip>
          <a:srcRect b="0" l="0" r="0" t="0"/>
          <a:stretch/>
        </p:blipFill>
        <p:spPr>
          <a:xfrm>
            <a:off x="3436355" y="1025447"/>
            <a:ext cx="4184064" cy="3092606"/>
          </a:xfrm>
          <a:prstGeom prst="rect">
            <a:avLst/>
          </a:prstGeom>
          <a:noFill/>
          <a:ln>
            <a:noFill/>
          </a:ln>
        </p:spPr>
      </p:pic>
      <p:sp>
        <p:nvSpPr>
          <p:cNvPr id="1104" name="Google Shape;1104;p158"/>
          <p:cNvSpPr txBox="1"/>
          <p:nvPr/>
        </p:nvSpPr>
        <p:spPr>
          <a:xfrm>
            <a:off x="1347222" y="1923593"/>
            <a:ext cx="4067100" cy="4965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FFFFFF"/>
              </a:buClr>
              <a:buSzPts val="5600"/>
              <a:buFont typeface="Urbanist ExtraBold"/>
              <a:buNone/>
            </a:pPr>
            <a:r>
              <a:rPr lang="ru" sz="3000">
                <a:solidFill>
                  <a:srgbClr val="FFFFFF"/>
                </a:solidFill>
                <a:latin typeface="Urbanist ExtraBold"/>
                <a:ea typeface="Urbanist ExtraBold"/>
                <a:cs typeface="Urbanist ExtraBold"/>
                <a:sym typeface="Urbanist ExtraBold"/>
              </a:rPr>
              <a:t>Շնորհակալություն</a:t>
            </a:r>
            <a:endParaRPr b="0" i="0" sz="3000" u="none" cap="none" strike="noStrike">
              <a:solidFill>
                <a:srgbClr val="000000"/>
              </a:solidFill>
              <a:latin typeface="Arial"/>
              <a:ea typeface="Arial"/>
              <a:cs typeface="Arial"/>
              <a:sym typeface="Arial"/>
            </a:endParaRPr>
          </a:p>
        </p:txBody>
      </p:sp>
      <p:sp>
        <p:nvSpPr>
          <p:cNvPr id="1105" name="Google Shape;1105;p158"/>
          <p:cNvSpPr txBox="1"/>
          <p:nvPr/>
        </p:nvSpPr>
        <p:spPr>
          <a:xfrm>
            <a:off x="5543230" y="2073612"/>
            <a:ext cx="1739100" cy="404100"/>
          </a:xfrm>
          <a:prstGeom prst="rect">
            <a:avLst/>
          </a:prstGeom>
          <a:noFill/>
          <a:ln>
            <a:noFill/>
          </a:ln>
        </p:spPr>
        <p:txBody>
          <a:bodyPr anchorCtr="0" anchor="t" bIns="17150" lIns="17150" spcFirstLastPara="1" rIns="17150" wrap="square" tIns="17150">
            <a:spAutoFit/>
          </a:bodyPr>
          <a:lstStyle/>
          <a:p>
            <a:pPr indent="0" lvl="0" marL="0" marR="0" rtl="0" algn="l">
              <a:lnSpc>
                <a:spcPct val="100000"/>
              </a:lnSpc>
              <a:spcBef>
                <a:spcPts val="0"/>
              </a:spcBef>
              <a:spcAft>
                <a:spcPts val="0"/>
              </a:spcAft>
              <a:buClr>
                <a:srgbClr val="4E586D"/>
              </a:buClr>
              <a:buSzPts val="1300"/>
              <a:buFont typeface="Arial"/>
              <a:buNone/>
            </a:pPr>
            <a:r>
              <a:rPr b="1" lang="ru" sz="1300">
                <a:solidFill>
                  <a:srgbClr val="4E586D"/>
                </a:solidFill>
              </a:rPr>
              <a:t>Կոնտակտներ</a:t>
            </a:r>
            <a:endParaRPr b="0" i="0" sz="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E586D"/>
              </a:buClr>
              <a:buSzPts val="1100"/>
              <a:buFont typeface="Arial"/>
              <a:buNone/>
            </a:pPr>
            <a:r>
              <a:rPr lang="ru" sz="1100">
                <a:solidFill>
                  <a:srgbClr val="4E586D"/>
                </a:solidFill>
              </a:rPr>
              <a:t>Ուսուցչի կոնտակտներ</a:t>
            </a:r>
            <a:endParaRPr b="0" i="0" sz="5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